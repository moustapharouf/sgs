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359" r:id="rId2"/>
    <p:sldId id="309" r:id="rId3"/>
    <p:sldId id="266" r:id="rId4"/>
    <p:sldId id="349" r:id="rId5"/>
    <p:sldId id="351" r:id="rId6"/>
    <p:sldId id="352" r:id="rId7"/>
    <p:sldId id="353" r:id="rId8"/>
    <p:sldId id="354" r:id="rId9"/>
    <p:sldId id="350" r:id="rId10"/>
    <p:sldId id="356" r:id="rId11"/>
    <p:sldId id="355" r:id="rId12"/>
    <p:sldId id="357" r:id="rId13"/>
    <p:sldId id="358" r:id="rId14"/>
    <p:sldId id="286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3" autoAdjust="0"/>
    <p:restoredTop sz="94638" autoAdjust="0"/>
  </p:normalViewPr>
  <p:slideViewPr>
    <p:cSldViewPr>
      <p:cViewPr varScale="1">
        <p:scale>
          <a:sx n="64" d="100"/>
          <a:sy n="64" d="100"/>
        </p:scale>
        <p:origin x="8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C34E8-AA77-4DBE-9388-A00A5FB71F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2F43AF45-F9CA-452E-933B-139A033C3C89}">
      <dgm:prSet phldrT="[Texte]"/>
      <dgm:spPr/>
      <dgm:t>
        <a:bodyPr/>
        <a:lstStyle/>
        <a:p>
          <a:r>
            <a:rPr lang="fr-FR" dirty="0"/>
            <a:t>Nom et prénom</a:t>
          </a:r>
          <a:endParaRPr lang="x-none" dirty="0"/>
        </a:p>
      </dgm:t>
    </dgm:pt>
    <dgm:pt modelId="{20691AAC-01E7-4EFE-AAFA-9653B89CA26A}" type="parTrans" cxnId="{77A05AA8-5534-4C56-AFF7-50E3E7388535}">
      <dgm:prSet/>
      <dgm:spPr/>
      <dgm:t>
        <a:bodyPr/>
        <a:lstStyle/>
        <a:p>
          <a:endParaRPr lang="x-none"/>
        </a:p>
      </dgm:t>
    </dgm:pt>
    <dgm:pt modelId="{078DD414-3120-4918-9B65-5BA3FFD894B0}" type="sibTrans" cxnId="{77A05AA8-5534-4C56-AFF7-50E3E7388535}">
      <dgm:prSet/>
      <dgm:spPr/>
      <dgm:t>
        <a:bodyPr/>
        <a:lstStyle/>
        <a:p>
          <a:endParaRPr lang="x-none"/>
        </a:p>
      </dgm:t>
    </dgm:pt>
    <dgm:pt modelId="{894A3ED4-BA49-4AAC-8BB5-5A50E21AB3E0}">
      <dgm:prSet phldrT="[Texte]"/>
      <dgm:spPr/>
      <dgm:t>
        <a:bodyPr/>
        <a:lstStyle/>
        <a:p>
          <a:r>
            <a:rPr lang="fr-FR" dirty="0"/>
            <a:t>Attentes pour ce cours</a:t>
          </a:r>
        </a:p>
      </dgm:t>
    </dgm:pt>
    <dgm:pt modelId="{42752C16-4516-4201-8917-8103A1354ABA}" type="parTrans" cxnId="{4121958A-F6E4-4521-85F5-8BFF51633733}">
      <dgm:prSet/>
      <dgm:spPr/>
      <dgm:t>
        <a:bodyPr/>
        <a:lstStyle/>
        <a:p>
          <a:endParaRPr lang="x-none"/>
        </a:p>
      </dgm:t>
    </dgm:pt>
    <dgm:pt modelId="{4F38D993-649F-42D2-B9BA-8E65B1F4E556}" type="sibTrans" cxnId="{4121958A-F6E4-4521-85F5-8BFF51633733}">
      <dgm:prSet/>
      <dgm:spPr/>
      <dgm:t>
        <a:bodyPr/>
        <a:lstStyle/>
        <a:p>
          <a:endParaRPr lang="x-none"/>
        </a:p>
      </dgm:t>
    </dgm:pt>
    <dgm:pt modelId="{694A36B8-9D26-4763-911C-4C3CCE60FBA2}">
      <dgm:prSet phldrT="[Texte]"/>
      <dgm:spPr/>
      <dgm:t>
        <a:bodyPr/>
        <a:lstStyle/>
        <a:p>
          <a:r>
            <a:rPr lang="fr-FR" dirty="0"/>
            <a:t>Diplôme/Expérience</a:t>
          </a:r>
          <a:endParaRPr lang="x-none" dirty="0"/>
        </a:p>
      </dgm:t>
    </dgm:pt>
    <dgm:pt modelId="{466B2DFC-AC03-46A9-8F03-DD191C549E8D}" type="parTrans" cxnId="{C095375A-BA0F-4746-8983-672BEAD03FA9}">
      <dgm:prSet/>
      <dgm:spPr/>
      <dgm:t>
        <a:bodyPr/>
        <a:lstStyle/>
        <a:p>
          <a:endParaRPr lang="fr-FR"/>
        </a:p>
      </dgm:t>
    </dgm:pt>
    <dgm:pt modelId="{7156F8A7-8EAD-4445-922C-A39453A12D05}" type="sibTrans" cxnId="{C095375A-BA0F-4746-8983-672BEAD03FA9}">
      <dgm:prSet/>
      <dgm:spPr/>
      <dgm:t>
        <a:bodyPr/>
        <a:lstStyle/>
        <a:p>
          <a:endParaRPr lang="fr-FR"/>
        </a:p>
      </dgm:t>
    </dgm:pt>
    <dgm:pt modelId="{F2840D7E-69E2-4CEF-B7EF-AD798A9C4FC6}" type="pres">
      <dgm:prSet presAssocID="{309C34E8-AA77-4DBE-9388-A00A5FB71F19}" presName="linear" presStyleCnt="0">
        <dgm:presLayoutVars>
          <dgm:animLvl val="lvl"/>
          <dgm:resizeHandles val="exact"/>
        </dgm:presLayoutVars>
      </dgm:prSet>
      <dgm:spPr/>
    </dgm:pt>
    <dgm:pt modelId="{194D27BC-5A9A-4BD1-89D0-06001C06835B}" type="pres">
      <dgm:prSet presAssocID="{2F43AF45-F9CA-452E-933B-139A033C3C89}" presName="parentText" presStyleLbl="node1" presStyleIdx="0" presStyleCnt="3" custLinFactY="-13053" custLinFactNeighborY="-100000">
        <dgm:presLayoutVars>
          <dgm:chMax val="0"/>
          <dgm:bulletEnabled val="1"/>
        </dgm:presLayoutVars>
      </dgm:prSet>
      <dgm:spPr/>
    </dgm:pt>
    <dgm:pt modelId="{867BB153-8A72-4AF2-95D7-6C67940F017F}" type="pres">
      <dgm:prSet presAssocID="{078DD414-3120-4918-9B65-5BA3FFD894B0}" presName="spacer" presStyleCnt="0"/>
      <dgm:spPr/>
    </dgm:pt>
    <dgm:pt modelId="{75BBB1E3-2CEC-4C7B-A453-476178BB2B1D}" type="pres">
      <dgm:prSet presAssocID="{894A3ED4-BA49-4AAC-8BB5-5A50E21AB3E0}" presName="parentText" presStyleLbl="node1" presStyleIdx="1" presStyleCnt="3" custLinFactY="74931" custLinFactNeighborY="100000">
        <dgm:presLayoutVars>
          <dgm:chMax val="0"/>
          <dgm:bulletEnabled val="1"/>
        </dgm:presLayoutVars>
      </dgm:prSet>
      <dgm:spPr/>
    </dgm:pt>
    <dgm:pt modelId="{0A379686-FBFE-48EF-A021-BAF45D7A93E2}" type="pres">
      <dgm:prSet presAssocID="{4F38D993-649F-42D2-B9BA-8E65B1F4E556}" presName="spacer" presStyleCnt="0"/>
      <dgm:spPr/>
    </dgm:pt>
    <dgm:pt modelId="{D4530914-68BB-44E4-B9A6-614088965AB9}" type="pres">
      <dgm:prSet presAssocID="{694A36B8-9D26-4763-911C-4C3CCE60FBA2}" presName="parentText" presStyleLbl="node1" presStyleIdx="2" presStyleCnt="3" custLinFactY="-100000" custLinFactNeighborY="-191367">
        <dgm:presLayoutVars>
          <dgm:chMax val="0"/>
          <dgm:bulletEnabled val="1"/>
        </dgm:presLayoutVars>
      </dgm:prSet>
      <dgm:spPr/>
    </dgm:pt>
  </dgm:ptLst>
  <dgm:cxnLst>
    <dgm:cxn modelId="{058D8714-2B7D-48BA-80BD-367D83E55DD6}" type="presOf" srcId="{894A3ED4-BA49-4AAC-8BB5-5A50E21AB3E0}" destId="{75BBB1E3-2CEC-4C7B-A453-476178BB2B1D}" srcOrd="0" destOrd="0" presId="urn:microsoft.com/office/officeart/2005/8/layout/vList2"/>
    <dgm:cxn modelId="{9198A62E-440A-46F3-B22E-EE83C495D43F}" type="presOf" srcId="{309C34E8-AA77-4DBE-9388-A00A5FB71F19}" destId="{F2840D7E-69E2-4CEF-B7EF-AD798A9C4FC6}" srcOrd="0" destOrd="0" presId="urn:microsoft.com/office/officeart/2005/8/layout/vList2"/>
    <dgm:cxn modelId="{8EC64F57-25C1-4009-8664-A439CB7297F3}" type="presOf" srcId="{2F43AF45-F9CA-452E-933B-139A033C3C89}" destId="{194D27BC-5A9A-4BD1-89D0-06001C06835B}" srcOrd="0" destOrd="0" presId="urn:microsoft.com/office/officeart/2005/8/layout/vList2"/>
    <dgm:cxn modelId="{C095375A-BA0F-4746-8983-672BEAD03FA9}" srcId="{309C34E8-AA77-4DBE-9388-A00A5FB71F19}" destId="{694A36B8-9D26-4763-911C-4C3CCE60FBA2}" srcOrd="2" destOrd="0" parTransId="{466B2DFC-AC03-46A9-8F03-DD191C549E8D}" sibTransId="{7156F8A7-8EAD-4445-922C-A39453A12D05}"/>
    <dgm:cxn modelId="{4121958A-F6E4-4521-85F5-8BFF51633733}" srcId="{309C34E8-AA77-4DBE-9388-A00A5FB71F19}" destId="{894A3ED4-BA49-4AAC-8BB5-5A50E21AB3E0}" srcOrd="1" destOrd="0" parTransId="{42752C16-4516-4201-8917-8103A1354ABA}" sibTransId="{4F38D993-649F-42D2-B9BA-8E65B1F4E556}"/>
    <dgm:cxn modelId="{77A05AA8-5534-4C56-AFF7-50E3E7388535}" srcId="{309C34E8-AA77-4DBE-9388-A00A5FB71F19}" destId="{2F43AF45-F9CA-452E-933B-139A033C3C89}" srcOrd="0" destOrd="0" parTransId="{20691AAC-01E7-4EFE-AAFA-9653B89CA26A}" sibTransId="{078DD414-3120-4918-9B65-5BA3FFD894B0}"/>
    <dgm:cxn modelId="{DBFEBECE-E11C-4053-9C75-FAEFD0BA0084}" type="presOf" srcId="{694A36B8-9D26-4763-911C-4C3CCE60FBA2}" destId="{D4530914-68BB-44E4-B9A6-614088965AB9}" srcOrd="0" destOrd="0" presId="urn:microsoft.com/office/officeart/2005/8/layout/vList2"/>
    <dgm:cxn modelId="{6459583D-58F4-4782-A1DF-EA5DBAB3D0A1}" type="presParOf" srcId="{F2840D7E-69E2-4CEF-B7EF-AD798A9C4FC6}" destId="{194D27BC-5A9A-4BD1-89D0-06001C06835B}" srcOrd="0" destOrd="0" presId="urn:microsoft.com/office/officeart/2005/8/layout/vList2"/>
    <dgm:cxn modelId="{30770D1C-EE9F-43ED-8B5B-27D48B445B28}" type="presParOf" srcId="{F2840D7E-69E2-4CEF-B7EF-AD798A9C4FC6}" destId="{867BB153-8A72-4AF2-95D7-6C67940F017F}" srcOrd="1" destOrd="0" presId="urn:microsoft.com/office/officeart/2005/8/layout/vList2"/>
    <dgm:cxn modelId="{8668CECD-F05E-410D-B769-61CC6B2EBBE1}" type="presParOf" srcId="{F2840D7E-69E2-4CEF-B7EF-AD798A9C4FC6}" destId="{75BBB1E3-2CEC-4C7B-A453-476178BB2B1D}" srcOrd="2" destOrd="0" presId="urn:microsoft.com/office/officeart/2005/8/layout/vList2"/>
    <dgm:cxn modelId="{E77001DF-93AC-4A28-8744-8A1EDAD53F27}" type="presParOf" srcId="{F2840D7E-69E2-4CEF-B7EF-AD798A9C4FC6}" destId="{0A379686-FBFE-48EF-A021-BAF45D7A93E2}" srcOrd="3" destOrd="0" presId="urn:microsoft.com/office/officeart/2005/8/layout/vList2"/>
    <dgm:cxn modelId="{0372FC49-378D-4EC5-A8B1-40C101CC4890}" type="presParOf" srcId="{F2840D7E-69E2-4CEF-B7EF-AD798A9C4FC6}" destId="{D4530914-68BB-44E4-B9A6-614088965AB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D27BC-5A9A-4BD1-89D0-06001C06835B}">
      <dsp:nvSpPr>
        <dsp:cNvPr id="0" name=""/>
        <dsp:cNvSpPr/>
      </dsp:nvSpPr>
      <dsp:spPr>
        <a:xfrm>
          <a:off x="0" y="0"/>
          <a:ext cx="60960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Nom et prénom</a:t>
          </a:r>
          <a:endParaRPr lang="x-none" sz="4100" kern="1200" dirty="0"/>
        </a:p>
      </dsp:txBody>
      <dsp:txXfrm>
        <a:off x="48005" y="48005"/>
        <a:ext cx="5999990" cy="887374"/>
      </dsp:txXfrm>
    </dsp:sp>
    <dsp:sp modelId="{75BBB1E3-2CEC-4C7B-A453-476178BB2B1D}">
      <dsp:nvSpPr>
        <dsp:cNvPr id="0" name=""/>
        <dsp:cNvSpPr/>
      </dsp:nvSpPr>
      <dsp:spPr>
        <a:xfrm>
          <a:off x="0" y="1970939"/>
          <a:ext cx="60960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Attentes pour ce cours</a:t>
          </a:r>
        </a:p>
      </dsp:txBody>
      <dsp:txXfrm>
        <a:off x="48005" y="2018944"/>
        <a:ext cx="5999990" cy="887374"/>
      </dsp:txXfrm>
    </dsp:sp>
    <dsp:sp modelId="{D4530914-68BB-44E4-B9A6-614088965AB9}">
      <dsp:nvSpPr>
        <dsp:cNvPr id="0" name=""/>
        <dsp:cNvSpPr/>
      </dsp:nvSpPr>
      <dsp:spPr>
        <a:xfrm>
          <a:off x="0" y="1008112"/>
          <a:ext cx="60960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Diplôme/Expérience</a:t>
          </a:r>
          <a:endParaRPr lang="x-none" sz="4100" kern="1200" dirty="0"/>
        </a:p>
      </dsp:txBody>
      <dsp:txXfrm>
        <a:off x="48005" y="1056117"/>
        <a:ext cx="5999990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297DB-BE90-4ACD-BAA0-39B9312079A3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8858A-24C0-45FC-8BAD-17E81CB3740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37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54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712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39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670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194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53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666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9185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815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913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464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28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D86B4-96DC-4197-864A-824B587DC928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15296-559E-4D63-8100-802E1D021E4D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B9435-9462-418C-8B29-497A6250095F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B7F2-31DB-43F8-8482-D56998514FBF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D6C9-1E4B-4E50-AC27-1D5D05670025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EE1F-096D-44B0-9AB4-ADBAE7AB8586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F0ED-4124-426C-AEA2-F536BAB5F13C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9881-A21A-4C97-8159-7B9298A0501C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2048-94A4-40D6-9A91-630E20D7AE32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FDC8A-4AF6-48FF-B6C8-2490FFB2243A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B8DD-2383-4320-A89E-91A116AF52D3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A0181-C3C1-4AF1-AEE9-568F4C0B70F1}" type="datetime1">
              <a:rPr lang="fr-FR" smtClean="0"/>
              <a:pPr/>
              <a:t>27/09/2025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oustapharouf@yahoo.f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mailto:&#8211;moustapharou@asecna.or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09810" y="359297"/>
            <a:ext cx="10672590" cy="488096"/>
          </a:xfrm>
          <a:ln w="28575">
            <a:noFill/>
          </a:ln>
        </p:spPr>
        <p:txBody>
          <a:bodyPr>
            <a:noAutofit/>
          </a:bodyPr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SYSTÈME DE GESTION DE LA SECURITE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</a:t>
            </a:fld>
            <a:endParaRPr lang="fr-BE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241700" y="5725705"/>
            <a:ext cx="11708597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70C0"/>
                </a:solidFill>
              </a:rPr>
              <a:t>Préparé et présenté par :</a:t>
            </a:r>
          </a:p>
          <a:p>
            <a:pPr marL="1614488"/>
            <a:r>
              <a:rPr lang="fr-FR" sz="2000" b="1" dirty="0"/>
              <a:t>M. MOUSTAPHA Amadou Roufaï, ASECNA-BENIN			octobre 2025</a:t>
            </a:r>
          </a:p>
          <a:p>
            <a:pPr marL="1614488"/>
            <a:r>
              <a:rPr lang="fr-FR" sz="2000" dirty="0">
                <a:hlinkClick r:id="rId3"/>
              </a:rPr>
              <a:t>moustapharouf@yahoo.fr</a:t>
            </a:r>
            <a:r>
              <a:rPr lang="fr-FR" sz="2000" dirty="0"/>
              <a:t> / </a:t>
            </a:r>
            <a:r>
              <a:rPr lang="fr-FR" sz="2000" dirty="0">
                <a:hlinkClick r:id="rId4"/>
              </a:rPr>
              <a:t>moustapharou@asecna.org</a:t>
            </a:r>
            <a:r>
              <a:rPr lang="fr-FR" sz="2000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9AD7F3-4388-403C-A2DE-8BD3AF77D5BB}"/>
              </a:ext>
            </a:extLst>
          </p:cNvPr>
          <p:cNvSpPr/>
          <p:nvPr/>
        </p:nvSpPr>
        <p:spPr>
          <a:xfrm>
            <a:off x="0" y="2527328"/>
            <a:ext cx="12191999" cy="16561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Aharoni" panose="02010803020104030203" pitchFamily="2" charset="-79"/>
                <a:cs typeface="Aharoni" panose="02010803020104030203" pitchFamily="2" charset="-79"/>
              </a:rPr>
              <a:t>MODULE 0.</a:t>
            </a:r>
          </a:p>
          <a:p>
            <a:pPr algn="ctr"/>
            <a:r>
              <a:rPr lang="fr-FR" sz="36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  <a:endParaRPr lang="x-none" sz="3600" dirty="0">
              <a:solidFill>
                <a:srgbClr val="0070C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502ED36B-0CE4-4B88-7602-4031D44CD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73" y="116632"/>
            <a:ext cx="882570" cy="105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713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7232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FR" sz="3600" dirty="0"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424201" y="993428"/>
            <a:ext cx="9417115" cy="54604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028700" lvl="1" indent="-571500">
              <a:lnSpc>
                <a:spcPct val="200000"/>
              </a:lnSpc>
              <a:buFont typeface="+mj-lt"/>
              <a:buAutoNum type="romanUcPeriod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  <a:cs typeface="Aharoni" panose="02010803020104030203" pitchFamily="2" charset="-79"/>
              </a:rPr>
              <a:t>PRESENTATIONS</a:t>
            </a:r>
          </a:p>
          <a:p>
            <a:pPr marL="1028700" lvl="1" indent="-571500">
              <a:lnSpc>
                <a:spcPct val="200000"/>
              </a:lnSpc>
              <a:buFont typeface="+mj-lt"/>
              <a:buAutoNum type="romanUcPeriod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  <a:cs typeface="Aharoni" panose="02010803020104030203" pitchFamily="2" charset="-79"/>
              </a:rPr>
              <a:t>RENSEIGNEMENTS ADMINISTRATIFS</a:t>
            </a:r>
          </a:p>
          <a:p>
            <a:pPr marL="1028700" lvl="1" indent="-571500">
              <a:lnSpc>
                <a:spcPct val="200000"/>
              </a:lnSpc>
              <a:buFont typeface="+mj-lt"/>
              <a:buAutoNum type="romanUcPeriod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  <a:cs typeface="Aharoni" panose="02010803020104030203" pitchFamily="2" charset="-79"/>
              </a:rPr>
              <a:t>OBJECTIFS DU COURS </a:t>
            </a:r>
          </a:p>
          <a:p>
            <a:pPr marL="1028700" lvl="1" indent="-571500">
              <a:lnSpc>
                <a:spcPct val="200000"/>
              </a:lnSpc>
              <a:buFont typeface="+mj-lt"/>
              <a:buAutoNum type="romanUcPeriod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  <a:cs typeface="Aharoni" panose="02010803020104030203" pitchFamily="2" charset="-79"/>
              </a:rPr>
              <a:t>CONTENU DU COURS</a:t>
            </a:r>
          </a:p>
          <a:p>
            <a:pPr marL="1028700" lvl="1" indent="-571500">
              <a:lnSpc>
                <a:spcPct val="200000"/>
              </a:lnSpc>
              <a:buFont typeface="+mj-lt"/>
              <a:buAutoNum type="romanUcPeriod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  <a:cs typeface="Aharoni" panose="02010803020104030203" pitchFamily="2" charset="-79"/>
              </a:rPr>
              <a:t>EVALUATION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0227135" y="2558814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3971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3051654"/>
            <a:ext cx="1219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028700" lvl="1" indent="-571500" algn="ctr">
              <a:buFont typeface="+mj-lt"/>
              <a:buAutoNum type="romanUcPeriod"/>
            </a:pPr>
            <a:r>
              <a:rPr lang="fr-FR" sz="3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PRESENTATIONS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8B5A437-6F78-EB8D-DFC7-C25EF44DDB4C}"/>
              </a:ext>
            </a:extLst>
          </p:cNvPr>
          <p:cNvGrpSpPr/>
          <p:nvPr/>
        </p:nvGrpSpPr>
        <p:grpSpPr>
          <a:xfrm>
            <a:off x="4348161" y="693965"/>
            <a:ext cx="3495676" cy="1631252"/>
            <a:chOff x="4348161" y="693965"/>
            <a:chExt cx="3495676" cy="1631252"/>
          </a:xfrm>
        </p:grpSpPr>
        <p:pic>
          <p:nvPicPr>
            <p:cNvPr id="1026" name="Picture 2" descr="The top icebreaker interview questions you should be asking - SEEK Hiring  Advice">
              <a:extLst>
                <a:ext uri="{FF2B5EF4-FFF2-40B4-BE49-F238E27FC236}">
                  <a16:creationId xmlns:a16="http://schemas.microsoft.com/office/drawing/2014/main" id="{0A3DBFCD-5A4E-248F-7588-882DD4A15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162" y="693965"/>
              <a:ext cx="3495675" cy="1304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74DE5DF2-8171-FEB3-CA1C-2C594D757E90}"/>
                </a:ext>
              </a:extLst>
            </p:cNvPr>
            <p:cNvSpPr txBox="1"/>
            <p:nvPr/>
          </p:nvSpPr>
          <p:spPr>
            <a:xfrm>
              <a:off x="4348161" y="1925107"/>
              <a:ext cx="3495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>
                  <a:latin typeface="Aharoni" panose="02010803020104030203" pitchFamily="2" charset="-79"/>
                  <a:cs typeface="Aharoni" panose="02010803020104030203" pitchFamily="2" charset="-79"/>
                </a:rPr>
                <a:t>ICE BREAKING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7232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FR" sz="3600" dirty="0">
                <a:latin typeface="Aharoni" panose="02010803020104030203" pitchFamily="2" charset="-79"/>
                <a:cs typeface="Aharoni" panose="02010803020104030203" pitchFamily="2" charset="-79"/>
              </a:rPr>
              <a:t>PRESENTATION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6D4B75EF-28A9-4F3F-A726-7997E1F62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97" y="910755"/>
            <a:ext cx="2419264" cy="2733214"/>
          </a:xfrm>
          <a:prstGeom prst="rect">
            <a:avLst/>
          </a:prstGeom>
        </p:spPr>
      </p:pic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A0D2891-37B2-4857-979E-21805AE7FD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55975"/>
              </p:ext>
            </p:extLst>
          </p:nvPr>
        </p:nvGraphicFramePr>
        <p:xfrm>
          <a:off x="3048000" y="3642617"/>
          <a:ext cx="6096000" cy="3215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520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3407829"/>
            <a:ext cx="1219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ORGANISATION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4A3F0797-CAFC-4502-98F0-C21723C61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995" y="76470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05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F497F-BBBD-4975-8658-8BEBBAE3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16327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fr-FR" sz="3600" dirty="0">
                <a:latin typeface="Aharoni" panose="02010803020104030203" pitchFamily="2" charset="-79"/>
                <a:cs typeface="Aharoni" panose="02010803020104030203" pitchFamily="2" charset="-79"/>
              </a:rPr>
              <a:t>II. ORGANISATION</a:t>
            </a:r>
            <a:endParaRPr lang="x-none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54E268-1912-4749-8F6A-12CDCE2B4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1"/>
            <a:ext cx="12192000" cy="4525963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3600" b="1" dirty="0">
                <a:solidFill>
                  <a:srgbClr val="0070C0"/>
                </a:solidFill>
                <a:latin typeface="ArialMT"/>
              </a:rPr>
              <a:t>1. BIBLIOGRAPHIE</a:t>
            </a:r>
          </a:p>
          <a:p>
            <a:pPr marL="1079500" indent="-539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Annexe 19, 2</a:t>
            </a:r>
            <a:r>
              <a:rPr lang="fr-FR" sz="3600" baseline="30000" dirty="0">
                <a:latin typeface="ArialMT"/>
              </a:rPr>
              <a:t>ème</a:t>
            </a:r>
            <a:r>
              <a:rPr lang="fr-FR" sz="3600" dirty="0">
                <a:latin typeface="ArialMT"/>
              </a:rPr>
              <a:t> édition, 2016</a:t>
            </a:r>
          </a:p>
          <a:p>
            <a:pPr marL="1079500" indent="-539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Doc 9859 , 4</a:t>
            </a:r>
            <a:r>
              <a:rPr lang="fr-FR" sz="3600" baseline="30000" dirty="0">
                <a:latin typeface="ArialMT"/>
              </a:rPr>
              <a:t>ème</a:t>
            </a:r>
            <a:r>
              <a:rPr lang="fr-FR" sz="3600" dirty="0">
                <a:latin typeface="ArialMT"/>
              </a:rPr>
              <a:t> édition, 2018</a:t>
            </a:r>
          </a:p>
          <a:p>
            <a:pPr marL="1079500" indent="-539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Doc 10159, </a:t>
            </a:r>
            <a:r>
              <a:rPr lang="fr-FR" sz="3600" dirty="0" err="1">
                <a:latin typeface="ArialMT"/>
              </a:rPr>
              <a:t>Safety</a:t>
            </a:r>
            <a:r>
              <a:rPr lang="fr-FR" sz="3600" dirty="0">
                <a:latin typeface="ArialMT"/>
              </a:rPr>
              <a:t> intelligence, </a:t>
            </a:r>
            <a:r>
              <a:rPr lang="en-US" dirty="0"/>
              <a:t>First Edition (Advance unedited) ― 2025 </a:t>
            </a:r>
            <a:endParaRPr lang="fr-FR" sz="3600" dirty="0">
              <a:latin typeface="ArialMT"/>
            </a:endParaRPr>
          </a:p>
          <a:p>
            <a:pPr marL="1079500" indent="-539750"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Quick </a:t>
            </a:r>
            <a:r>
              <a:rPr lang="fr-FR" sz="3600" dirty="0" err="1">
                <a:latin typeface="ArialMT"/>
              </a:rPr>
              <a:t>reference</a:t>
            </a:r>
            <a:r>
              <a:rPr lang="fr-FR" sz="3600" dirty="0">
                <a:latin typeface="ArialMT"/>
              </a:rPr>
              <a:t> guide for </a:t>
            </a:r>
            <a:r>
              <a:rPr lang="fr-FR" sz="3600" dirty="0" err="1">
                <a:latin typeface="ArialMT"/>
              </a:rPr>
              <a:t>safety</a:t>
            </a:r>
            <a:r>
              <a:rPr lang="fr-FR" sz="3600" dirty="0">
                <a:latin typeface="ArialMT"/>
              </a:rPr>
              <a:t> management</a:t>
            </a:r>
            <a:endParaRPr lang="x-none" sz="3600" dirty="0">
              <a:latin typeface="ArialM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727B05-C0B7-482E-89B2-EA788E41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1210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F497F-BBBD-4975-8658-8BEBBAE3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16327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fr-FR" sz="3600" dirty="0">
                <a:latin typeface="Aharoni" panose="02010803020104030203" pitchFamily="2" charset="-79"/>
                <a:cs typeface="Aharoni" panose="02010803020104030203" pitchFamily="2" charset="-79"/>
              </a:rPr>
              <a:t>II. ORGANISATION</a:t>
            </a:r>
            <a:endParaRPr lang="x-none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727B05-C0B7-482E-89B2-EA788E41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A9DC0A-1EA9-4811-A9C2-CE9C55EDFC2E}"/>
              </a:ext>
            </a:extLst>
          </p:cNvPr>
          <p:cNvSpPr/>
          <p:nvPr/>
        </p:nvSpPr>
        <p:spPr>
          <a:xfrm>
            <a:off x="1847529" y="1211202"/>
            <a:ext cx="28552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</a:rPr>
              <a:t>2. </a:t>
            </a:r>
            <a:r>
              <a:rPr lang="fr-FR" sz="36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HORAIRES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FDE6862-8049-FD4E-51FB-A639A434E20B}"/>
              </a:ext>
            </a:extLst>
          </p:cNvPr>
          <p:cNvSpPr txBox="1"/>
          <p:nvPr/>
        </p:nvSpPr>
        <p:spPr>
          <a:xfrm>
            <a:off x="479376" y="2420888"/>
            <a:ext cx="11521280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fr-FR"/>
            </a:defPPr>
            <a:lvl1pPr>
              <a:defRPr>
                <a:solidFill>
                  <a:schemeClr val="dk1"/>
                </a:solidFill>
              </a:defRPr>
            </a:lvl1pPr>
            <a:lvl2pPr lvl="1">
              <a:defRPr sz="2800" b="1"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sz="3600" dirty="0">
                <a:latin typeface="ArialMT"/>
              </a:rPr>
              <a:t>Pour chaque module, le volume horaire est le suivant :</a:t>
            </a:r>
          </a:p>
          <a:p>
            <a:endParaRPr lang="fr-FR" sz="3600" dirty="0">
              <a:latin typeface="ArialMT"/>
            </a:endParaRPr>
          </a:p>
          <a:p>
            <a:r>
              <a:rPr lang="fr-FR" sz="3600" b="1" dirty="0">
                <a:latin typeface="ArialMT"/>
              </a:rPr>
              <a:t>Cours Théorique (CT)	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3 modules – 30 heures</a:t>
            </a:r>
            <a:r>
              <a:rPr lang="fr-FR" sz="3600" dirty="0">
                <a:latin typeface="ArialMT"/>
              </a:rPr>
              <a:t>;</a:t>
            </a:r>
          </a:p>
          <a:p>
            <a:endParaRPr lang="fr-FR" sz="3600" dirty="0">
              <a:latin typeface="ArialMT"/>
            </a:endParaRPr>
          </a:p>
          <a:p>
            <a:r>
              <a:rPr lang="fr-FR" sz="3600" b="1" dirty="0">
                <a:latin typeface="ArialMT"/>
              </a:rPr>
              <a:t>Travaux Dirigés (TD) 	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8 heures.</a:t>
            </a:r>
          </a:p>
          <a:p>
            <a:endParaRPr lang="fr-FR" sz="3600" b="1" dirty="0">
              <a:latin typeface="ArialMT"/>
            </a:endParaRPr>
          </a:p>
          <a:p>
            <a:r>
              <a:rPr lang="fr-FR" sz="3600" b="1" dirty="0">
                <a:latin typeface="ArialMT"/>
              </a:rPr>
              <a:t>Examen	</a:t>
            </a:r>
            <a:r>
              <a:rPr lang="fr-FR" sz="3600" dirty="0">
                <a:latin typeface="ArialMT"/>
              </a:rPr>
              <a:t>				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2 heures</a:t>
            </a:r>
          </a:p>
        </p:txBody>
      </p:sp>
    </p:spTree>
    <p:extLst>
      <p:ext uri="{BB962C8B-B14F-4D97-AF65-F5344CB8AC3E}">
        <p14:creationId xmlns:p14="http://schemas.microsoft.com/office/powerpoint/2010/main" val="171188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3407829"/>
            <a:ext cx="1219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OBJECTIFS DU COURS 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  <p:pic>
        <p:nvPicPr>
          <p:cNvPr id="5" name="Picture 10" descr="http://eifora.com/content/uploads/2015/07/performance-1.jpg">
            <a:extLst>
              <a:ext uri="{FF2B5EF4-FFF2-40B4-BE49-F238E27FC236}">
                <a16:creationId xmlns:a16="http://schemas.microsoft.com/office/drawing/2014/main" id="{DC73BE93-EEAB-43D2-9054-A8E9DB522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0505" y="476672"/>
            <a:ext cx="4124325" cy="25622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7684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96721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3100" dirty="0">
                <a:latin typeface="Aharoni" panose="02010803020104030203" pitchFamily="2" charset="-79"/>
                <a:cs typeface="Aharoni" panose="02010803020104030203" pitchFamily="2" charset="-79"/>
              </a:rPr>
              <a:t>III. OBJECTIFS DU COURS 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4FDD19-A750-4DD2-872B-9643600B3016}"/>
              </a:ext>
            </a:extLst>
          </p:cNvPr>
          <p:cNvSpPr/>
          <p:nvPr/>
        </p:nvSpPr>
        <p:spPr>
          <a:xfrm>
            <a:off x="119336" y="764875"/>
            <a:ext cx="1094521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Tx/>
              <a:buChar char="-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</a:rPr>
              <a:t>Comprendre les principes de base de  gestion de la sécurité.</a:t>
            </a:r>
          </a:p>
          <a:p>
            <a:pPr marL="914400" lvl="1" indent="-457200">
              <a:buFontTx/>
              <a:buChar char="-"/>
            </a:pPr>
            <a:endParaRPr lang="fr-FR" sz="3600" dirty="0">
              <a:solidFill>
                <a:sysClr val="windowText" lastClr="000000"/>
              </a:solidFill>
              <a:latin typeface="ArialMT"/>
            </a:endParaRPr>
          </a:p>
          <a:p>
            <a:pPr marL="914400" lvl="1" indent="-457200">
              <a:buFontTx/>
              <a:buChar char="-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</a:rPr>
              <a:t>Comprendre l’analyse des risques de sécurité</a:t>
            </a:r>
          </a:p>
          <a:p>
            <a:pPr marL="914400" lvl="1" indent="-457200">
              <a:buFontTx/>
              <a:buChar char="-"/>
            </a:pPr>
            <a:endParaRPr lang="fr-FR" sz="3600" dirty="0">
              <a:solidFill>
                <a:sysClr val="windowText" lastClr="000000"/>
              </a:solidFill>
              <a:latin typeface="ArialMT"/>
            </a:endParaRPr>
          </a:p>
          <a:p>
            <a:pPr marL="914400" lvl="1" indent="-457200">
              <a:buFontTx/>
              <a:buChar char="-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</a:rPr>
              <a:t>Comprendre les dispositions de l’OACI en matière de  gestion de la sécurité.</a:t>
            </a:r>
          </a:p>
          <a:p>
            <a:pPr marL="914400" lvl="1" indent="-457200">
              <a:buFontTx/>
              <a:buChar char="-"/>
            </a:pPr>
            <a:endParaRPr lang="fr-FR" sz="3600" dirty="0">
              <a:solidFill>
                <a:sysClr val="windowText" lastClr="000000"/>
              </a:solidFill>
              <a:latin typeface="ArialMT"/>
            </a:endParaRPr>
          </a:p>
          <a:p>
            <a:pPr marL="914400" lvl="1" indent="-457200">
              <a:buFontTx/>
              <a:buChar char="-"/>
            </a:pPr>
            <a:r>
              <a:rPr lang="fr-FR" sz="3600" dirty="0">
                <a:solidFill>
                  <a:sysClr val="windowText" lastClr="000000"/>
                </a:solidFill>
                <a:latin typeface="ArialMT"/>
              </a:rPr>
              <a:t>Maitriser les composantes du SMS.</a:t>
            </a:r>
          </a:p>
          <a:p>
            <a:pPr marL="914400" lvl="1" indent="-457200">
              <a:buFontTx/>
              <a:buChar char="-"/>
            </a:pPr>
            <a:endParaRPr lang="fr-FR" sz="3600" dirty="0">
              <a:solidFill>
                <a:sysClr val="windowText" lastClr="000000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73773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3407829"/>
            <a:ext cx="1219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CONTENU DU COURS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B1C2B0E-CEEF-44DD-8025-2110A0D7B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501" y="836712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8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7232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FR" sz="3600" dirty="0">
                <a:latin typeface="Aharoni" panose="02010803020104030203" pitchFamily="2" charset="-79"/>
                <a:cs typeface="Aharoni" panose="02010803020104030203" pitchFamily="2" charset="-79"/>
              </a:rPr>
              <a:t>IV. CONTENU DU COURS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191344" y="2624713"/>
            <a:ext cx="11839802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fr-FR" sz="2800" b="1" dirty="0">
                <a:solidFill>
                  <a:schemeClr val="accent6">
                    <a:lumMod val="75000"/>
                  </a:schemeClr>
                </a:solidFill>
                <a:latin typeface="ArialMT"/>
              </a:rPr>
              <a:t>MODULE I. : 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FONDAMENTAUX DE LA GESTION DE LA SÉCURITÉ AÉRONAUTIQUE</a:t>
            </a:r>
          </a:p>
          <a:p>
            <a:pPr lvl="1"/>
            <a:endParaRPr lang="fr-FR" sz="2800" b="1" dirty="0">
              <a:solidFill>
                <a:schemeClr val="accent6">
                  <a:lumMod val="75000"/>
                </a:schemeClr>
              </a:solidFill>
              <a:latin typeface="ArialMT"/>
            </a:endParaRPr>
          </a:p>
          <a:p>
            <a:pPr lvl="1"/>
            <a:r>
              <a:rPr lang="fr-FR" sz="2800" b="1" dirty="0">
                <a:solidFill>
                  <a:schemeClr val="accent6">
                    <a:lumMod val="75000"/>
                  </a:schemeClr>
                </a:solidFill>
                <a:latin typeface="ArialMT"/>
              </a:rPr>
              <a:t>MODULE II. : 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CADRE NORMATIF DE L’OACI EN MATIÈRE DE GESTION DE LA SÉCURITÉ (SARPS DE L’ANNEXE 19)</a:t>
            </a:r>
          </a:p>
          <a:p>
            <a:pPr lvl="1"/>
            <a:endParaRPr lang="fr-FR" sz="2800" b="1" dirty="0">
              <a:solidFill>
                <a:schemeClr val="accent6">
                  <a:lumMod val="75000"/>
                </a:schemeClr>
              </a:solidFill>
              <a:latin typeface="ArialMT"/>
            </a:endParaRPr>
          </a:p>
          <a:p>
            <a:pPr marL="2773363" lvl="1" indent="-2316163"/>
            <a:r>
              <a:rPr lang="fr-FR" sz="2800" b="1" dirty="0">
                <a:solidFill>
                  <a:schemeClr val="accent6">
                    <a:lumMod val="75000"/>
                  </a:schemeClr>
                </a:solidFill>
                <a:latin typeface="ArialMT"/>
              </a:rPr>
              <a:t>MODULE III. : 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MISE EN ŒUVRE ET EXPLOITATION DU SYSTÈME DE GESTION DE LA SÉCURITÉ (SGS) DANS LES ORGANISATIONS AÉRONAUTIQUES)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616652" y="1062426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6816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3407829"/>
            <a:ext cx="1219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V. EVALUATION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B1C2B0E-CEEF-44DD-8025-2110A0D7B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501" y="836712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54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48680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fr-FR" sz="3600" b="1" dirty="0">
                <a:latin typeface="Aharoni" panose="02010803020104030203" pitchFamily="2" charset="-79"/>
                <a:cs typeface="Aharoni" panose="02010803020104030203" pitchFamily="2" charset="-79"/>
              </a:rPr>
              <a:t>V. EVALUATION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0" y="1052736"/>
            <a:ext cx="12192000" cy="15824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00113" indent="-450850">
              <a:buAutoNum type="arabicPeriod"/>
            </a:pPr>
            <a:r>
              <a:rPr lang="fr-FR" sz="3600" b="1" dirty="0">
                <a:solidFill>
                  <a:srgbClr val="0070C0"/>
                </a:solidFill>
                <a:latin typeface="ArialMT"/>
                <a:cs typeface="Times New Roman" panose="02020603050405020304" pitchFamily="18" charset="0"/>
              </a:rPr>
              <a:t>Evaluation du cours</a:t>
            </a:r>
          </a:p>
          <a:p>
            <a:pPr>
              <a:lnSpc>
                <a:spcPct val="200000"/>
              </a:lnSpc>
            </a:pPr>
            <a:r>
              <a:rPr lang="fr-FR" sz="3600">
                <a:latin typeface="ArialMT"/>
                <a:cs typeface="Times New Roman" panose="02020603050405020304" pitchFamily="18" charset="0"/>
              </a:rPr>
              <a:t>Evaluation en ligne</a:t>
            </a:r>
            <a:endParaRPr lang="fr-FR" sz="3600" dirty="0">
              <a:latin typeface="ArialMT"/>
              <a:cs typeface="Times New Roman" panose="02020603050405020304" pitchFamily="18" charset="0"/>
            </a:endParaRP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7EA41D7-9171-4ED3-ADD5-16605BFAAF98}"/>
              </a:ext>
            </a:extLst>
          </p:cNvPr>
          <p:cNvSpPr txBox="1"/>
          <p:nvPr/>
        </p:nvSpPr>
        <p:spPr>
          <a:xfrm>
            <a:off x="0" y="3727773"/>
            <a:ext cx="12192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fr-FR" sz="3600" b="1" dirty="0">
                <a:solidFill>
                  <a:srgbClr val="0070C0"/>
                </a:solidFill>
                <a:latin typeface="ArialMT"/>
                <a:cs typeface="Times New Roman" panose="02020603050405020304" pitchFamily="18" charset="0"/>
              </a:rPr>
              <a:t>2. Evaluation des participants</a:t>
            </a:r>
          </a:p>
          <a:p>
            <a:endParaRPr lang="fr-FR" sz="3600" dirty="0">
              <a:latin typeface="ArialMT"/>
              <a:cs typeface="Times New Roman" panose="02020603050405020304" pitchFamily="18" charset="0"/>
            </a:endParaRPr>
          </a:p>
          <a:p>
            <a:r>
              <a:rPr lang="fr-FR" sz="3600" dirty="0">
                <a:latin typeface="ArialMT"/>
                <a:cs typeface="Times New Roman" panose="02020603050405020304" pitchFamily="18" charset="0"/>
              </a:rPr>
              <a:t>Une évaluation de deux heures portant exclusivement sur les </a:t>
            </a:r>
            <a:r>
              <a:rPr lang="fr-FR" sz="3600" dirty="0" err="1">
                <a:latin typeface="ArialMT"/>
                <a:cs typeface="Times New Roman" panose="02020603050405020304" pitchFamily="18" charset="0"/>
              </a:rPr>
              <a:t>quatres</a:t>
            </a:r>
            <a:r>
              <a:rPr lang="fr-FR" sz="3600" dirty="0">
                <a:latin typeface="ArialMT"/>
                <a:cs typeface="Times New Roman" panose="02020603050405020304" pitchFamily="18" charset="0"/>
              </a:rPr>
              <a:t> modules cités à la diapo 11</a:t>
            </a:r>
          </a:p>
        </p:txBody>
      </p:sp>
    </p:spTree>
    <p:extLst>
      <p:ext uri="{BB962C8B-B14F-4D97-AF65-F5344CB8AC3E}">
        <p14:creationId xmlns:p14="http://schemas.microsoft.com/office/powerpoint/2010/main" val="246783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81158" y="428605"/>
            <a:ext cx="8229600" cy="2286016"/>
          </a:xfrm>
        </p:spPr>
        <p:txBody>
          <a:bodyPr anchor="ctr" anchorCtr="0">
            <a:normAutofit/>
          </a:bodyPr>
          <a:lstStyle/>
          <a:p>
            <a:pPr algn="ctr">
              <a:buNone/>
            </a:pPr>
            <a:r>
              <a:rPr lang="fr-FR" sz="6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MERCI DE VOTRE AIMABLE ATTENTION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0314" y="2357430"/>
            <a:ext cx="3633784" cy="3658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4100" y="3357562"/>
            <a:ext cx="3581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4467</TotalTime>
  <Words>333</Words>
  <Application>Microsoft Office PowerPoint</Application>
  <PresentationFormat>Grand écran</PresentationFormat>
  <Paragraphs>85</Paragraphs>
  <Slides>14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Aharoni</vt:lpstr>
      <vt:lpstr>Arial</vt:lpstr>
      <vt:lpstr>ArialMT</vt:lpstr>
      <vt:lpstr>Calibri</vt:lpstr>
      <vt:lpstr>Wingdings</vt:lpstr>
      <vt:lpstr>Thème Office</vt:lpstr>
      <vt:lpstr>Présentation PowerPoint</vt:lpstr>
      <vt:lpstr>SOMMAIRE</vt:lpstr>
      <vt:lpstr>Présentation PowerPoint</vt:lpstr>
      <vt:lpstr>PRESENTATION</vt:lpstr>
      <vt:lpstr>Présentation PowerPoint</vt:lpstr>
      <vt:lpstr>II. ORGANISATION</vt:lpstr>
      <vt:lpstr>II. ORGANISATION</vt:lpstr>
      <vt:lpstr>Présentation PowerPoint</vt:lpstr>
      <vt:lpstr>III. OBJECTIFS DU COURS </vt:lpstr>
      <vt:lpstr>Présentation PowerPoint</vt:lpstr>
      <vt:lpstr>IV. CONTENU DU COURS</vt:lpstr>
      <vt:lpstr>Présentation PowerPoint</vt:lpstr>
      <vt:lpstr>V. EVALUATION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Moustapha Roufai</dc:creator>
  <cp:lastModifiedBy>MOUSTAPHA Amadou Roufaï</cp:lastModifiedBy>
  <cp:revision>273</cp:revision>
  <dcterms:created xsi:type="dcterms:W3CDTF">2015-03-17T09:23:14Z</dcterms:created>
  <dcterms:modified xsi:type="dcterms:W3CDTF">2025-09-27T10:43:21Z</dcterms:modified>
</cp:coreProperties>
</file>