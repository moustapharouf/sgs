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1"/>
  </p:notesMasterIdLst>
  <p:handoutMasterIdLst>
    <p:handoutMasterId r:id="rId82"/>
  </p:handoutMasterIdLst>
  <p:sldIdLst>
    <p:sldId id="256" r:id="rId2"/>
    <p:sldId id="348" r:id="rId3"/>
    <p:sldId id="305" r:id="rId4"/>
    <p:sldId id="266" r:id="rId5"/>
    <p:sldId id="415" r:id="rId6"/>
    <p:sldId id="429" r:id="rId7"/>
    <p:sldId id="351" r:id="rId8"/>
    <p:sldId id="352" r:id="rId9"/>
    <p:sldId id="443" r:id="rId10"/>
    <p:sldId id="444" r:id="rId11"/>
    <p:sldId id="433" r:id="rId12"/>
    <p:sldId id="435" r:id="rId13"/>
    <p:sldId id="442" r:id="rId14"/>
    <p:sldId id="434" r:id="rId15"/>
    <p:sldId id="436" r:id="rId16"/>
    <p:sldId id="354" r:id="rId17"/>
    <p:sldId id="357" r:id="rId18"/>
    <p:sldId id="447" r:id="rId19"/>
    <p:sldId id="446" r:id="rId20"/>
    <p:sldId id="448" r:id="rId21"/>
    <p:sldId id="430" r:id="rId22"/>
    <p:sldId id="452" r:id="rId23"/>
    <p:sldId id="453" r:id="rId24"/>
    <p:sldId id="454" r:id="rId25"/>
    <p:sldId id="455" r:id="rId26"/>
    <p:sldId id="427" r:id="rId27"/>
    <p:sldId id="359" r:id="rId28"/>
    <p:sldId id="361" r:id="rId29"/>
    <p:sldId id="416" r:id="rId30"/>
    <p:sldId id="417" r:id="rId31"/>
    <p:sldId id="360" r:id="rId32"/>
    <p:sldId id="458" r:id="rId33"/>
    <p:sldId id="362" r:id="rId34"/>
    <p:sldId id="456" r:id="rId35"/>
    <p:sldId id="457" r:id="rId36"/>
    <p:sldId id="459" r:id="rId37"/>
    <p:sldId id="364" r:id="rId38"/>
    <p:sldId id="365" r:id="rId39"/>
    <p:sldId id="368" r:id="rId40"/>
    <p:sldId id="369" r:id="rId41"/>
    <p:sldId id="370" r:id="rId42"/>
    <p:sldId id="375" r:id="rId43"/>
    <p:sldId id="376" r:id="rId44"/>
    <p:sldId id="431" r:id="rId45"/>
    <p:sldId id="377" r:id="rId46"/>
    <p:sldId id="378" r:id="rId47"/>
    <p:sldId id="379" r:id="rId48"/>
    <p:sldId id="380" r:id="rId49"/>
    <p:sldId id="381" r:id="rId50"/>
    <p:sldId id="460" r:id="rId51"/>
    <p:sldId id="383" r:id="rId52"/>
    <p:sldId id="425" r:id="rId53"/>
    <p:sldId id="384" r:id="rId54"/>
    <p:sldId id="426" r:id="rId55"/>
    <p:sldId id="385" r:id="rId56"/>
    <p:sldId id="386" r:id="rId57"/>
    <p:sldId id="461" r:id="rId58"/>
    <p:sldId id="355" r:id="rId59"/>
    <p:sldId id="356" r:id="rId60"/>
    <p:sldId id="374" r:id="rId61"/>
    <p:sldId id="439" r:id="rId62"/>
    <p:sldId id="399" r:id="rId63"/>
    <p:sldId id="400" r:id="rId64"/>
    <p:sldId id="437" r:id="rId65"/>
    <p:sldId id="438" r:id="rId66"/>
    <p:sldId id="401" r:id="rId67"/>
    <p:sldId id="402" r:id="rId68"/>
    <p:sldId id="403" r:id="rId69"/>
    <p:sldId id="404" r:id="rId70"/>
    <p:sldId id="405" r:id="rId71"/>
    <p:sldId id="406" r:id="rId72"/>
    <p:sldId id="407" r:id="rId73"/>
    <p:sldId id="409" r:id="rId74"/>
    <p:sldId id="408" r:id="rId75"/>
    <p:sldId id="410" r:id="rId76"/>
    <p:sldId id="412" r:id="rId77"/>
    <p:sldId id="413" r:id="rId78"/>
    <p:sldId id="414" r:id="rId79"/>
    <p:sldId id="286" r:id="rId8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3BA2DB"/>
    <a:srgbClr val="FFCC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107" autoAdjust="0"/>
  </p:normalViewPr>
  <p:slideViewPr>
    <p:cSldViewPr>
      <p:cViewPr varScale="1">
        <p:scale>
          <a:sx n="103" d="100"/>
          <a:sy n="103" d="100"/>
        </p:scale>
        <p:origin x="36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668E61-C986-4281-B126-E5A7552737F8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D8FD237C-2A6F-4923-B1EF-F23333DF1D54}">
      <dgm:prSet phldrT="[Texte]" custT="1"/>
      <dgm:spPr/>
      <dgm:t>
        <a:bodyPr/>
        <a:lstStyle/>
        <a:p>
          <a:r>
            <a:rPr lang="fr-FR" sz="2800" b="1" dirty="0">
              <a:latin typeface="ArialMT"/>
            </a:rPr>
            <a:t>Erreur d'exécution</a:t>
          </a:r>
        </a:p>
      </dgm:t>
    </dgm:pt>
    <dgm:pt modelId="{65CAD9FC-EE1B-45CB-A602-E7E226D82BBA}" type="parTrans" cxnId="{96CC6263-7300-41D2-B924-4C00B6E27ADA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500175B2-A870-4EFD-A219-6F61CAB80DCF}" type="sibTrans" cxnId="{96CC6263-7300-41D2-B924-4C00B6E27ADA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715950DE-1FA8-4D4A-8690-898712143F98}">
      <dgm:prSet phldrT="[Texte]" custT="1"/>
      <dgm:spPr/>
      <dgm:t>
        <a:bodyPr/>
        <a:lstStyle/>
        <a:p>
          <a:r>
            <a:rPr lang="fr-FR" sz="2800" dirty="0">
              <a:solidFill>
                <a:srgbClr val="FF0000"/>
              </a:solidFill>
              <a:latin typeface="ArialMT"/>
            </a:rPr>
            <a:t>Déviation (Slips</a:t>
          </a:r>
          <a:r>
            <a:rPr lang="fr-FR" sz="2000" dirty="0">
              <a:solidFill>
                <a:srgbClr val="FF0000"/>
              </a:solidFill>
              <a:latin typeface="ArialMT"/>
            </a:rPr>
            <a:t>) </a:t>
          </a:r>
          <a:endParaRPr lang="fr-FR" sz="2000" dirty="0">
            <a:latin typeface="ArialMT"/>
          </a:endParaRPr>
        </a:p>
      </dgm:t>
    </dgm:pt>
    <dgm:pt modelId="{44358609-40A4-4B76-9B50-7874BBBAE9FC}" type="parTrans" cxnId="{C34D10F6-0F7A-4F5D-A146-E61275AFCA20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4B2CAF59-DB1F-4C4A-9BF1-4F27690AE400}" type="sibTrans" cxnId="{C34D10F6-0F7A-4F5D-A146-E61275AFCA20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31B2573B-7B58-421C-B910-D6579232269B}">
      <dgm:prSet phldrT="[Texte]" custT="1"/>
      <dgm:spPr/>
      <dgm:t>
        <a:bodyPr/>
        <a:lstStyle/>
        <a:p>
          <a:pPr algn="l"/>
          <a:r>
            <a:rPr lang="fr-FR" sz="2000" b="1" dirty="0">
              <a:latin typeface="ArialMT"/>
            </a:rPr>
            <a:t>Défaut d'attention :</a:t>
          </a:r>
        </a:p>
        <a:p>
          <a:pPr algn="l"/>
          <a:r>
            <a:rPr lang="fr-FR" sz="2000" dirty="0">
              <a:latin typeface="ArialMT"/>
            </a:rPr>
            <a:t>- Mauvaise perception</a:t>
          </a:r>
        </a:p>
        <a:p>
          <a:pPr algn="l"/>
          <a:r>
            <a:rPr lang="fr-FR" sz="2000" dirty="0">
              <a:latin typeface="ArialMT"/>
            </a:rPr>
            <a:t>- Erreur d'interférence</a:t>
          </a:r>
        </a:p>
        <a:p>
          <a:pPr algn="l"/>
          <a:r>
            <a:rPr lang="fr-FR" sz="2000" dirty="0">
              <a:latin typeface="ArialMT"/>
            </a:rPr>
            <a:t>- Erreur de classement</a:t>
          </a:r>
        </a:p>
        <a:p>
          <a:pPr algn="l"/>
          <a:r>
            <a:rPr lang="fr-FR" sz="2000" dirty="0">
              <a:latin typeface="ArialMT"/>
            </a:rPr>
            <a:t>- Erreur de timing</a:t>
          </a:r>
        </a:p>
        <a:p>
          <a:pPr algn="l"/>
          <a:r>
            <a:rPr lang="fr-FR" sz="600" dirty="0">
              <a:latin typeface="ArialMT"/>
            </a:rPr>
            <a:t>-</a:t>
          </a:r>
        </a:p>
      </dgm:t>
    </dgm:pt>
    <dgm:pt modelId="{740331EA-E21B-4A7B-A0E9-1631AAD44DF7}" type="parTrans" cxnId="{8C393608-8B01-4A65-93F9-86E9D19BEF66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95A6E1DD-C2F7-4EBF-B0F2-6D1556099965}" type="sibTrans" cxnId="{8C393608-8B01-4A65-93F9-86E9D19BEF66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3067A95B-F290-4D3D-BFA6-EE6D0288B020}">
      <dgm:prSet phldrT="[Texte]" custT="1"/>
      <dgm:spPr/>
      <dgm:t>
        <a:bodyPr/>
        <a:lstStyle/>
        <a:p>
          <a:r>
            <a:rPr lang="fr-FR" sz="2800" dirty="0">
              <a:solidFill>
                <a:srgbClr val="FF0000"/>
              </a:solidFill>
              <a:latin typeface="ArialMT"/>
            </a:rPr>
            <a:t>Oubli (Lapses) </a:t>
          </a:r>
          <a:endParaRPr lang="fr-FR" sz="2800" dirty="0">
            <a:latin typeface="ArialMT"/>
          </a:endParaRPr>
        </a:p>
      </dgm:t>
    </dgm:pt>
    <dgm:pt modelId="{A7EE9982-4A8C-40DC-976A-88B30F0D20C1}" type="parTrans" cxnId="{C75145BE-773D-47E2-BF91-F62B5C7A1921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2A9771E2-E777-4561-98A6-DE0FA4AE33EE}" type="sibTrans" cxnId="{C75145BE-773D-47E2-BF91-F62B5C7A1921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27B0089F-62F6-4F3E-A6AD-A797FFDA6B45}">
      <dgm:prSet phldrT="[Texte]" custT="1"/>
      <dgm:spPr/>
      <dgm:t>
        <a:bodyPr/>
        <a:lstStyle/>
        <a:p>
          <a:pPr algn="l"/>
          <a:r>
            <a:rPr lang="fr-FR" sz="2000" b="1" dirty="0">
              <a:latin typeface="ArialMT"/>
            </a:rPr>
            <a:t>Défaut de mémoire :</a:t>
          </a:r>
        </a:p>
        <a:p>
          <a:pPr algn="l"/>
          <a:r>
            <a:rPr lang="fr-FR" sz="2000" dirty="0">
              <a:latin typeface="ArialMT"/>
            </a:rPr>
            <a:t>- Omissions</a:t>
          </a:r>
        </a:p>
        <a:p>
          <a:pPr algn="l"/>
          <a:r>
            <a:rPr lang="fr-FR" sz="2000" dirty="0">
              <a:latin typeface="ArialMT"/>
            </a:rPr>
            <a:t>- </a:t>
          </a:r>
          <a:r>
            <a:rPr lang="fr-FR" sz="2000" dirty="0" err="1">
              <a:latin typeface="ArialMT"/>
            </a:rPr>
            <a:t>Repetitions</a:t>
          </a:r>
          <a:endParaRPr lang="fr-FR" sz="2000" dirty="0">
            <a:latin typeface="ArialMT"/>
          </a:endParaRPr>
        </a:p>
        <a:p>
          <a:pPr algn="l"/>
          <a:r>
            <a:rPr lang="fr-FR" sz="2000" dirty="0">
              <a:latin typeface="ArialMT"/>
            </a:rPr>
            <a:t>- Réduction </a:t>
          </a:r>
          <a:r>
            <a:rPr lang="fr-FR" sz="2000" dirty="0" err="1">
              <a:latin typeface="ArialMT"/>
            </a:rPr>
            <a:t>d'intentionalité</a:t>
          </a:r>
          <a:r>
            <a:rPr lang="fr-FR" sz="2000" dirty="0">
              <a:latin typeface="ArialMT"/>
            </a:rPr>
            <a:t> (Représentation mentale)</a:t>
          </a:r>
        </a:p>
      </dgm:t>
    </dgm:pt>
    <dgm:pt modelId="{2ABE68FA-F013-4663-93E0-BF8CF434CFB5}" type="parTrans" cxnId="{210D2925-64D4-4F9D-9459-52230AA09CDD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C300000A-CE5D-43AC-85FD-CB72A3056E49}" type="sibTrans" cxnId="{210D2925-64D4-4F9D-9459-52230AA09CDD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A77C5F4B-F6C8-422B-8BCE-5EBE10E861CC}" type="pres">
      <dgm:prSet presAssocID="{F1668E61-C986-4281-B126-E5A7552737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6FBF6F2-1255-4AFD-A3BF-88DADDFA158D}" type="pres">
      <dgm:prSet presAssocID="{F1668E61-C986-4281-B126-E5A7552737F8}" presName="hierFlow" presStyleCnt="0"/>
      <dgm:spPr/>
    </dgm:pt>
    <dgm:pt modelId="{99F0EA56-89F3-4F4C-A128-CE7DB2B76260}" type="pres">
      <dgm:prSet presAssocID="{F1668E61-C986-4281-B126-E5A7552737F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08ADAB0-7489-4082-AC8B-B8EBB945B061}" type="pres">
      <dgm:prSet presAssocID="{D8FD237C-2A6F-4923-B1EF-F23333DF1D54}" presName="Name14" presStyleCnt="0"/>
      <dgm:spPr/>
    </dgm:pt>
    <dgm:pt modelId="{09BF6F09-D98A-4CE8-A88E-C73F9CCB467D}" type="pres">
      <dgm:prSet presAssocID="{D8FD237C-2A6F-4923-B1EF-F23333DF1D54}" presName="level1Shape" presStyleLbl="node0" presStyleIdx="0" presStyleCnt="1" custScaleX="189959">
        <dgm:presLayoutVars>
          <dgm:chPref val="3"/>
        </dgm:presLayoutVars>
      </dgm:prSet>
      <dgm:spPr/>
    </dgm:pt>
    <dgm:pt modelId="{9FEE6431-B465-4598-AEC3-CF32B79C4994}" type="pres">
      <dgm:prSet presAssocID="{D8FD237C-2A6F-4923-B1EF-F23333DF1D54}" presName="hierChild2" presStyleCnt="0"/>
      <dgm:spPr/>
    </dgm:pt>
    <dgm:pt modelId="{4FB766E8-4B42-444F-A436-AFE679FF2AB4}" type="pres">
      <dgm:prSet presAssocID="{44358609-40A4-4B76-9B50-7874BBBAE9FC}" presName="Name19" presStyleLbl="parChTrans1D2" presStyleIdx="0" presStyleCnt="2"/>
      <dgm:spPr/>
    </dgm:pt>
    <dgm:pt modelId="{7A44274E-399B-4CB8-8731-51F72492A7EB}" type="pres">
      <dgm:prSet presAssocID="{715950DE-1FA8-4D4A-8690-898712143F98}" presName="Name21" presStyleCnt="0"/>
      <dgm:spPr/>
    </dgm:pt>
    <dgm:pt modelId="{FDC8F457-A430-4C45-A551-414D71DD5151}" type="pres">
      <dgm:prSet presAssocID="{715950DE-1FA8-4D4A-8690-898712143F98}" presName="level2Shape" presStyleLbl="node2" presStyleIdx="0" presStyleCnt="2" custScaleX="148162"/>
      <dgm:spPr/>
    </dgm:pt>
    <dgm:pt modelId="{D2A968EF-C705-428D-A725-42D841B0BAF1}" type="pres">
      <dgm:prSet presAssocID="{715950DE-1FA8-4D4A-8690-898712143F98}" presName="hierChild3" presStyleCnt="0"/>
      <dgm:spPr/>
    </dgm:pt>
    <dgm:pt modelId="{7C5E741B-02E9-4EA3-A5A8-4E28D7F324D6}" type="pres">
      <dgm:prSet presAssocID="{740331EA-E21B-4A7B-A0E9-1631AAD44DF7}" presName="Name19" presStyleLbl="parChTrans1D3" presStyleIdx="0" presStyleCnt="2"/>
      <dgm:spPr/>
    </dgm:pt>
    <dgm:pt modelId="{D9FD7FCE-9ABE-4C34-8950-965D43C2D91D}" type="pres">
      <dgm:prSet presAssocID="{31B2573B-7B58-421C-B910-D6579232269B}" presName="Name21" presStyleCnt="0"/>
      <dgm:spPr/>
    </dgm:pt>
    <dgm:pt modelId="{3D6E174F-3ED4-4461-856C-D3A12B37B2AE}" type="pres">
      <dgm:prSet presAssocID="{31B2573B-7B58-421C-B910-D6579232269B}" presName="level2Shape" presStyleLbl="node3" presStyleIdx="0" presStyleCnt="2" custScaleX="253394" custScaleY="229351" custLinFactNeighborX="-12809"/>
      <dgm:spPr/>
    </dgm:pt>
    <dgm:pt modelId="{1865E6AA-0F4B-48F0-A703-DF81CAB62D9C}" type="pres">
      <dgm:prSet presAssocID="{31B2573B-7B58-421C-B910-D6579232269B}" presName="hierChild3" presStyleCnt="0"/>
      <dgm:spPr/>
    </dgm:pt>
    <dgm:pt modelId="{7EC6AB9A-0559-4B62-85E6-8F85FA05D127}" type="pres">
      <dgm:prSet presAssocID="{A7EE9982-4A8C-40DC-976A-88B30F0D20C1}" presName="Name19" presStyleLbl="parChTrans1D2" presStyleIdx="1" presStyleCnt="2"/>
      <dgm:spPr/>
    </dgm:pt>
    <dgm:pt modelId="{A77582C2-DCC0-43CA-9697-E3469CD03AFE}" type="pres">
      <dgm:prSet presAssocID="{3067A95B-F290-4D3D-BFA6-EE6D0288B020}" presName="Name21" presStyleCnt="0"/>
      <dgm:spPr/>
    </dgm:pt>
    <dgm:pt modelId="{A9DFA89D-8431-4FB9-9791-9FEEA944629B}" type="pres">
      <dgm:prSet presAssocID="{3067A95B-F290-4D3D-BFA6-EE6D0288B020}" presName="level2Shape" presStyleLbl="node2" presStyleIdx="1" presStyleCnt="2" custScaleX="157059"/>
      <dgm:spPr/>
    </dgm:pt>
    <dgm:pt modelId="{4EF93C77-67B1-47A5-AB60-8AFA5F593FA3}" type="pres">
      <dgm:prSet presAssocID="{3067A95B-F290-4D3D-BFA6-EE6D0288B020}" presName="hierChild3" presStyleCnt="0"/>
      <dgm:spPr/>
    </dgm:pt>
    <dgm:pt modelId="{1BE59157-B1DF-4358-8EA1-D7016C9493F8}" type="pres">
      <dgm:prSet presAssocID="{2ABE68FA-F013-4663-93E0-BF8CF434CFB5}" presName="Name19" presStyleLbl="parChTrans1D3" presStyleIdx="1" presStyleCnt="2"/>
      <dgm:spPr/>
    </dgm:pt>
    <dgm:pt modelId="{25389B4E-69E3-4A2A-96EA-AEC7C5010446}" type="pres">
      <dgm:prSet presAssocID="{27B0089F-62F6-4F3E-A6AD-A797FFDA6B45}" presName="Name21" presStyleCnt="0"/>
      <dgm:spPr/>
    </dgm:pt>
    <dgm:pt modelId="{D335EC4D-9D03-47C7-B5CE-BD1DA173AFD8}" type="pres">
      <dgm:prSet presAssocID="{27B0089F-62F6-4F3E-A6AD-A797FFDA6B45}" presName="level2Shape" presStyleLbl="node3" presStyleIdx="1" presStyleCnt="2" custScaleX="232428" custScaleY="222280"/>
      <dgm:spPr/>
    </dgm:pt>
    <dgm:pt modelId="{E321D863-EFD5-439C-99B7-792A15400C36}" type="pres">
      <dgm:prSet presAssocID="{27B0089F-62F6-4F3E-A6AD-A797FFDA6B45}" presName="hierChild3" presStyleCnt="0"/>
      <dgm:spPr/>
    </dgm:pt>
    <dgm:pt modelId="{37B47C8B-0FF4-4888-A8D4-C56799424F25}" type="pres">
      <dgm:prSet presAssocID="{F1668E61-C986-4281-B126-E5A7552737F8}" presName="bgShapesFlow" presStyleCnt="0"/>
      <dgm:spPr/>
    </dgm:pt>
  </dgm:ptLst>
  <dgm:cxnLst>
    <dgm:cxn modelId="{8C393608-8B01-4A65-93F9-86E9D19BEF66}" srcId="{715950DE-1FA8-4D4A-8690-898712143F98}" destId="{31B2573B-7B58-421C-B910-D6579232269B}" srcOrd="0" destOrd="0" parTransId="{740331EA-E21B-4A7B-A0E9-1631AAD44DF7}" sibTransId="{95A6E1DD-C2F7-4EBF-B0F2-6D1556099965}"/>
    <dgm:cxn modelId="{CA1BF20B-61F9-4B92-80F1-505B1EA23C98}" type="presOf" srcId="{31B2573B-7B58-421C-B910-D6579232269B}" destId="{3D6E174F-3ED4-4461-856C-D3A12B37B2AE}" srcOrd="0" destOrd="0" presId="urn:microsoft.com/office/officeart/2005/8/layout/hierarchy6"/>
    <dgm:cxn modelId="{59A54623-9C39-4FCF-B9D3-E01C47DA7EB7}" type="presOf" srcId="{A7EE9982-4A8C-40DC-976A-88B30F0D20C1}" destId="{7EC6AB9A-0559-4B62-85E6-8F85FA05D127}" srcOrd="0" destOrd="0" presId="urn:microsoft.com/office/officeart/2005/8/layout/hierarchy6"/>
    <dgm:cxn modelId="{210D2925-64D4-4F9D-9459-52230AA09CDD}" srcId="{3067A95B-F290-4D3D-BFA6-EE6D0288B020}" destId="{27B0089F-62F6-4F3E-A6AD-A797FFDA6B45}" srcOrd="0" destOrd="0" parTransId="{2ABE68FA-F013-4663-93E0-BF8CF434CFB5}" sibTransId="{C300000A-CE5D-43AC-85FD-CB72A3056E49}"/>
    <dgm:cxn modelId="{350FAF27-84D9-4B58-BFBA-F38DD82DC6DB}" type="presOf" srcId="{3067A95B-F290-4D3D-BFA6-EE6D0288B020}" destId="{A9DFA89D-8431-4FB9-9791-9FEEA944629B}" srcOrd="0" destOrd="0" presId="urn:microsoft.com/office/officeart/2005/8/layout/hierarchy6"/>
    <dgm:cxn modelId="{65D85835-BF99-476C-AEAE-1993103B65B3}" type="presOf" srcId="{D8FD237C-2A6F-4923-B1EF-F23333DF1D54}" destId="{09BF6F09-D98A-4CE8-A88E-C73F9CCB467D}" srcOrd="0" destOrd="0" presId="urn:microsoft.com/office/officeart/2005/8/layout/hierarchy6"/>
    <dgm:cxn modelId="{96CC6263-7300-41D2-B924-4C00B6E27ADA}" srcId="{F1668E61-C986-4281-B126-E5A7552737F8}" destId="{D8FD237C-2A6F-4923-B1EF-F23333DF1D54}" srcOrd="0" destOrd="0" parTransId="{65CAD9FC-EE1B-45CB-A602-E7E226D82BBA}" sibTransId="{500175B2-A870-4EFD-A219-6F61CAB80DCF}"/>
    <dgm:cxn modelId="{C7B6586A-DF94-4A5B-B2B9-C282F2D925F4}" type="presOf" srcId="{F1668E61-C986-4281-B126-E5A7552737F8}" destId="{A77C5F4B-F6C8-422B-8BCE-5EBE10E861CC}" srcOrd="0" destOrd="0" presId="urn:microsoft.com/office/officeart/2005/8/layout/hierarchy6"/>
    <dgm:cxn modelId="{AF2BD179-527D-494D-9AA4-0C71850811C6}" type="presOf" srcId="{2ABE68FA-F013-4663-93E0-BF8CF434CFB5}" destId="{1BE59157-B1DF-4358-8EA1-D7016C9493F8}" srcOrd="0" destOrd="0" presId="urn:microsoft.com/office/officeart/2005/8/layout/hierarchy6"/>
    <dgm:cxn modelId="{0604E3BD-E388-44DF-B1D6-20EBBF1D54D7}" type="presOf" srcId="{740331EA-E21B-4A7B-A0E9-1631AAD44DF7}" destId="{7C5E741B-02E9-4EA3-A5A8-4E28D7F324D6}" srcOrd="0" destOrd="0" presId="urn:microsoft.com/office/officeart/2005/8/layout/hierarchy6"/>
    <dgm:cxn modelId="{C75145BE-773D-47E2-BF91-F62B5C7A1921}" srcId="{D8FD237C-2A6F-4923-B1EF-F23333DF1D54}" destId="{3067A95B-F290-4D3D-BFA6-EE6D0288B020}" srcOrd="1" destOrd="0" parTransId="{A7EE9982-4A8C-40DC-976A-88B30F0D20C1}" sibTransId="{2A9771E2-E777-4561-98A6-DE0FA4AE33EE}"/>
    <dgm:cxn modelId="{D08306D7-7CF4-42B5-B243-82A7766F3CF4}" type="presOf" srcId="{44358609-40A4-4B76-9B50-7874BBBAE9FC}" destId="{4FB766E8-4B42-444F-A436-AFE679FF2AB4}" srcOrd="0" destOrd="0" presId="urn:microsoft.com/office/officeart/2005/8/layout/hierarchy6"/>
    <dgm:cxn modelId="{8DD012F2-C078-47C8-B95D-72E1E1E8E498}" type="presOf" srcId="{27B0089F-62F6-4F3E-A6AD-A797FFDA6B45}" destId="{D335EC4D-9D03-47C7-B5CE-BD1DA173AFD8}" srcOrd="0" destOrd="0" presId="urn:microsoft.com/office/officeart/2005/8/layout/hierarchy6"/>
    <dgm:cxn modelId="{C34D10F6-0F7A-4F5D-A146-E61275AFCA20}" srcId="{D8FD237C-2A6F-4923-B1EF-F23333DF1D54}" destId="{715950DE-1FA8-4D4A-8690-898712143F98}" srcOrd="0" destOrd="0" parTransId="{44358609-40A4-4B76-9B50-7874BBBAE9FC}" sibTransId="{4B2CAF59-DB1F-4C4A-9BF1-4F27690AE400}"/>
    <dgm:cxn modelId="{93C588FE-EF7D-4479-9602-6359D8AF318C}" type="presOf" srcId="{715950DE-1FA8-4D4A-8690-898712143F98}" destId="{FDC8F457-A430-4C45-A551-414D71DD5151}" srcOrd="0" destOrd="0" presId="urn:microsoft.com/office/officeart/2005/8/layout/hierarchy6"/>
    <dgm:cxn modelId="{B9F5D580-BEB3-4116-835C-8E279B4ECB49}" type="presParOf" srcId="{A77C5F4B-F6C8-422B-8BCE-5EBE10E861CC}" destId="{26FBF6F2-1255-4AFD-A3BF-88DADDFA158D}" srcOrd="0" destOrd="0" presId="urn:microsoft.com/office/officeart/2005/8/layout/hierarchy6"/>
    <dgm:cxn modelId="{2961E09F-137E-4BE0-86AC-ADBC25DBCE72}" type="presParOf" srcId="{26FBF6F2-1255-4AFD-A3BF-88DADDFA158D}" destId="{99F0EA56-89F3-4F4C-A128-CE7DB2B76260}" srcOrd="0" destOrd="0" presId="urn:microsoft.com/office/officeart/2005/8/layout/hierarchy6"/>
    <dgm:cxn modelId="{034218B2-B443-4327-965F-764463CA8857}" type="presParOf" srcId="{99F0EA56-89F3-4F4C-A128-CE7DB2B76260}" destId="{808ADAB0-7489-4082-AC8B-B8EBB945B061}" srcOrd="0" destOrd="0" presId="urn:microsoft.com/office/officeart/2005/8/layout/hierarchy6"/>
    <dgm:cxn modelId="{31640259-2464-4B47-890A-CA484DC6D824}" type="presParOf" srcId="{808ADAB0-7489-4082-AC8B-B8EBB945B061}" destId="{09BF6F09-D98A-4CE8-A88E-C73F9CCB467D}" srcOrd="0" destOrd="0" presId="urn:microsoft.com/office/officeart/2005/8/layout/hierarchy6"/>
    <dgm:cxn modelId="{95AAF294-B0AF-43C5-8AAC-E157401E119D}" type="presParOf" srcId="{808ADAB0-7489-4082-AC8B-B8EBB945B061}" destId="{9FEE6431-B465-4598-AEC3-CF32B79C4994}" srcOrd="1" destOrd="0" presId="urn:microsoft.com/office/officeart/2005/8/layout/hierarchy6"/>
    <dgm:cxn modelId="{A3ED07C1-CDCE-4CE7-AE10-2E9844CB1697}" type="presParOf" srcId="{9FEE6431-B465-4598-AEC3-CF32B79C4994}" destId="{4FB766E8-4B42-444F-A436-AFE679FF2AB4}" srcOrd="0" destOrd="0" presId="urn:microsoft.com/office/officeart/2005/8/layout/hierarchy6"/>
    <dgm:cxn modelId="{3E5E0F62-3428-41C4-92DC-C029FA79637C}" type="presParOf" srcId="{9FEE6431-B465-4598-AEC3-CF32B79C4994}" destId="{7A44274E-399B-4CB8-8731-51F72492A7EB}" srcOrd="1" destOrd="0" presId="urn:microsoft.com/office/officeart/2005/8/layout/hierarchy6"/>
    <dgm:cxn modelId="{79EDF0D9-18A2-43E7-B95A-91AE79A09A89}" type="presParOf" srcId="{7A44274E-399B-4CB8-8731-51F72492A7EB}" destId="{FDC8F457-A430-4C45-A551-414D71DD5151}" srcOrd="0" destOrd="0" presId="urn:microsoft.com/office/officeart/2005/8/layout/hierarchy6"/>
    <dgm:cxn modelId="{CA89502D-37FA-43D2-B4DB-8F95EF053155}" type="presParOf" srcId="{7A44274E-399B-4CB8-8731-51F72492A7EB}" destId="{D2A968EF-C705-428D-A725-42D841B0BAF1}" srcOrd="1" destOrd="0" presId="urn:microsoft.com/office/officeart/2005/8/layout/hierarchy6"/>
    <dgm:cxn modelId="{98F679E2-7D1D-4619-ACA3-59FC5E486F62}" type="presParOf" srcId="{D2A968EF-C705-428D-A725-42D841B0BAF1}" destId="{7C5E741B-02E9-4EA3-A5A8-4E28D7F324D6}" srcOrd="0" destOrd="0" presId="urn:microsoft.com/office/officeart/2005/8/layout/hierarchy6"/>
    <dgm:cxn modelId="{D26C7CDC-87F5-49E6-AD65-880BF6E30DB5}" type="presParOf" srcId="{D2A968EF-C705-428D-A725-42D841B0BAF1}" destId="{D9FD7FCE-9ABE-4C34-8950-965D43C2D91D}" srcOrd="1" destOrd="0" presId="urn:microsoft.com/office/officeart/2005/8/layout/hierarchy6"/>
    <dgm:cxn modelId="{0BF464B4-0A76-4284-9EE2-23DE372A1121}" type="presParOf" srcId="{D9FD7FCE-9ABE-4C34-8950-965D43C2D91D}" destId="{3D6E174F-3ED4-4461-856C-D3A12B37B2AE}" srcOrd="0" destOrd="0" presId="urn:microsoft.com/office/officeart/2005/8/layout/hierarchy6"/>
    <dgm:cxn modelId="{B0A9EBDA-7BF4-48EE-9AA9-FEA1880CABBA}" type="presParOf" srcId="{D9FD7FCE-9ABE-4C34-8950-965D43C2D91D}" destId="{1865E6AA-0F4B-48F0-A703-DF81CAB62D9C}" srcOrd="1" destOrd="0" presId="urn:microsoft.com/office/officeart/2005/8/layout/hierarchy6"/>
    <dgm:cxn modelId="{AC285F8F-5E4A-49BD-B698-199FDA4F2AC1}" type="presParOf" srcId="{9FEE6431-B465-4598-AEC3-CF32B79C4994}" destId="{7EC6AB9A-0559-4B62-85E6-8F85FA05D127}" srcOrd="2" destOrd="0" presId="urn:microsoft.com/office/officeart/2005/8/layout/hierarchy6"/>
    <dgm:cxn modelId="{ACB84679-4235-4C56-87EF-A894CF326D42}" type="presParOf" srcId="{9FEE6431-B465-4598-AEC3-CF32B79C4994}" destId="{A77582C2-DCC0-43CA-9697-E3469CD03AFE}" srcOrd="3" destOrd="0" presId="urn:microsoft.com/office/officeart/2005/8/layout/hierarchy6"/>
    <dgm:cxn modelId="{330AB2E8-E5DD-404C-9AD0-0B18A31ED1ED}" type="presParOf" srcId="{A77582C2-DCC0-43CA-9697-E3469CD03AFE}" destId="{A9DFA89D-8431-4FB9-9791-9FEEA944629B}" srcOrd="0" destOrd="0" presId="urn:microsoft.com/office/officeart/2005/8/layout/hierarchy6"/>
    <dgm:cxn modelId="{17E65AA9-C8BC-41F3-A5AD-A6AFFB95D0CC}" type="presParOf" srcId="{A77582C2-DCC0-43CA-9697-E3469CD03AFE}" destId="{4EF93C77-67B1-47A5-AB60-8AFA5F593FA3}" srcOrd="1" destOrd="0" presId="urn:microsoft.com/office/officeart/2005/8/layout/hierarchy6"/>
    <dgm:cxn modelId="{12018242-E13D-46AB-A215-5171E0A2EAEF}" type="presParOf" srcId="{4EF93C77-67B1-47A5-AB60-8AFA5F593FA3}" destId="{1BE59157-B1DF-4358-8EA1-D7016C9493F8}" srcOrd="0" destOrd="0" presId="urn:microsoft.com/office/officeart/2005/8/layout/hierarchy6"/>
    <dgm:cxn modelId="{FECCDC78-4D55-4AA2-A9BB-0DEB186F6BCD}" type="presParOf" srcId="{4EF93C77-67B1-47A5-AB60-8AFA5F593FA3}" destId="{25389B4E-69E3-4A2A-96EA-AEC7C5010446}" srcOrd="1" destOrd="0" presId="urn:microsoft.com/office/officeart/2005/8/layout/hierarchy6"/>
    <dgm:cxn modelId="{FA43F7FF-B97B-4F76-A338-1256922875CE}" type="presParOf" srcId="{25389B4E-69E3-4A2A-96EA-AEC7C5010446}" destId="{D335EC4D-9D03-47C7-B5CE-BD1DA173AFD8}" srcOrd="0" destOrd="0" presId="urn:microsoft.com/office/officeart/2005/8/layout/hierarchy6"/>
    <dgm:cxn modelId="{41889ED9-448E-4C7A-8EB2-6F84F704832E}" type="presParOf" srcId="{25389B4E-69E3-4A2A-96EA-AEC7C5010446}" destId="{E321D863-EFD5-439C-99B7-792A15400C36}" srcOrd="1" destOrd="0" presId="urn:microsoft.com/office/officeart/2005/8/layout/hierarchy6"/>
    <dgm:cxn modelId="{7119A0B2-B329-4B01-9AE1-DD8F0D28B4F2}" type="presParOf" srcId="{A77C5F4B-F6C8-422B-8BCE-5EBE10E861CC}" destId="{37B47C8B-0FF4-4888-A8D4-C56799424F2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668E61-C986-4281-B126-E5A7552737F8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D8FD237C-2A6F-4923-B1EF-F23333DF1D54}">
      <dgm:prSet phldrT="[Texte]" custT="1"/>
      <dgm:spPr/>
      <dgm:t>
        <a:bodyPr/>
        <a:lstStyle/>
        <a:p>
          <a:r>
            <a:rPr lang="fr-FR" sz="2800" b="1" dirty="0">
              <a:latin typeface="ArialMT"/>
            </a:rPr>
            <a:t>Erreur de planning</a:t>
          </a:r>
        </a:p>
        <a:p>
          <a:r>
            <a:rPr lang="fr-FR" sz="2800" b="1" dirty="0">
              <a:latin typeface="ArialMT"/>
            </a:rPr>
            <a:t>(</a:t>
          </a:r>
          <a:r>
            <a:rPr lang="fr-FR" sz="2800" b="1" dirty="0" err="1">
              <a:latin typeface="ArialMT"/>
            </a:rPr>
            <a:t>Mistakes</a:t>
          </a:r>
          <a:r>
            <a:rPr lang="fr-FR" sz="2800" b="1" dirty="0">
              <a:latin typeface="ArialMT"/>
            </a:rPr>
            <a:t>)</a:t>
          </a:r>
        </a:p>
      </dgm:t>
    </dgm:pt>
    <dgm:pt modelId="{65CAD9FC-EE1B-45CB-A602-E7E226D82BBA}" type="parTrans" cxnId="{96CC6263-7300-41D2-B924-4C00B6E27ADA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500175B2-A870-4EFD-A219-6F61CAB80DCF}" type="sibTrans" cxnId="{96CC6263-7300-41D2-B924-4C00B6E27ADA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715950DE-1FA8-4D4A-8690-898712143F98}">
      <dgm:prSet phldrT="[Texte]" custT="1"/>
      <dgm:spPr/>
      <dgm:t>
        <a:bodyPr/>
        <a:lstStyle/>
        <a:p>
          <a:r>
            <a:rPr lang="fr-FR" sz="2800" dirty="0">
              <a:solidFill>
                <a:srgbClr val="FF0000"/>
              </a:solidFill>
              <a:latin typeface="ArialMT"/>
            </a:rPr>
            <a:t>Reglements/Procédures</a:t>
          </a:r>
          <a:endParaRPr lang="fr-FR" sz="2800" dirty="0">
            <a:latin typeface="ArialMT"/>
          </a:endParaRPr>
        </a:p>
      </dgm:t>
    </dgm:pt>
    <dgm:pt modelId="{44358609-40A4-4B76-9B50-7874BBBAE9FC}" type="parTrans" cxnId="{C34D10F6-0F7A-4F5D-A146-E61275AFCA20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4B2CAF59-DB1F-4C4A-9BF1-4F27690AE400}" type="sibTrans" cxnId="{C34D10F6-0F7A-4F5D-A146-E61275AFCA20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31B2573B-7B58-421C-B910-D6579232269B}">
      <dgm:prSet phldrT="[Texte]" custT="1"/>
      <dgm:spPr/>
      <dgm:t>
        <a:bodyPr/>
        <a:lstStyle/>
        <a:p>
          <a:pPr algn="l"/>
          <a:r>
            <a:rPr lang="fr-FR" sz="2400" dirty="0">
              <a:latin typeface="ArialMT"/>
            </a:rPr>
            <a:t>- </a:t>
          </a:r>
          <a:r>
            <a:rPr lang="fr-FR" sz="2000" dirty="0">
              <a:latin typeface="ArialMT"/>
            </a:rPr>
            <a:t>Mauvaise application d'une bonne procédure</a:t>
          </a:r>
        </a:p>
        <a:p>
          <a:pPr algn="l"/>
          <a:r>
            <a:rPr lang="fr-FR" sz="2000" dirty="0">
              <a:latin typeface="ArialMT"/>
            </a:rPr>
            <a:t>- Application d'une mauvaise procédure-</a:t>
          </a:r>
        </a:p>
      </dgm:t>
    </dgm:pt>
    <dgm:pt modelId="{740331EA-E21B-4A7B-A0E9-1631AAD44DF7}" type="parTrans" cxnId="{8C393608-8B01-4A65-93F9-86E9D19BEF66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95A6E1DD-C2F7-4EBF-B0F2-6D1556099965}" type="sibTrans" cxnId="{8C393608-8B01-4A65-93F9-86E9D19BEF66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3067A95B-F290-4D3D-BFA6-EE6D0288B020}">
      <dgm:prSet phldrT="[Texte]" custT="1"/>
      <dgm:spPr/>
      <dgm:t>
        <a:bodyPr/>
        <a:lstStyle/>
        <a:p>
          <a:r>
            <a:rPr lang="fr-FR" sz="2800" dirty="0">
              <a:solidFill>
                <a:srgbClr val="FF0000"/>
              </a:solidFill>
              <a:latin typeface="ArialMT"/>
            </a:rPr>
            <a:t>Connaissance</a:t>
          </a:r>
          <a:endParaRPr lang="fr-FR" sz="2800">
            <a:latin typeface="ArialMT"/>
          </a:endParaRPr>
        </a:p>
      </dgm:t>
    </dgm:pt>
    <dgm:pt modelId="{A7EE9982-4A8C-40DC-976A-88B30F0D20C1}" type="parTrans" cxnId="{C75145BE-773D-47E2-BF91-F62B5C7A1921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2A9771E2-E777-4561-98A6-DE0FA4AE33EE}" type="sibTrans" cxnId="{C75145BE-773D-47E2-BF91-F62B5C7A1921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27B0089F-62F6-4F3E-A6AD-A797FFDA6B45}">
      <dgm:prSet phldrT="[Texte]" custT="1"/>
      <dgm:spPr/>
      <dgm:t>
        <a:bodyPr/>
        <a:lstStyle/>
        <a:p>
          <a:pPr algn="l"/>
          <a:r>
            <a:rPr lang="fr-FR" sz="1800" dirty="0">
              <a:latin typeface="ArialMT"/>
            </a:rPr>
            <a:t>- </a:t>
          </a:r>
          <a:r>
            <a:rPr lang="fr-FR" sz="2000" dirty="0">
              <a:latin typeface="ArialMT"/>
            </a:rPr>
            <a:t>Biais de confirmation</a:t>
          </a:r>
        </a:p>
        <a:p>
          <a:pPr algn="l"/>
          <a:r>
            <a:rPr lang="fr-FR" sz="2000" dirty="0">
              <a:latin typeface="ArialMT"/>
            </a:rPr>
            <a:t>- perception sélective</a:t>
          </a:r>
        </a:p>
        <a:p>
          <a:pPr algn="l"/>
          <a:r>
            <a:rPr lang="fr-FR" sz="2000" dirty="0">
              <a:latin typeface="ArialMT"/>
            </a:rPr>
            <a:t>- Improvisation</a:t>
          </a:r>
        </a:p>
        <a:p>
          <a:pPr algn="l"/>
          <a:r>
            <a:rPr lang="fr-FR" sz="2000" dirty="0">
              <a:latin typeface="ArialMT"/>
            </a:rPr>
            <a:t>excès de confiance</a:t>
          </a:r>
        </a:p>
        <a:p>
          <a:pPr algn="l"/>
          <a:r>
            <a:rPr lang="fr-FR" sz="1800" dirty="0">
              <a:latin typeface="ArialMT"/>
            </a:rPr>
            <a:t>.........</a:t>
          </a:r>
        </a:p>
      </dgm:t>
    </dgm:pt>
    <dgm:pt modelId="{2ABE68FA-F013-4663-93E0-BF8CF434CFB5}" type="parTrans" cxnId="{210D2925-64D4-4F9D-9459-52230AA09CDD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C300000A-CE5D-43AC-85FD-CB72A3056E49}" type="sibTrans" cxnId="{210D2925-64D4-4F9D-9459-52230AA09CDD}">
      <dgm:prSet/>
      <dgm:spPr/>
      <dgm:t>
        <a:bodyPr/>
        <a:lstStyle/>
        <a:p>
          <a:endParaRPr lang="fr-FR">
            <a:latin typeface="ArialMT"/>
          </a:endParaRPr>
        </a:p>
      </dgm:t>
    </dgm:pt>
    <dgm:pt modelId="{A77C5F4B-F6C8-422B-8BCE-5EBE10E861CC}" type="pres">
      <dgm:prSet presAssocID="{F1668E61-C986-4281-B126-E5A7552737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6FBF6F2-1255-4AFD-A3BF-88DADDFA158D}" type="pres">
      <dgm:prSet presAssocID="{F1668E61-C986-4281-B126-E5A7552737F8}" presName="hierFlow" presStyleCnt="0"/>
      <dgm:spPr/>
    </dgm:pt>
    <dgm:pt modelId="{99F0EA56-89F3-4F4C-A128-CE7DB2B76260}" type="pres">
      <dgm:prSet presAssocID="{F1668E61-C986-4281-B126-E5A7552737F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08ADAB0-7489-4082-AC8B-B8EBB945B061}" type="pres">
      <dgm:prSet presAssocID="{D8FD237C-2A6F-4923-B1EF-F23333DF1D54}" presName="Name14" presStyleCnt="0"/>
      <dgm:spPr/>
    </dgm:pt>
    <dgm:pt modelId="{09BF6F09-D98A-4CE8-A88E-C73F9CCB467D}" type="pres">
      <dgm:prSet presAssocID="{D8FD237C-2A6F-4923-B1EF-F23333DF1D54}" presName="level1Shape" presStyleLbl="node0" presStyleIdx="0" presStyleCnt="1" custScaleX="299089" custScaleY="145396">
        <dgm:presLayoutVars>
          <dgm:chPref val="3"/>
        </dgm:presLayoutVars>
      </dgm:prSet>
      <dgm:spPr/>
    </dgm:pt>
    <dgm:pt modelId="{9FEE6431-B465-4598-AEC3-CF32B79C4994}" type="pres">
      <dgm:prSet presAssocID="{D8FD237C-2A6F-4923-B1EF-F23333DF1D54}" presName="hierChild2" presStyleCnt="0"/>
      <dgm:spPr/>
    </dgm:pt>
    <dgm:pt modelId="{4FB766E8-4B42-444F-A436-AFE679FF2AB4}" type="pres">
      <dgm:prSet presAssocID="{44358609-40A4-4B76-9B50-7874BBBAE9FC}" presName="Name19" presStyleLbl="parChTrans1D2" presStyleIdx="0" presStyleCnt="2"/>
      <dgm:spPr/>
    </dgm:pt>
    <dgm:pt modelId="{7A44274E-399B-4CB8-8731-51F72492A7EB}" type="pres">
      <dgm:prSet presAssocID="{715950DE-1FA8-4D4A-8690-898712143F98}" presName="Name21" presStyleCnt="0"/>
      <dgm:spPr/>
    </dgm:pt>
    <dgm:pt modelId="{FDC8F457-A430-4C45-A551-414D71DD5151}" type="pres">
      <dgm:prSet presAssocID="{715950DE-1FA8-4D4A-8690-898712143F98}" presName="level2Shape" presStyleLbl="node2" presStyleIdx="0" presStyleCnt="2" custScaleX="191707"/>
      <dgm:spPr/>
    </dgm:pt>
    <dgm:pt modelId="{D2A968EF-C705-428D-A725-42D841B0BAF1}" type="pres">
      <dgm:prSet presAssocID="{715950DE-1FA8-4D4A-8690-898712143F98}" presName="hierChild3" presStyleCnt="0"/>
      <dgm:spPr/>
    </dgm:pt>
    <dgm:pt modelId="{7C5E741B-02E9-4EA3-A5A8-4E28D7F324D6}" type="pres">
      <dgm:prSet presAssocID="{740331EA-E21B-4A7B-A0E9-1631AAD44DF7}" presName="Name19" presStyleLbl="parChTrans1D3" presStyleIdx="0" presStyleCnt="2"/>
      <dgm:spPr/>
    </dgm:pt>
    <dgm:pt modelId="{D9FD7FCE-9ABE-4C34-8950-965D43C2D91D}" type="pres">
      <dgm:prSet presAssocID="{31B2573B-7B58-421C-B910-D6579232269B}" presName="Name21" presStyleCnt="0"/>
      <dgm:spPr/>
    </dgm:pt>
    <dgm:pt modelId="{3D6E174F-3ED4-4461-856C-D3A12B37B2AE}" type="pres">
      <dgm:prSet presAssocID="{31B2573B-7B58-421C-B910-D6579232269B}" presName="level2Shape" presStyleLbl="node3" presStyleIdx="0" presStyleCnt="2" custScaleX="253394" custScaleY="229351" custLinFactNeighborX="-12809"/>
      <dgm:spPr/>
    </dgm:pt>
    <dgm:pt modelId="{1865E6AA-0F4B-48F0-A703-DF81CAB62D9C}" type="pres">
      <dgm:prSet presAssocID="{31B2573B-7B58-421C-B910-D6579232269B}" presName="hierChild3" presStyleCnt="0"/>
      <dgm:spPr/>
    </dgm:pt>
    <dgm:pt modelId="{7EC6AB9A-0559-4B62-85E6-8F85FA05D127}" type="pres">
      <dgm:prSet presAssocID="{A7EE9982-4A8C-40DC-976A-88B30F0D20C1}" presName="Name19" presStyleLbl="parChTrans1D2" presStyleIdx="1" presStyleCnt="2"/>
      <dgm:spPr/>
    </dgm:pt>
    <dgm:pt modelId="{A77582C2-DCC0-43CA-9697-E3469CD03AFE}" type="pres">
      <dgm:prSet presAssocID="{3067A95B-F290-4D3D-BFA6-EE6D0288B020}" presName="Name21" presStyleCnt="0"/>
      <dgm:spPr/>
    </dgm:pt>
    <dgm:pt modelId="{A9DFA89D-8431-4FB9-9791-9FEEA944629B}" type="pres">
      <dgm:prSet presAssocID="{3067A95B-F290-4D3D-BFA6-EE6D0288B020}" presName="level2Shape" presStyleLbl="node2" presStyleIdx="1" presStyleCnt="2" custScaleX="220914"/>
      <dgm:spPr/>
    </dgm:pt>
    <dgm:pt modelId="{4EF93C77-67B1-47A5-AB60-8AFA5F593FA3}" type="pres">
      <dgm:prSet presAssocID="{3067A95B-F290-4D3D-BFA6-EE6D0288B020}" presName="hierChild3" presStyleCnt="0"/>
      <dgm:spPr/>
    </dgm:pt>
    <dgm:pt modelId="{1BE59157-B1DF-4358-8EA1-D7016C9493F8}" type="pres">
      <dgm:prSet presAssocID="{2ABE68FA-F013-4663-93E0-BF8CF434CFB5}" presName="Name19" presStyleLbl="parChTrans1D3" presStyleIdx="1" presStyleCnt="2"/>
      <dgm:spPr/>
    </dgm:pt>
    <dgm:pt modelId="{25389B4E-69E3-4A2A-96EA-AEC7C5010446}" type="pres">
      <dgm:prSet presAssocID="{27B0089F-62F6-4F3E-A6AD-A797FFDA6B45}" presName="Name21" presStyleCnt="0"/>
      <dgm:spPr/>
    </dgm:pt>
    <dgm:pt modelId="{D335EC4D-9D03-47C7-B5CE-BD1DA173AFD8}" type="pres">
      <dgm:prSet presAssocID="{27B0089F-62F6-4F3E-A6AD-A797FFDA6B45}" presName="level2Shape" presStyleLbl="node3" presStyleIdx="1" presStyleCnt="2" custScaleX="232428" custScaleY="222280"/>
      <dgm:spPr/>
    </dgm:pt>
    <dgm:pt modelId="{E321D863-EFD5-439C-99B7-792A15400C36}" type="pres">
      <dgm:prSet presAssocID="{27B0089F-62F6-4F3E-A6AD-A797FFDA6B45}" presName="hierChild3" presStyleCnt="0"/>
      <dgm:spPr/>
    </dgm:pt>
    <dgm:pt modelId="{37B47C8B-0FF4-4888-A8D4-C56799424F25}" type="pres">
      <dgm:prSet presAssocID="{F1668E61-C986-4281-B126-E5A7552737F8}" presName="bgShapesFlow" presStyleCnt="0"/>
      <dgm:spPr/>
    </dgm:pt>
  </dgm:ptLst>
  <dgm:cxnLst>
    <dgm:cxn modelId="{8C393608-8B01-4A65-93F9-86E9D19BEF66}" srcId="{715950DE-1FA8-4D4A-8690-898712143F98}" destId="{31B2573B-7B58-421C-B910-D6579232269B}" srcOrd="0" destOrd="0" parTransId="{740331EA-E21B-4A7B-A0E9-1631AAD44DF7}" sibTransId="{95A6E1DD-C2F7-4EBF-B0F2-6D1556099965}"/>
    <dgm:cxn modelId="{CA1BF20B-61F9-4B92-80F1-505B1EA23C98}" type="presOf" srcId="{31B2573B-7B58-421C-B910-D6579232269B}" destId="{3D6E174F-3ED4-4461-856C-D3A12B37B2AE}" srcOrd="0" destOrd="0" presId="urn:microsoft.com/office/officeart/2005/8/layout/hierarchy6"/>
    <dgm:cxn modelId="{59A54623-9C39-4FCF-B9D3-E01C47DA7EB7}" type="presOf" srcId="{A7EE9982-4A8C-40DC-976A-88B30F0D20C1}" destId="{7EC6AB9A-0559-4B62-85E6-8F85FA05D127}" srcOrd="0" destOrd="0" presId="urn:microsoft.com/office/officeart/2005/8/layout/hierarchy6"/>
    <dgm:cxn modelId="{210D2925-64D4-4F9D-9459-52230AA09CDD}" srcId="{3067A95B-F290-4D3D-BFA6-EE6D0288B020}" destId="{27B0089F-62F6-4F3E-A6AD-A797FFDA6B45}" srcOrd="0" destOrd="0" parTransId="{2ABE68FA-F013-4663-93E0-BF8CF434CFB5}" sibTransId="{C300000A-CE5D-43AC-85FD-CB72A3056E49}"/>
    <dgm:cxn modelId="{350FAF27-84D9-4B58-BFBA-F38DD82DC6DB}" type="presOf" srcId="{3067A95B-F290-4D3D-BFA6-EE6D0288B020}" destId="{A9DFA89D-8431-4FB9-9791-9FEEA944629B}" srcOrd="0" destOrd="0" presId="urn:microsoft.com/office/officeart/2005/8/layout/hierarchy6"/>
    <dgm:cxn modelId="{65D85835-BF99-476C-AEAE-1993103B65B3}" type="presOf" srcId="{D8FD237C-2A6F-4923-B1EF-F23333DF1D54}" destId="{09BF6F09-D98A-4CE8-A88E-C73F9CCB467D}" srcOrd="0" destOrd="0" presId="urn:microsoft.com/office/officeart/2005/8/layout/hierarchy6"/>
    <dgm:cxn modelId="{96CC6263-7300-41D2-B924-4C00B6E27ADA}" srcId="{F1668E61-C986-4281-B126-E5A7552737F8}" destId="{D8FD237C-2A6F-4923-B1EF-F23333DF1D54}" srcOrd="0" destOrd="0" parTransId="{65CAD9FC-EE1B-45CB-A602-E7E226D82BBA}" sibTransId="{500175B2-A870-4EFD-A219-6F61CAB80DCF}"/>
    <dgm:cxn modelId="{C7B6586A-DF94-4A5B-B2B9-C282F2D925F4}" type="presOf" srcId="{F1668E61-C986-4281-B126-E5A7552737F8}" destId="{A77C5F4B-F6C8-422B-8BCE-5EBE10E861CC}" srcOrd="0" destOrd="0" presId="urn:microsoft.com/office/officeart/2005/8/layout/hierarchy6"/>
    <dgm:cxn modelId="{AF2BD179-527D-494D-9AA4-0C71850811C6}" type="presOf" srcId="{2ABE68FA-F013-4663-93E0-BF8CF434CFB5}" destId="{1BE59157-B1DF-4358-8EA1-D7016C9493F8}" srcOrd="0" destOrd="0" presId="urn:microsoft.com/office/officeart/2005/8/layout/hierarchy6"/>
    <dgm:cxn modelId="{0604E3BD-E388-44DF-B1D6-20EBBF1D54D7}" type="presOf" srcId="{740331EA-E21B-4A7B-A0E9-1631AAD44DF7}" destId="{7C5E741B-02E9-4EA3-A5A8-4E28D7F324D6}" srcOrd="0" destOrd="0" presId="urn:microsoft.com/office/officeart/2005/8/layout/hierarchy6"/>
    <dgm:cxn modelId="{C75145BE-773D-47E2-BF91-F62B5C7A1921}" srcId="{D8FD237C-2A6F-4923-B1EF-F23333DF1D54}" destId="{3067A95B-F290-4D3D-BFA6-EE6D0288B020}" srcOrd="1" destOrd="0" parTransId="{A7EE9982-4A8C-40DC-976A-88B30F0D20C1}" sibTransId="{2A9771E2-E777-4561-98A6-DE0FA4AE33EE}"/>
    <dgm:cxn modelId="{D08306D7-7CF4-42B5-B243-82A7766F3CF4}" type="presOf" srcId="{44358609-40A4-4B76-9B50-7874BBBAE9FC}" destId="{4FB766E8-4B42-444F-A436-AFE679FF2AB4}" srcOrd="0" destOrd="0" presId="urn:microsoft.com/office/officeart/2005/8/layout/hierarchy6"/>
    <dgm:cxn modelId="{8DD012F2-C078-47C8-B95D-72E1E1E8E498}" type="presOf" srcId="{27B0089F-62F6-4F3E-A6AD-A797FFDA6B45}" destId="{D335EC4D-9D03-47C7-B5CE-BD1DA173AFD8}" srcOrd="0" destOrd="0" presId="urn:microsoft.com/office/officeart/2005/8/layout/hierarchy6"/>
    <dgm:cxn modelId="{C34D10F6-0F7A-4F5D-A146-E61275AFCA20}" srcId="{D8FD237C-2A6F-4923-B1EF-F23333DF1D54}" destId="{715950DE-1FA8-4D4A-8690-898712143F98}" srcOrd="0" destOrd="0" parTransId="{44358609-40A4-4B76-9B50-7874BBBAE9FC}" sibTransId="{4B2CAF59-DB1F-4C4A-9BF1-4F27690AE400}"/>
    <dgm:cxn modelId="{93C588FE-EF7D-4479-9602-6359D8AF318C}" type="presOf" srcId="{715950DE-1FA8-4D4A-8690-898712143F98}" destId="{FDC8F457-A430-4C45-A551-414D71DD5151}" srcOrd="0" destOrd="0" presId="urn:microsoft.com/office/officeart/2005/8/layout/hierarchy6"/>
    <dgm:cxn modelId="{B9F5D580-BEB3-4116-835C-8E279B4ECB49}" type="presParOf" srcId="{A77C5F4B-F6C8-422B-8BCE-5EBE10E861CC}" destId="{26FBF6F2-1255-4AFD-A3BF-88DADDFA158D}" srcOrd="0" destOrd="0" presId="urn:microsoft.com/office/officeart/2005/8/layout/hierarchy6"/>
    <dgm:cxn modelId="{2961E09F-137E-4BE0-86AC-ADBC25DBCE72}" type="presParOf" srcId="{26FBF6F2-1255-4AFD-A3BF-88DADDFA158D}" destId="{99F0EA56-89F3-4F4C-A128-CE7DB2B76260}" srcOrd="0" destOrd="0" presId="urn:microsoft.com/office/officeart/2005/8/layout/hierarchy6"/>
    <dgm:cxn modelId="{034218B2-B443-4327-965F-764463CA8857}" type="presParOf" srcId="{99F0EA56-89F3-4F4C-A128-CE7DB2B76260}" destId="{808ADAB0-7489-4082-AC8B-B8EBB945B061}" srcOrd="0" destOrd="0" presId="urn:microsoft.com/office/officeart/2005/8/layout/hierarchy6"/>
    <dgm:cxn modelId="{31640259-2464-4B47-890A-CA484DC6D824}" type="presParOf" srcId="{808ADAB0-7489-4082-AC8B-B8EBB945B061}" destId="{09BF6F09-D98A-4CE8-A88E-C73F9CCB467D}" srcOrd="0" destOrd="0" presId="urn:microsoft.com/office/officeart/2005/8/layout/hierarchy6"/>
    <dgm:cxn modelId="{95AAF294-B0AF-43C5-8AAC-E157401E119D}" type="presParOf" srcId="{808ADAB0-7489-4082-AC8B-B8EBB945B061}" destId="{9FEE6431-B465-4598-AEC3-CF32B79C4994}" srcOrd="1" destOrd="0" presId="urn:microsoft.com/office/officeart/2005/8/layout/hierarchy6"/>
    <dgm:cxn modelId="{A3ED07C1-CDCE-4CE7-AE10-2E9844CB1697}" type="presParOf" srcId="{9FEE6431-B465-4598-AEC3-CF32B79C4994}" destId="{4FB766E8-4B42-444F-A436-AFE679FF2AB4}" srcOrd="0" destOrd="0" presId="urn:microsoft.com/office/officeart/2005/8/layout/hierarchy6"/>
    <dgm:cxn modelId="{3E5E0F62-3428-41C4-92DC-C029FA79637C}" type="presParOf" srcId="{9FEE6431-B465-4598-AEC3-CF32B79C4994}" destId="{7A44274E-399B-4CB8-8731-51F72492A7EB}" srcOrd="1" destOrd="0" presId="urn:microsoft.com/office/officeart/2005/8/layout/hierarchy6"/>
    <dgm:cxn modelId="{79EDF0D9-18A2-43E7-B95A-91AE79A09A89}" type="presParOf" srcId="{7A44274E-399B-4CB8-8731-51F72492A7EB}" destId="{FDC8F457-A430-4C45-A551-414D71DD5151}" srcOrd="0" destOrd="0" presId="urn:microsoft.com/office/officeart/2005/8/layout/hierarchy6"/>
    <dgm:cxn modelId="{CA89502D-37FA-43D2-B4DB-8F95EF053155}" type="presParOf" srcId="{7A44274E-399B-4CB8-8731-51F72492A7EB}" destId="{D2A968EF-C705-428D-A725-42D841B0BAF1}" srcOrd="1" destOrd="0" presId="urn:microsoft.com/office/officeart/2005/8/layout/hierarchy6"/>
    <dgm:cxn modelId="{98F679E2-7D1D-4619-ACA3-59FC5E486F62}" type="presParOf" srcId="{D2A968EF-C705-428D-A725-42D841B0BAF1}" destId="{7C5E741B-02E9-4EA3-A5A8-4E28D7F324D6}" srcOrd="0" destOrd="0" presId="urn:microsoft.com/office/officeart/2005/8/layout/hierarchy6"/>
    <dgm:cxn modelId="{D26C7CDC-87F5-49E6-AD65-880BF6E30DB5}" type="presParOf" srcId="{D2A968EF-C705-428D-A725-42D841B0BAF1}" destId="{D9FD7FCE-9ABE-4C34-8950-965D43C2D91D}" srcOrd="1" destOrd="0" presId="urn:microsoft.com/office/officeart/2005/8/layout/hierarchy6"/>
    <dgm:cxn modelId="{0BF464B4-0A76-4284-9EE2-23DE372A1121}" type="presParOf" srcId="{D9FD7FCE-9ABE-4C34-8950-965D43C2D91D}" destId="{3D6E174F-3ED4-4461-856C-D3A12B37B2AE}" srcOrd="0" destOrd="0" presId="urn:microsoft.com/office/officeart/2005/8/layout/hierarchy6"/>
    <dgm:cxn modelId="{B0A9EBDA-7BF4-48EE-9AA9-FEA1880CABBA}" type="presParOf" srcId="{D9FD7FCE-9ABE-4C34-8950-965D43C2D91D}" destId="{1865E6AA-0F4B-48F0-A703-DF81CAB62D9C}" srcOrd="1" destOrd="0" presId="urn:microsoft.com/office/officeart/2005/8/layout/hierarchy6"/>
    <dgm:cxn modelId="{AC285F8F-5E4A-49BD-B698-199FDA4F2AC1}" type="presParOf" srcId="{9FEE6431-B465-4598-AEC3-CF32B79C4994}" destId="{7EC6AB9A-0559-4B62-85E6-8F85FA05D127}" srcOrd="2" destOrd="0" presId="urn:microsoft.com/office/officeart/2005/8/layout/hierarchy6"/>
    <dgm:cxn modelId="{ACB84679-4235-4C56-87EF-A894CF326D42}" type="presParOf" srcId="{9FEE6431-B465-4598-AEC3-CF32B79C4994}" destId="{A77582C2-DCC0-43CA-9697-E3469CD03AFE}" srcOrd="3" destOrd="0" presId="urn:microsoft.com/office/officeart/2005/8/layout/hierarchy6"/>
    <dgm:cxn modelId="{330AB2E8-E5DD-404C-9AD0-0B18A31ED1ED}" type="presParOf" srcId="{A77582C2-DCC0-43CA-9697-E3469CD03AFE}" destId="{A9DFA89D-8431-4FB9-9791-9FEEA944629B}" srcOrd="0" destOrd="0" presId="urn:microsoft.com/office/officeart/2005/8/layout/hierarchy6"/>
    <dgm:cxn modelId="{17E65AA9-C8BC-41F3-A5AD-A6AFFB95D0CC}" type="presParOf" srcId="{A77582C2-DCC0-43CA-9697-E3469CD03AFE}" destId="{4EF93C77-67B1-47A5-AB60-8AFA5F593FA3}" srcOrd="1" destOrd="0" presId="urn:microsoft.com/office/officeart/2005/8/layout/hierarchy6"/>
    <dgm:cxn modelId="{12018242-E13D-46AB-A215-5171E0A2EAEF}" type="presParOf" srcId="{4EF93C77-67B1-47A5-AB60-8AFA5F593FA3}" destId="{1BE59157-B1DF-4358-8EA1-D7016C9493F8}" srcOrd="0" destOrd="0" presId="urn:microsoft.com/office/officeart/2005/8/layout/hierarchy6"/>
    <dgm:cxn modelId="{FECCDC78-4D55-4AA2-A9BB-0DEB186F6BCD}" type="presParOf" srcId="{4EF93C77-67B1-47A5-AB60-8AFA5F593FA3}" destId="{25389B4E-69E3-4A2A-96EA-AEC7C5010446}" srcOrd="1" destOrd="0" presId="urn:microsoft.com/office/officeart/2005/8/layout/hierarchy6"/>
    <dgm:cxn modelId="{FA43F7FF-B97B-4F76-A338-1256922875CE}" type="presParOf" srcId="{25389B4E-69E3-4A2A-96EA-AEC7C5010446}" destId="{D335EC4D-9D03-47C7-B5CE-BD1DA173AFD8}" srcOrd="0" destOrd="0" presId="urn:microsoft.com/office/officeart/2005/8/layout/hierarchy6"/>
    <dgm:cxn modelId="{41889ED9-448E-4C7A-8EB2-6F84F704832E}" type="presParOf" srcId="{25389B4E-69E3-4A2A-96EA-AEC7C5010446}" destId="{E321D863-EFD5-439C-99B7-792A15400C36}" srcOrd="1" destOrd="0" presId="urn:microsoft.com/office/officeart/2005/8/layout/hierarchy6"/>
    <dgm:cxn modelId="{7119A0B2-B329-4B01-9AE1-DD8F0D28B4F2}" type="presParOf" srcId="{A77C5F4B-F6C8-422B-8BCE-5EBE10E861CC}" destId="{37B47C8B-0FF4-4888-A8D4-C56799424F2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F6785B-65CE-4D92-A468-FC913F4E225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44040D7-C571-483C-81DF-91B8A6805273}">
      <dgm:prSet phldrT="[Texte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Danger</a:t>
          </a:r>
        </a:p>
      </dgm:t>
    </dgm:pt>
    <dgm:pt modelId="{8F3A4A61-C03E-4E4B-A0E0-A5739F7ED16F}" type="parTrans" cxnId="{7C6B413D-911F-495B-8F5D-4B44ECB4C8B2}">
      <dgm:prSet/>
      <dgm:spPr/>
      <dgm:t>
        <a:bodyPr/>
        <a:lstStyle/>
        <a:p>
          <a:endParaRPr lang="fr-FR"/>
        </a:p>
      </dgm:t>
    </dgm:pt>
    <dgm:pt modelId="{6720A1C4-EE9D-4223-B91E-57BC3686C4DE}" type="sibTrans" cxnId="{7C6B413D-911F-495B-8F5D-4B44ECB4C8B2}">
      <dgm:prSet/>
      <dgm:spPr/>
      <dgm:t>
        <a:bodyPr/>
        <a:lstStyle/>
        <a:p>
          <a:endParaRPr lang="fr-FR"/>
        </a:p>
      </dgm:t>
    </dgm:pt>
    <dgm:pt modelId="{4FB19352-B7A3-4D7E-9FF9-54362F2E747E}">
      <dgm:prSet phldrT="[Texte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dirty="0"/>
            <a:t>Evénement redouté</a:t>
          </a:r>
        </a:p>
      </dgm:t>
    </dgm:pt>
    <dgm:pt modelId="{7C24313E-A8DC-451B-B3AC-6EC706F713A6}" type="parTrans" cxnId="{527BDB5E-0254-49DC-97FD-34110E9ACCFB}">
      <dgm:prSet/>
      <dgm:spPr/>
      <dgm:t>
        <a:bodyPr/>
        <a:lstStyle/>
        <a:p>
          <a:endParaRPr lang="fr-FR"/>
        </a:p>
      </dgm:t>
    </dgm:pt>
    <dgm:pt modelId="{1B037CE3-D16B-4D21-996B-E528EAF65DD3}" type="sibTrans" cxnId="{527BDB5E-0254-49DC-97FD-34110E9ACCFB}">
      <dgm:prSet/>
      <dgm:spPr/>
      <dgm:t>
        <a:bodyPr/>
        <a:lstStyle/>
        <a:p>
          <a:endParaRPr lang="fr-FR"/>
        </a:p>
      </dgm:t>
    </dgm:pt>
    <dgm:pt modelId="{8D8FB757-F77B-4436-848E-D4B39D999B30}">
      <dgm:prSet phldrT="[Texte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FR" dirty="0"/>
            <a:t>Conséquence ultime</a:t>
          </a:r>
        </a:p>
      </dgm:t>
    </dgm:pt>
    <dgm:pt modelId="{0665870F-8721-4601-8C31-B7CCA781964A}" type="parTrans" cxnId="{9D7E58C1-E652-409B-879E-BAB8B4CCA257}">
      <dgm:prSet/>
      <dgm:spPr/>
      <dgm:t>
        <a:bodyPr/>
        <a:lstStyle/>
        <a:p>
          <a:endParaRPr lang="fr-FR"/>
        </a:p>
      </dgm:t>
    </dgm:pt>
    <dgm:pt modelId="{79A66E05-EC63-4E1B-94CE-D0E8852D5E92}" type="sibTrans" cxnId="{9D7E58C1-E652-409B-879E-BAB8B4CCA257}">
      <dgm:prSet/>
      <dgm:spPr/>
      <dgm:t>
        <a:bodyPr/>
        <a:lstStyle/>
        <a:p>
          <a:endParaRPr lang="fr-FR"/>
        </a:p>
      </dgm:t>
    </dgm:pt>
    <dgm:pt modelId="{A5028373-7969-48EE-8A01-07CD686C8280}" type="pres">
      <dgm:prSet presAssocID="{5AF6785B-65CE-4D92-A468-FC913F4E2259}" presName="Name0" presStyleCnt="0">
        <dgm:presLayoutVars>
          <dgm:dir/>
          <dgm:resizeHandles val="exact"/>
        </dgm:presLayoutVars>
      </dgm:prSet>
      <dgm:spPr/>
    </dgm:pt>
    <dgm:pt modelId="{84DBCDEA-E48C-4194-AAC7-7543E7A1A43D}" type="pres">
      <dgm:prSet presAssocID="{D44040D7-C571-483C-81DF-91B8A6805273}" presName="node" presStyleLbl="node1" presStyleIdx="0" presStyleCnt="3">
        <dgm:presLayoutVars>
          <dgm:bulletEnabled val="1"/>
        </dgm:presLayoutVars>
      </dgm:prSet>
      <dgm:spPr/>
    </dgm:pt>
    <dgm:pt modelId="{D65924E9-6F67-41A3-9A5B-51FAD4659B11}" type="pres">
      <dgm:prSet presAssocID="{6720A1C4-EE9D-4223-B91E-57BC3686C4DE}" presName="sibTrans" presStyleLbl="sibTrans2D1" presStyleIdx="0" presStyleCnt="2"/>
      <dgm:spPr/>
    </dgm:pt>
    <dgm:pt modelId="{893B0F13-7A6D-46B8-BDF1-31A2990A59AD}" type="pres">
      <dgm:prSet presAssocID="{6720A1C4-EE9D-4223-B91E-57BC3686C4DE}" presName="connectorText" presStyleLbl="sibTrans2D1" presStyleIdx="0" presStyleCnt="2"/>
      <dgm:spPr/>
    </dgm:pt>
    <dgm:pt modelId="{DF77DFB7-84E0-42A7-996A-9861FF4144F1}" type="pres">
      <dgm:prSet presAssocID="{4FB19352-B7A3-4D7E-9FF9-54362F2E747E}" presName="node" presStyleLbl="node1" presStyleIdx="1" presStyleCnt="3">
        <dgm:presLayoutVars>
          <dgm:bulletEnabled val="1"/>
        </dgm:presLayoutVars>
      </dgm:prSet>
      <dgm:spPr/>
    </dgm:pt>
    <dgm:pt modelId="{A19F8E4D-A6BB-450B-A573-475315499C8D}" type="pres">
      <dgm:prSet presAssocID="{1B037CE3-D16B-4D21-996B-E528EAF65DD3}" presName="sibTrans" presStyleLbl="sibTrans2D1" presStyleIdx="1" presStyleCnt="2"/>
      <dgm:spPr/>
    </dgm:pt>
    <dgm:pt modelId="{5853B3E7-2B8F-4144-A535-AC6620DA03FA}" type="pres">
      <dgm:prSet presAssocID="{1B037CE3-D16B-4D21-996B-E528EAF65DD3}" presName="connectorText" presStyleLbl="sibTrans2D1" presStyleIdx="1" presStyleCnt="2"/>
      <dgm:spPr/>
    </dgm:pt>
    <dgm:pt modelId="{3FAB1E2A-A497-4755-8823-48F841C8B1A4}" type="pres">
      <dgm:prSet presAssocID="{8D8FB757-F77B-4436-848E-D4B39D999B30}" presName="node" presStyleLbl="node1" presStyleIdx="2" presStyleCnt="3">
        <dgm:presLayoutVars>
          <dgm:bulletEnabled val="1"/>
        </dgm:presLayoutVars>
      </dgm:prSet>
      <dgm:spPr/>
    </dgm:pt>
  </dgm:ptLst>
  <dgm:cxnLst>
    <dgm:cxn modelId="{137E7305-5486-4A7E-80E6-E370BF3C64C5}" type="presOf" srcId="{5AF6785B-65CE-4D92-A468-FC913F4E2259}" destId="{A5028373-7969-48EE-8A01-07CD686C8280}" srcOrd="0" destOrd="0" presId="urn:microsoft.com/office/officeart/2005/8/layout/process1"/>
    <dgm:cxn modelId="{7C6B413D-911F-495B-8F5D-4B44ECB4C8B2}" srcId="{5AF6785B-65CE-4D92-A468-FC913F4E2259}" destId="{D44040D7-C571-483C-81DF-91B8A6805273}" srcOrd="0" destOrd="0" parTransId="{8F3A4A61-C03E-4E4B-A0E0-A5739F7ED16F}" sibTransId="{6720A1C4-EE9D-4223-B91E-57BC3686C4DE}"/>
    <dgm:cxn modelId="{527BDB5E-0254-49DC-97FD-34110E9ACCFB}" srcId="{5AF6785B-65CE-4D92-A468-FC913F4E2259}" destId="{4FB19352-B7A3-4D7E-9FF9-54362F2E747E}" srcOrd="1" destOrd="0" parTransId="{7C24313E-A8DC-451B-B3AC-6EC706F713A6}" sibTransId="{1B037CE3-D16B-4D21-996B-E528EAF65DD3}"/>
    <dgm:cxn modelId="{6483FA4B-41C0-4B79-9858-B8EB3CB1FA8B}" type="presOf" srcId="{1B037CE3-D16B-4D21-996B-E528EAF65DD3}" destId="{5853B3E7-2B8F-4144-A535-AC6620DA03FA}" srcOrd="1" destOrd="0" presId="urn:microsoft.com/office/officeart/2005/8/layout/process1"/>
    <dgm:cxn modelId="{B857EE4E-0018-4233-A613-88089B96E81D}" type="presOf" srcId="{6720A1C4-EE9D-4223-B91E-57BC3686C4DE}" destId="{D65924E9-6F67-41A3-9A5B-51FAD4659B11}" srcOrd="0" destOrd="0" presId="urn:microsoft.com/office/officeart/2005/8/layout/process1"/>
    <dgm:cxn modelId="{0D7BDD75-C09F-49BB-9D51-7016BE0DAA9C}" type="presOf" srcId="{1B037CE3-D16B-4D21-996B-E528EAF65DD3}" destId="{A19F8E4D-A6BB-450B-A573-475315499C8D}" srcOrd="0" destOrd="0" presId="urn:microsoft.com/office/officeart/2005/8/layout/process1"/>
    <dgm:cxn modelId="{D375AF9A-6FCA-470D-93D2-A91C0CF180BB}" type="presOf" srcId="{8D8FB757-F77B-4436-848E-D4B39D999B30}" destId="{3FAB1E2A-A497-4755-8823-48F841C8B1A4}" srcOrd="0" destOrd="0" presId="urn:microsoft.com/office/officeart/2005/8/layout/process1"/>
    <dgm:cxn modelId="{D7F27AB9-6FE0-46F4-A57F-3AE3BF012E28}" type="presOf" srcId="{4FB19352-B7A3-4D7E-9FF9-54362F2E747E}" destId="{DF77DFB7-84E0-42A7-996A-9861FF4144F1}" srcOrd="0" destOrd="0" presId="urn:microsoft.com/office/officeart/2005/8/layout/process1"/>
    <dgm:cxn modelId="{216739BB-7620-4E6D-A930-5814EEC00180}" type="presOf" srcId="{6720A1C4-EE9D-4223-B91E-57BC3686C4DE}" destId="{893B0F13-7A6D-46B8-BDF1-31A2990A59AD}" srcOrd="1" destOrd="0" presId="urn:microsoft.com/office/officeart/2005/8/layout/process1"/>
    <dgm:cxn modelId="{9D7E58C1-E652-409B-879E-BAB8B4CCA257}" srcId="{5AF6785B-65CE-4D92-A468-FC913F4E2259}" destId="{8D8FB757-F77B-4436-848E-D4B39D999B30}" srcOrd="2" destOrd="0" parTransId="{0665870F-8721-4601-8C31-B7CCA781964A}" sibTransId="{79A66E05-EC63-4E1B-94CE-D0E8852D5E92}"/>
    <dgm:cxn modelId="{FB6A58DE-9DE4-4250-AD89-0173F1F58D14}" type="presOf" srcId="{D44040D7-C571-483C-81DF-91B8A6805273}" destId="{84DBCDEA-E48C-4194-AAC7-7543E7A1A43D}" srcOrd="0" destOrd="0" presId="urn:microsoft.com/office/officeart/2005/8/layout/process1"/>
    <dgm:cxn modelId="{2F7B27F2-C191-40E8-991F-777AC521A812}" type="presParOf" srcId="{A5028373-7969-48EE-8A01-07CD686C8280}" destId="{84DBCDEA-E48C-4194-AAC7-7543E7A1A43D}" srcOrd="0" destOrd="0" presId="urn:microsoft.com/office/officeart/2005/8/layout/process1"/>
    <dgm:cxn modelId="{CF0BEC88-75AC-40F2-93AD-48ED7D246BAB}" type="presParOf" srcId="{A5028373-7969-48EE-8A01-07CD686C8280}" destId="{D65924E9-6F67-41A3-9A5B-51FAD4659B11}" srcOrd="1" destOrd="0" presId="urn:microsoft.com/office/officeart/2005/8/layout/process1"/>
    <dgm:cxn modelId="{14172DAC-FBAE-4C71-8471-B0A60139344F}" type="presParOf" srcId="{D65924E9-6F67-41A3-9A5B-51FAD4659B11}" destId="{893B0F13-7A6D-46B8-BDF1-31A2990A59AD}" srcOrd="0" destOrd="0" presId="urn:microsoft.com/office/officeart/2005/8/layout/process1"/>
    <dgm:cxn modelId="{800C70A3-C69D-4573-9AAC-91F568815310}" type="presParOf" srcId="{A5028373-7969-48EE-8A01-07CD686C8280}" destId="{DF77DFB7-84E0-42A7-996A-9861FF4144F1}" srcOrd="2" destOrd="0" presId="urn:microsoft.com/office/officeart/2005/8/layout/process1"/>
    <dgm:cxn modelId="{BDC1F80D-9240-4A8F-8CF0-3FB9A3922195}" type="presParOf" srcId="{A5028373-7969-48EE-8A01-07CD686C8280}" destId="{A19F8E4D-A6BB-450B-A573-475315499C8D}" srcOrd="3" destOrd="0" presId="urn:microsoft.com/office/officeart/2005/8/layout/process1"/>
    <dgm:cxn modelId="{858375F5-D0C8-4E56-979F-63E509850590}" type="presParOf" srcId="{A19F8E4D-A6BB-450B-A573-475315499C8D}" destId="{5853B3E7-2B8F-4144-A535-AC6620DA03FA}" srcOrd="0" destOrd="0" presId="urn:microsoft.com/office/officeart/2005/8/layout/process1"/>
    <dgm:cxn modelId="{83DB05C8-FF49-4B01-B90F-E7100B96E1C2}" type="presParOf" srcId="{A5028373-7969-48EE-8A01-07CD686C8280}" destId="{3FAB1E2A-A497-4755-8823-48F841C8B1A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D6B084-894C-4DE0-B647-DBB7D2172AC1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D9EE0537-94CD-43FB-AD2F-B05DB60B9503}">
      <dgm:prSet phldrT="[Texte]"/>
      <dgm:spPr/>
      <dgm:t>
        <a:bodyPr/>
        <a:lstStyle/>
        <a:p>
          <a:r>
            <a:rPr lang="fr-FR" u="sng" dirty="0"/>
            <a:t>Culture de sécurité</a:t>
          </a:r>
        </a:p>
      </dgm:t>
    </dgm:pt>
    <dgm:pt modelId="{3A626CD0-FC11-402A-A357-7296E2A8421F}" type="parTrans" cxnId="{54E64C42-F7A4-49CC-A971-BD7C29C87854}">
      <dgm:prSet/>
      <dgm:spPr/>
      <dgm:t>
        <a:bodyPr/>
        <a:lstStyle/>
        <a:p>
          <a:endParaRPr lang="fr-FR"/>
        </a:p>
      </dgm:t>
    </dgm:pt>
    <dgm:pt modelId="{D5F3B7D3-D679-4636-BA9A-97F2DD1EF9E2}" type="sibTrans" cxnId="{54E64C42-F7A4-49CC-A971-BD7C29C87854}">
      <dgm:prSet/>
      <dgm:spPr/>
      <dgm:t>
        <a:bodyPr/>
        <a:lstStyle/>
        <a:p>
          <a:endParaRPr lang="fr-FR"/>
        </a:p>
      </dgm:t>
    </dgm:pt>
    <dgm:pt modelId="{8476D982-45B5-47C7-972B-CF4206FB88DD}">
      <dgm:prSet phldrT="[Texte]" custT="1"/>
      <dgm:spPr/>
      <dgm:t>
        <a:bodyPr/>
        <a:lstStyle/>
        <a:p>
          <a:r>
            <a:rPr lang="fr-FR" sz="2000" dirty="0"/>
            <a:t>Croyance relative à la sécurité</a:t>
          </a:r>
        </a:p>
      </dgm:t>
    </dgm:pt>
    <dgm:pt modelId="{7EE4B22B-16B7-45D3-9D8B-C256790E09FC}" type="parTrans" cxnId="{1514FD98-C6A3-4A5E-A5C3-454692E698AC}">
      <dgm:prSet/>
      <dgm:spPr/>
      <dgm:t>
        <a:bodyPr/>
        <a:lstStyle/>
        <a:p>
          <a:endParaRPr lang="fr-FR"/>
        </a:p>
      </dgm:t>
    </dgm:pt>
    <dgm:pt modelId="{34D07FB3-F008-486B-9788-EDD114C2A345}" type="sibTrans" cxnId="{1514FD98-C6A3-4A5E-A5C3-454692E698AC}">
      <dgm:prSet/>
      <dgm:spPr/>
      <dgm:t>
        <a:bodyPr/>
        <a:lstStyle/>
        <a:p>
          <a:endParaRPr lang="fr-FR"/>
        </a:p>
      </dgm:t>
    </dgm:pt>
    <dgm:pt modelId="{AA3618EC-22FE-46CC-B268-DE7C7A033A24}">
      <dgm:prSet phldrT="[Texte]" custT="1"/>
      <dgm:spPr/>
      <dgm:t>
        <a:bodyPr/>
        <a:lstStyle/>
        <a:p>
          <a:r>
            <a:rPr lang="fr-FR" sz="2000" dirty="0"/>
            <a:t>Les biais</a:t>
          </a:r>
        </a:p>
      </dgm:t>
    </dgm:pt>
    <dgm:pt modelId="{AF380808-A835-48F5-8948-9766A0D1FC44}" type="parTrans" cxnId="{4E386B41-BC4B-4AA8-9229-E1ACCB4363BA}">
      <dgm:prSet/>
      <dgm:spPr/>
      <dgm:t>
        <a:bodyPr/>
        <a:lstStyle/>
        <a:p>
          <a:endParaRPr lang="fr-FR"/>
        </a:p>
      </dgm:t>
    </dgm:pt>
    <dgm:pt modelId="{70942E30-1748-47BF-9F87-61916163AE64}" type="sibTrans" cxnId="{4E386B41-BC4B-4AA8-9229-E1ACCB4363BA}">
      <dgm:prSet/>
      <dgm:spPr/>
      <dgm:t>
        <a:bodyPr/>
        <a:lstStyle/>
        <a:p>
          <a:endParaRPr lang="fr-FR"/>
        </a:p>
      </dgm:t>
    </dgm:pt>
    <dgm:pt modelId="{C3554CBE-ED44-4FBC-89EC-3A7701C1284D}">
      <dgm:prSet phldrT="[Texte]" custT="1"/>
      <dgm:spPr/>
      <dgm:t>
        <a:bodyPr/>
        <a:lstStyle/>
        <a:p>
          <a:r>
            <a:rPr lang="fr-FR" sz="2000" dirty="0"/>
            <a:t>Les comportements</a:t>
          </a:r>
        </a:p>
      </dgm:t>
    </dgm:pt>
    <dgm:pt modelId="{ADEBEFB7-810E-4DA6-9303-35357062C187}" type="parTrans" cxnId="{F58C59B9-8024-49CC-B4E0-E8E159F97702}">
      <dgm:prSet/>
      <dgm:spPr/>
      <dgm:t>
        <a:bodyPr/>
        <a:lstStyle/>
        <a:p>
          <a:endParaRPr lang="fr-FR"/>
        </a:p>
      </dgm:t>
    </dgm:pt>
    <dgm:pt modelId="{8D3D5AFC-C2A5-442D-A6A0-6946A79990FE}" type="sibTrans" cxnId="{F58C59B9-8024-49CC-B4E0-E8E159F97702}">
      <dgm:prSet/>
      <dgm:spPr/>
      <dgm:t>
        <a:bodyPr/>
        <a:lstStyle/>
        <a:p>
          <a:endParaRPr lang="fr-FR"/>
        </a:p>
      </dgm:t>
    </dgm:pt>
    <dgm:pt modelId="{55E9EE59-751C-494A-9619-DBFD7BC21812}">
      <dgm:prSet phldrT="[Texte]" custT="1"/>
      <dgm:spPr/>
      <dgm:t>
        <a:bodyPr/>
        <a:lstStyle/>
        <a:p>
          <a:r>
            <a:rPr lang="fr-FR" sz="2000" dirty="0"/>
            <a:t>Les valeurs partagées</a:t>
          </a:r>
        </a:p>
      </dgm:t>
    </dgm:pt>
    <dgm:pt modelId="{0A1BEEF4-AAD0-4D8D-81D3-5CD3F53F0E1E}" type="parTrans" cxnId="{0F240588-CDB7-4A5C-92D6-ABD972D0A56A}">
      <dgm:prSet/>
      <dgm:spPr/>
      <dgm:t>
        <a:bodyPr/>
        <a:lstStyle/>
        <a:p>
          <a:endParaRPr lang="fr-FR"/>
        </a:p>
      </dgm:t>
    </dgm:pt>
    <dgm:pt modelId="{D7351614-8800-40B5-BAAE-E2B8FDDA4D0A}" type="sibTrans" cxnId="{0F240588-CDB7-4A5C-92D6-ABD972D0A56A}">
      <dgm:prSet/>
      <dgm:spPr/>
      <dgm:t>
        <a:bodyPr/>
        <a:lstStyle/>
        <a:p>
          <a:endParaRPr lang="fr-FR"/>
        </a:p>
      </dgm:t>
    </dgm:pt>
    <dgm:pt modelId="{A004583C-AE9E-4D6B-A697-E90562079756}" type="pres">
      <dgm:prSet presAssocID="{7ED6B084-894C-4DE0-B647-DBB7D2172AC1}" presName="compositeShape" presStyleCnt="0">
        <dgm:presLayoutVars>
          <dgm:chMax val="7"/>
          <dgm:dir/>
          <dgm:resizeHandles val="exact"/>
        </dgm:presLayoutVars>
      </dgm:prSet>
      <dgm:spPr/>
    </dgm:pt>
    <dgm:pt modelId="{5986FED2-9B49-47A0-A9A4-73DFDECAB57A}" type="pres">
      <dgm:prSet presAssocID="{D9EE0537-94CD-43FB-AD2F-B05DB60B9503}" presName="circ1TxSh" presStyleLbl="vennNode1" presStyleIdx="0" presStyleCnt="1" custScaleX="144326" custLinFactNeighborX="985" custLinFactNeighborY="-262"/>
      <dgm:spPr/>
    </dgm:pt>
  </dgm:ptLst>
  <dgm:cxnLst>
    <dgm:cxn modelId="{E4F8CC18-26A9-4126-99FC-57968DB6D7ED}" type="presOf" srcId="{8476D982-45B5-47C7-972B-CF4206FB88DD}" destId="{5986FED2-9B49-47A0-A9A4-73DFDECAB57A}" srcOrd="0" destOrd="1" presId="urn:microsoft.com/office/officeart/2005/8/layout/venn1"/>
    <dgm:cxn modelId="{65398126-7C79-483E-A522-FB838C71E404}" type="presOf" srcId="{AA3618EC-22FE-46CC-B268-DE7C7A033A24}" destId="{5986FED2-9B49-47A0-A9A4-73DFDECAB57A}" srcOrd="0" destOrd="2" presId="urn:microsoft.com/office/officeart/2005/8/layout/venn1"/>
    <dgm:cxn modelId="{C4A6A834-2631-45CB-8E79-9B9B8AD1EA81}" type="presOf" srcId="{7ED6B084-894C-4DE0-B647-DBB7D2172AC1}" destId="{A004583C-AE9E-4D6B-A697-E90562079756}" srcOrd="0" destOrd="0" presId="urn:microsoft.com/office/officeart/2005/8/layout/venn1"/>
    <dgm:cxn modelId="{BB3FFF38-3824-41ED-B6CA-E886F8D2DA53}" type="presOf" srcId="{C3554CBE-ED44-4FBC-89EC-3A7701C1284D}" destId="{5986FED2-9B49-47A0-A9A4-73DFDECAB57A}" srcOrd="0" destOrd="3" presId="urn:microsoft.com/office/officeart/2005/8/layout/venn1"/>
    <dgm:cxn modelId="{4E386B41-BC4B-4AA8-9229-E1ACCB4363BA}" srcId="{D9EE0537-94CD-43FB-AD2F-B05DB60B9503}" destId="{AA3618EC-22FE-46CC-B268-DE7C7A033A24}" srcOrd="1" destOrd="0" parTransId="{AF380808-A835-48F5-8948-9766A0D1FC44}" sibTransId="{70942E30-1748-47BF-9F87-61916163AE64}"/>
    <dgm:cxn modelId="{54E64C42-F7A4-49CC-A971-BD7C29C87854}" srcId="{7ED6B084-894C-4DE0-B647-DBB7D2172AC1}" destId="{D9EE0537-94CD-43FB-AD2F-B05DB60B9503}" srcOrd="0" destOrd="0" parTransId="{3A626CD0-FC11-402A-A357-7296E2A8421F}" sibTransId="{D5F3B7D3-D679-4636-BA9A-97F2DD1EF9E2}"/>
    <dgm:cxn modelId="{441D7247-99B7-4EFA-82DA-A59164A793E6}" type="presOf" srcId="{55E9EE59-751C-494A-9619-DBFD7BC21812}" destId="{5986FED2-9B49-47A0-A9A4-73DFDECAB57A}" srcOrd="0" destOrd="4" presId="urn:microsoft.com/office/officeart/2005/8/layout/venn1"/>
    <dgm:cxn modelId="{0F240588-CDB7-4A5C-92D6-ABD972D0A56A}" srcId="{D9EE0537-94CD-43FB-AD2F-B05DB60B9503}" destId="{55E9EE59-751C-494A-9619-DBFD7BC21812}" srcOrd="3" destOrd="0" parTransId="{0A1BEEF4-AAD0-4D8D-81D3-5CD3F53F0E1E}" sibTransId="{D7351614-8800-40B5-BAAE-E2B8FDDA4D0A}"/>
    <dgm:cxn modelId="{1514FD98-C6A3-4A5E-A5C3-454692E698AC}" srcId="{D9EE0537-94CD-43FB-AD2F-B05DB60B9503}" destId="{8476D982-45B5-47C7-972B-CF4206FB88DD}" srcOrd="0" destOrd="0" parTransId="{7EE4B22B-16B7-45D3-9D8B-C256790E09FC}" sibTransId="{34D07FB3-F008-486B-9788-EDD114C2A345}"/>
    <dgm:cxn modelId="{5FB754A1-B642-4919-96C1-7DF847CB344E}" type="presOf" srcId="{D9EE0537-94CD-43FB-AD2F-B05DB60B9503}" destId="{5986FED2-9B49-47A0-A9A4-73DFDECAB57A}" srcOrd="0" destOrd="0" presId="urn:microsoft.com/office/officeart/2005/8/layout/venn1"/>
    <dgm:cxn modelId="{F58C59B9-8024-49CC-B4E0-E8E159F97702}" srcId="{D9EE0537-94CD-43FB-AD2F-B05DB60B9503}" destId="{C3554CBE-ED44-4FBC-89EC-3A7701C1284D}" srcOrd="2" destOrd="0" parTransId="{ADEBEFB7-810E-4DA6-9303-35357062C187}" sibTransId="{8D3D5AFC-C2A5-442D-A6A0-6946A79990FE}"/>
    <dgm:cxn modelId="{179A0E62-95AD-48A1-9AB8-6DE5C1A03DEC}" type="presParOf" srcId="{A004583C-AE9E-4D6B-A697-E90562079756}" destId="{5986FED2-9B49-47A0-A9A4-73DFDECAB57A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F6F09-D98A-4CE8-A88E-C73F9CCB467D}">
      <dsp:nvSpPr>
        <dsp:cNvPr id="0" name=""/>
        <dsp:cNvSpPr/>
      </dsp:nvSpPr>
      <dsp:spPr>
        <a:xfrm>
          <a:off x="2331255" y="446854"/>
          <a:ext cx="2598527" cy="9119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ArialMT"/>
            </a:rPr>
            <a:t>Erreur d'exécution</a:t>
          </a:r>
        </a:p>
      </dsp:txBody>
      <dsp:txXfrm>
        <a:off x="2357965" y="473564"/>
        <a:ext cx="2545107" cy="858540"/>
      </dsp:txXfrm>
    </dsp:sp>
    <dsp:sp modelId="{4FB766E8-4B42-444F-A436-AFE679FF2AB4}">
      <dsp:nvSpPr>
        <dsp:cNvPr id="0" name=""/>
        <dsp:cNvSpPr/>
      </dsp:nvSpPr>
      <dsp:spPr>
        <a:xfrm>
          <a:off x="1733461" y="1358814"/>
          <a:ext cx="1897057" cy="364784"/>
        </a:xfrm>
        <a:custGeom>
          <a:avLst/>
          <a:gdLst/>
          <a:ahLst/>
          <a:cxnLst/>
          <a:rect l="0" t="0" r="0" b="0"/>
          <a:pathLst>
            <a:path>
              <a:moveTo>
                <a:pt x="1897057" y="0"/>
              </a:moveTo>
              <a:lnTo>
                <a:pt x="1897057" y="182392"/>
              </a:lnTo>
              <a:lnTo>
                <a:pt x="0" y="182392"/>
              </a:lnTo>
              <a:lnTo>
                <a:pt x="0" y="36478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8F457-A430-4C45-A551-414D71DD5151}">
      <dsp:nvSpPr>
        <dsp:cNvPr id="0" name=""/>
        <dsp:cNvSpPr/>
      </dsp:nvSpPr>
      <dsp:spPr>
        <a:xfrm>
          <a:off x="720077" y="1723599"/>
          <a:ext cx="2026768" cy="9119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rgbClr val="FF0000"/>
              </a:solidFill>
              <a:latin typeface="ArialMT"/>
            </a:rPr>
            <a:t>Déviation (Slips</a:t>
          </a:r>
          <a:r>
            <a:rPr lang="fr-FR" sz="2000" kern="1200" dirty="0">
              <a:solidFill>
                <a:srgbClr val="FF0000"/>
              </a:solidFill>
              <a:latin typeface="ArialMT"/>
            </a:rPr>
            <a:t>) </a:t>
          </a:r>
          <a:endParaRPr lang="fr-FR" sz="2000" kern="1200" dirty="0">
            <a:latin typeface="ArialMT"/>
          </a:endParaRPr>
        </a:p>
      </dsp:txBody>
      <dsp:txXfrm>
        <a:off x="746787" y="1750309"/>
        <a:ext cx="1973348" cy="858540"/>
      </dsp:txXfrm>
    </dsp:sp>
    <dsp:sp modelId="{7C5E741B-02E9-4EA3-A5A8-4E28D7F324D6}">
      <dsp:nvSpPr>
        <dsp:cNvPr id="0" name=""/>
        <dsp:cNvSpPr/>
      </dsp:nvSpPr>
      <dsp:spPr>
        <a:xfrm>
          <a:off x="1687420" y="2635559"/>
          <a:ext cx="91440" cy="364784"/>
        </a:xfrm>
        <a:custGeom>
          <a:avLst/>
          <a:gdLst/>
          <a:ahLst/>
          <a:cxnLst/>
          <a:rect l="0" t="0" r="0" b="0"/>
          <a:pathLst>
            <a:path>
              <a:moveTo>
                <a:pt x="46041" y="0"/>
              </a:moveTo>
              <a:lnTo>
                <a:pt x="46041" y="182392"/>
              </a:lnTo>
              <a:lnTo>
                <a:pt x="45720" y="182392"/>
              </a:lnTo>
              <a:lnTo>
                <a:pt x="45720" y="36478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6E174F-3ED4-4461-856C-D3A12B37B2AE}">
      <dsp:nvSpPr>
        <dsp:cNvPr id="0" name=""/>
        <dsp:cNvSpPr/>
      </dsp:nvSpPr>
      <dsp:spPr>
        <a:xfrm>
          <a:off x="0" y="3000343"/>
          <a:ext cx="3466280" cy="20915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latin typeface="ArialMT"/>
            </a:rPr>
            <a:t>Défaut d'attention 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Mauvaise perception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Erreur d'interférence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Erreur de classement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Erreur de timing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dirty="0">
              <a:latin typeface="ArialMT"/>
            </a:rPr>
            <a:t>-</a:t>
          </a:r>
        </a:p>
      </dsp:txBody>
      <dsp:txXfrm>
        <a:off x="61261" y="3061604"/>
        <a:ext cx="3343758" cy="1969068"/>
      </dsp:txXfrm>
    </dsp:sp>
    <dsp:sp modelId="{7EC6AB9A-0559-4B62-85E6-8F85FA05D127}">
      <dsp:nvSpPr>
        <dsp:cNvPr id="0" name=""/>
        <dsp:cNvSpPr/>
      </dsp:nvSpPr>
      <dsp:spPr>
        <a:xfrm>
          <a:off x="3630519" y="1358814"/>
          <a:ext cx="1836204" cy="364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392"/>
              </a:lnTo>
              <a:lnTo>
                <a:pt x="1836204" y="182392"/>
              </a:lnTo>
              <a:lnTo>
                <a:pt x="1836204" y="36478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DFA89D-8431-4FB9-9791-9FEEA944629B}">
      <dsp:nvSpPr>
        <dsp:cNvPr id="0" name=""/>
        <dsp:cNvSpPr/>
      </dsp:nvSpPr>
      <dsp:spPr>
        <a:xfrm>
          <a:off x="4392486" y="1723599"/>
          <a:ext cx="2148474" cy="9119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rgbClr val="FF0000"/>
              </a:solidFill>
              <a:latin typeface="ArialMT"/>
            </a:rPr>
            <a:t>Oubli (Lapses) </a:t>
          </a:r>
          <a:endParaRPr lang="fr-FR" sz="2800" kern="1200" dirty="0">
            <a:latin typeface="ArialMT"/>
          </a:endParaRPr>
        </a:p>
      </dsp:txBody>
      <dsp:txXfrm>
        <a:off x="4419196" y="1750309"/>
        <a:ext cx="2095054" cy="858540"/>
      </dsp:txXfrm>
    </dsp:sp>
    <dsp:sp modelId="{1BE59157-B1DF-4358-8EA1-D7016C9493F8}">
      <dsp:nvSpPr>
        <dsp:cNvPr id="0" name=""/>
        <dsp:cNvSpPr/>
      </dsp:nvSpPr>
      <dsp:spPr>
        <a:xfrm>
          <a:off x="5421003" y="2635559"/>
          <a:ext cx="91440" cy="3647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478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5EC4D-9D03-47C7-B5CE-BD1DA173AFD8}">
      <dsp:nvSpPr>
        <dsp:cNvPr id="0" name=""/>
        <dsp:cNvSpPr/>
      </dsp:nvSpPr>
      <dsp:spPr>
        <a:xfrm>
          <a:off x="3876984" y="3000343"/>
          <a:ext cx="3179477" cy="20271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latin typeface="ArialMT"/>
            </a:rPr>
            <a:t>Défaut de mémoire 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Omissions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</a:t>
          </a:r>
          <a:r>
            <a:rPr lang="fr-FR" sz="2000" kern="1200" dirty="0" err="1">
              <a:latin typeface="ArialMT"/>
            </a:rPr>
            <a:t>Repetitions</a:t>
          </a:r>
          <a:endParaRPr lang="fr-FR" sz="2000" kern="1200" dirty="0">
            <a:latin typeface="ArialMT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Réduction </a:t>
          </a:r>
          <a:r>
            <a:rPr lang="fr-FR" sz="2000" kern="1200" dirty="0" err="1">
              <a:latin typeface="ArialMT"/>
            </a:rPr>
            <a:t>d'intentionalité</a:t>
          </a:r>
          <a:r>
            <a:rPr lang="fr-FR" sz="2000" kern="1200" dirty="0">
              <a:latin typeface="ArialMT"/>
            </a:rPr>
            <a:t> (Représentation mentale)</a:t>
          </a:r>
        </a:p>
      </dsp:txBody>
      <dsp:txXfrm>
        <a:off x="3936356" y="3059715"/>
        <a:ext cx="3060733" cy="1908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F6F09-D98A-4CE8-A88E-C73F9CCB467D}">
      <dsp:nvSpPr>
        <dsp:cNvPr id="0" name=""/>
        <dsp:cNvSpPr/>
      </dsp:nvSpPr>
      <dsp:spPr>
        <a:xfrm>
          <a:off x="1459717" y="375467"/>
          <a:ext cx="3610135" cy="1169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ArialMT"/>
            </a:rPr>
            <a:t>Erreur de planning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>
              <a:latin typeface="ArialMT"/>
            </a:rPr>
            <a:t>(</a:t>
          </a:r>
          <a:r>
            <a:rPr lang="fr-FR" sz="2800" b="1" kern="1200" dirty="0" err="1">
              <a:latin typeface="ArialMT"/>
            </a:rPr>
            <a:t>Mistakes</a:t>
          </a:r>
          <a:r>
            <a:rPr lang="fr-FR" sz="2800" b="1" kern="1200" dirty="0">
              <a:latin typeface="ArialMT"/>
            </a:rPr>
            <a:t>)</a:t>
          </a:r>
        </a:p>
      </dsp:txBody>
      <dsp:txXfrm>
        <a:off x="1493985" y="409735"/>
        <a:ext cx="3541599" cy="1101459"/>
      </dsp:txXfrm>
    </dsp:sp>
    <dsp:sp modelId="{4FB766E8-4B42-444F-A436-AFE679FF2AB4}">
      <dsp:nvSpPr>
        <dsp:cNvPr id="0" name=""/>
        <dsp:cNvSpPr/>
      </dsp:nvSpPr>
      <dsp:spPr>
        <a:xfrm>
          <a:off x="1529572" y="1545463"/>
          <a:ext cx="1735212" cy="321878"/>
        </a:xfrm>
        <a:custGeom>
          <a:avLst/>
          <a:gdLst/>
          <a:ahLst/>
          <a:cxnLst/>
          <a:rect l="0" t="0" r="0" b="0"/>
          <a:pathLst>
            <a:path>
              <a:moveTo>
                <a:pt x="1735212" y="0"/>
              </a:moveTo>
              <a:lnTo>
                <a:pt x="1735212" y="160939"/>
              </a:lnTo>
              <a:lnTo>
                <a:pt x="0" y="160939"/>
              </a:lnTo>
              <a:lnTo>
                <a:pt x="0" y="321878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8F457-A430-4C45-A551-414D71DD5151}">
      <dsp:nvSpPr>
        <dsp:cNvPr id="0" name=""/>
        <dsp:cNvSpPr/>
      </dsp:nvSpPr>
      <dsp:spPr>
        <a:xfrm>
          <a:off x="372578" y="1867341"/>
          <a:ext cx="2313987" cy="8046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rgbClr val="FF0000"/>
              </a:solidFill>
              <a:latin typeface="ArialMT"/>
            </a:rPr>
            <a:t>Reglements/Procédures</a:t>
          </a:r>
          <a:endParaRPr lang="fr-FR" sz="2800" kern="1200" dirty="0">
            <a:latin typeface="ArialMT"/>
          </a:endParaRPr>
        </a:p>
      </dsp:txBody>
      <dsp:txXfrm>
        <a:off x="396147" y="1890910"/>
        <a:ext cx="2266849" cy="757557"/>
      </dsp:txXfrm>
    </dsp:sp>
    <dsp:sp modelId="{7C5E741B-02E9-4EA3-A5A8-4E28D7F324D6}">
      <dsp:nvSpPr>
        <dsp:cNvPr id="0" name=""/>
        <dsp:cNvSpPr/>
      </dsp:nvSpPr>
      <dsp:spPr>
        <a:xfrm>
          <a:off x="1483568" y="2672037"/>
          <a:ext cx="91440" cy="321878"/>
        </a:xfrm>
        <a:custGeom>
          <a:avLst/>
          <a:gdLst/>
          <a:ahLst/>
          <a:cxnLst/>
          <a:rect l="0" t="0" r="0" b="0"/>
          <a:pathLst>
            <a:path>
              <a:moveTo>
                <a:pt x="46003" y="0"/>
              </a:moveTo>
              <a:lnTo>
                <a:pt x="46003" y="160939"/>
              </a:lnTo>
              <a:lnTo>
                <a:pt x="45720" y="160939"/>
              </a:lnTo>
              <a:lnTo>
                <a:pt x="45720" y="321878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6E174F-3ED4-4461-856C-D3A12B37B2AE}">
      <dsp:nvSpPr>
        <dsp:cNvPr id="0" name=""/>
        <dsp:cNvSpPr/>
      </dsp:nvSpPr>
      <dsp:spPr>
        <a:xfrm>
          <a:off x="0" y="2993916"/>
          <a:ext cx="3058576" cy="184557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ArialMT"/>
            </a:rPr>
            <a:t>- </a:t>
          </a:r>
          <a:r>
            <a:rPr lang="fr-FR" sz="2000" kern="1200" dirty="0">
              <a:latin typeface="ArialMT"/>
            </a:rPr>
            <a:t>Mauvaise application d'une bonne procédure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Application d'une mauvaise procédure-</a:t>
          </a:r>
        </a:p>
      </dsp:txBody>
      <dsp:txXfrm>
        <a:off x="54055" y="3047971"/>
        <a:ext cx="2950466" cy="1737468"/>
      </dsp:txXfrm>
    </dsp:sp>
    <dsp:sp modelId="{7EC6AB9A-0559-4B62-85E6-8F85FA05D127}">
      <dsp:nvSpPr>
        <dsp:cNvPr id="0" name=""/>
        <dsp:cNvSpPr/>
      </dsp:nvSpPr>
      <dsp:spPr>
        <a:xfrm>
          <a:off x="3264785" y="1545463"/>
          <a:ext cx="1558942" cy="3218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939"/>
              </a:lnTo>
              <a:lnTo>
                <a:pt x="1558942" y="160939"/>
              </a:lnTo>
              <a:lnTo>
                <a:pt x="1558942" y="321878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DFA89D-8431-4FB9-9791-9FEEA944629B}">
      <dsp:nvSpPr>
        <dsp:cNvPr id="0" name=""/>
        <dsp:cNvSpPr/>
      </dsp:nvSpPr>
      <dsp:spPr>
        <a:xfrm>
          <a:off x="3490462" y="1867341"/>
          <a:ext cx="2666528" cy="8046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srgbClr val="FF0000"/>
              </a:solidFill>
              <a:latin typeface="ArialMT"/>
            </a:rPr>
            <a:t>Connaissance</a:t>
          </a:r>
          <a:endParaRPr lang="fr-FR" sz="2800" kern="1200">
            <a:latin typeface="ArialMT"/>
          </a:endParaRPr>
        </a:p>
      </dsp:txBody>
      <dsp:txXfrm>
        <a:off x="3514031" y="1890910"/>
        <a:ext cx="2619390" cy="757557"/>
      </dsp:txXfrm>
    </dsp:sp>
    <dsp:sp modelId="{1BE59157-B1DF-4358-8EA1-D7016C9493F8}">
      <dsp:nvSpPr>
        <dsp:cNvPr id="0" name=""/>
        <dsp:cNvSpPr/>
      </dsp:nvSpPr>
      <dsp:spPr>
        <a:xfrm>
          <a:off x="4778007" y="2672037"/>
          <a:ext cx="91440" cy="3218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1878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5EC4D-9D03-47C7-B5CE-BD1DA173AFD8}">
      <dsp:nvSpPr>
        <dsp:cNvPr id="0" name=""/>
        <dsp:cNvSpPr/>
      </dsp:nvSpPr>
      <dsp:spPr>
        <a:xfrm>
          <a:off x="3420973" y="2993916"/>
          <a:ext cx="2805507" cy="17886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MT"/>
            </a:rPr>
            <a:t>- </a:t>
          </a:r>
          <a:r>
            <a:rPr lang="fr-FR" sz="2000" kern="1200" dirty="0">
              <a:latin typeface="ArialMT"/>
            </a:rPr>
            <a:t>Biais de confirmation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perception sélective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- Improvisation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ArialMT"/>
            </a:rPr>
            <a:t>excès de confiance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MT"/>
            </a:rPr>
            <a:t>.........</a:t>
          </a:r>
        </a:p>
      </dsp:txBody>
      <dsp:txXfrm>
        <a:off x="3473362" y="3046305"/>
        <a:ext cx="2700729" cy="1683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CDEA-E48C-4194-AAC7-7543E7A1A43D}">
      <dsp:nvSpPr>
        <dsp:cNvPr id="0" name=""/>
        <dsp:cNvSpPr/>
      </dsp:nvSpPr>
      <dsp:spPr>
        <a:xfrm>
          <a:off x="7435" y="1365245"/>
          <a:ext cx="2222515" cy="133350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Danger</a:t>
          </a:r>
        </a:p>
      </dsp:txBody>
      <dsp:txXfrm>
        <a:off x="46492" y="1404302"/>
        <a:ext cx="2144401" cy="1255395"/>
      </dsp:txXfrm>
    </dsp:sp>
    <dsp:sp modelId="{D65924E9-6F67-41A3-9A5B-51FAD4659B11}">
      <dsp:nvSpPr>
        <dsp:cNvPr id="0" name=""/>
        <dsp:cNvSpPr/>
      </dsp:nvSpPr>
      <dsp:spPr>
        <a:xfrm>
          <a:off x="2452203" y="1756408"/>
          <a:ext cx="471173" cy="5511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452203" y="1866645"/>
        <a:ext cx="329821" cy="330709"/>
      </dsp:txXfrm>
    </dsp:sp>
    <dsp:sp modelId="{DF77DFB7-84E0-42A7-996A-9861FF4144F1}">
      <dsp:nvSpPr>
        <dsp:cNvPr id="0" name=""/>
        <dsp:cNvSpPr/>
      </dsp:nvSpPr>
      <dsp:spPr>
        <a:xfrm>
          <a:off x="3118958" y="1365245"/>
          <a:ext cx="2222515" cy="1333509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Evénement redouté</a:t>
          </a:r>
        </a:p>
      </dsp:txBody>
      <dsp:txXfrm>
        <a:off x="3158015" y="1404302"/>
        <a:ext cx="2144401" cy="1255395"/>
      </dsp:txXfrm>
    </dsp:sp>
    <dsp:sp modelId="{A19F8E4D-A6BB-450B-A573-475315499C8D}">
      <dsp:nvSpPr>
        <dsp:cNvPr id="0" name=""/>
        <dsp:cNvSpPr/>
      </dsp:nvSpPr>
      <dsp:spPr>
        <a:xfrm>
          <a:off x="5563725" y="1756408"/>
          <a:ext cx="471173" cy="5511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5563725" y="1866645"/>
        <a:ext cx="329821" cy="330709"/>
      </dsp:txXfrm>
    </dsp:sp>
    <dsp:sp modelId="{3FAB1E2A-A497-4755-8823-48F841C8B1A4}">
      <dsp:nvSpPr>
        <dsp:cNvPr id="0" name=""/>
        <dsp:cNvSpPr/>
      </dsp:nvSpPr>
      <dsp:spPr>
        <a:xfrm>
          <a:off x="6230480" y="1365245"/>
          <a:ext cx="2222515" cy="133350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Conséquence ultime</a:t>
          </a:r>
        </a:p>
      </dsp:txBody>
      <dsp:txXfrm>
        <a:off x="6269537" y="1404302"/>
        <a:ext cx="2144401" cy="1255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6FED2-9B49-47A0-A9A4-73DFDECAB57A}">
      <dsp:nvSpPr>
        <dsp:cNvPr id="0" name=""/>
        <dsp:cNvSpPr/>
      </dsp:nvSpPr>
      <dsp:spPr>
        <a:xfrm>
          <a:off x="580663" y="0"/>
          <a:ext cx="5612018" cy="3888432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u="sng" kern="1200" dirty="0"/>
            <a:t>Culture de sécurité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Croyance relative à la sécurité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Les biais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Les comportements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Les valeurs partagées</a:t>
          </a:r>
        </a:p>
      </dsp:txBody>
      <dsp:txXfrm>
        <a:off x="1402524" y="569448"/>
        <a:ext cx="3968296" cy="2749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38B8D72-65F4-6BB0-09DF-D2995085E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E3A128-E0B1-EE0F-0701-95029A7C91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887DD-1F9B-46D8-A9E1-16B2C9250FDD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66A241-CD78-D422-0BF1-637742E6E0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EFA2DF-C2CB-1F02-3524-57393015C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CA68E-C238-4D15-9BCE-2BA755D82AC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489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297DB-BE90-4ACD-BAA0-39B9312079A3}" type="datetimeFigureOut">
              <a:rPr lang="fr-FR" smtClean="0"/>
              <a:pPr/>
              <a:t>01/10/2025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8858A-24C0-45FC-8BAD-17E81CB3740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37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9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755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791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395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54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522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952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890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2E8F9-E601-5483-770F-06F6A381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8173DA4-296E-E5D2-E9A3-72D1394F8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A19A7DE-A5FD-372B-19B6-9388B4FDA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3A9C9F-273D-4D97-DF1A-BD1DFE0FE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732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23AE-6FAD-BF53-AAC3-78671CCD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809701-1165-2400-8E1F-D7C4F3238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EB0D9E9-7429-616D-5016-9E751AA13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D4FB72-74F4-2AF3-C4C6-8345C79DE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704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198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F29D-C1B2-FA4E-2747-076B6970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206207-660F-F43F-5931-1799BD17C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9F2FFD4-E7BF-6EA5-D571-C5CAF81DA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5A6D-2146-BCF9-145A-BF37A9213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61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259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888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45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423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3976-EDA4-E3D8-0516-0AF97CD5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F5774BA-2C7E-FDF6-3E03-27ACB09D7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B372ACD-5B86-AA58-AA4F-07E0C87A6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DFA37A-593C-D081-78A7-E55B08B3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259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4A7C-1305-22AF-DAD3-61DF5EFD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7902E7D-65E9-BBB3-3374-9AB541C9B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BE9F67-60BC-B29E-C0DE-4503AABB6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9899BA-BD9D-36DC-F2A1-DA9CC9FFB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455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F64E8-7EAD-D077-1AD6-E2846DFD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77C04B-C7B7-71AA-02F4-2365110BF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9329D98-84F1-060B-875D-3FE9896AB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14E54B-F59F-212D-3C35-13A0C1EA2F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670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337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E05D-07AE-5036-20C5-A0E284BA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F74EC4-BC20-155F-4674-E02F125EA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32C81A5-3266-D264-6DD6-39AE9A48D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51E36-76CA-C3FF-1F73-3769DFB5E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878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BD37-D446-6D80-9010-0E07887E8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A6A01C-7314-2F76-B3AD-A3DEB482C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C1ED34A-C9DA-8607-007C-C4A140355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65AFE5-5243-843B-C06D-8D8BFEE3E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260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CDE64-59C6-617A-A083-190F6B31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8718D4-B324-D3BE-F6EB-AAA2F756F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D9F6BC5-E285-1EA5-CBEB-4AE6C5998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5D4596-B85F-1B17-EA1B-895848946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763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D0A4-50EB-E339-4065-17DB04CC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977B7-14BF-8392-4C71-159C6E87E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4A0E69C-F930-612C-5FAB-8A3264829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113C94-DA19-0713-9F04-1B33F7220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412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037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034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7778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369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691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32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D6CD-73CE-05B8-3F5D-661F97A6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3013D5-508B-68B4-6FB6-F8FEFC41F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B50E8A2-114F-256E-9EEA-2F303325B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09E6AE-5319-F293-6EDC-0F94A32AC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4066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850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F05E-2BE2-1BCF-93E2-6D61DDD4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DE129B-AA9D-D17C-8C49-F86DA3743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76BE4AF-4D4B-5B50-3F96-ACDC34D4A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B79AA4-F110-002B-90E0-B44785633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9551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021B-1D63-D9DE-5AB2-EAB8EDDB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6FE660-92BF-2737-E42A-47A3B6A8A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2F9EC48-33E4-D058-CD98-B88E70627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A3764-8697-B545-7040-273F3346F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7168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2D68-BF32-C2D0-56F4-8EF59C48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030F30-25CA-538F-B8F1-7892F2E76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3667B6E-FB06-3A7D-2C9A-3107B8BE3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E4AD4E-AE9B-15E8-65C6-A38A62533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3972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8331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463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0834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3805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496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077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392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4918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7048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7108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9757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0729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9856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3C5F-77A2-706E-3E86-271BE4F4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C4525A7-866F-A6C0-68CE-5AB00E129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906D937-B3AD-A06C-2195-BDBAE1882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56F07F-E576-81A9-F29B-A9C979D7E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9533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1505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2718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754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5656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6856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25177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E8A0-8F07-0ED8-7FA3-ECC4B9E1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E6ABB8-CA70-D826-E945-35E1421D5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2C4402C-F8E7-8BB3-75C9-C76FB755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105EB-029A-0313-CDA9-166B6A657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3302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4715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829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94228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97892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7730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36377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61405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7755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3694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6099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31872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12346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48863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6713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98785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823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66309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20644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03889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60879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2951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28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DDF3E5A-35B4-47F5-A973-BFE1F9F8A82D}"/>
              </a:ext>
            </a:extLst>
          </p:cNvPr>
          <p:cNvSpPr txBox="1"/>
          <p:nvPr userDrawn="1"/>
        </p:nvSpPr>
        <p:spPr>
          <a:xfrm>
            <a:off x="0" y="6596945"/>
            <a:ext cx="12192000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1614488" indent="-1614488"/>
            <a:r>
              <a:rPr lang="fr-FR" sz="1100" b="0" i="1" dirty="0"/>
              <a:t>M. MOUSTAPHA Amadou Roufaï, Chargé des systèmes de management ASECNA Bénin	                                                                                                                                              Cours SMS  ERNAM    octobre 2025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9435-9462-418C-8B29-497A6250095F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B7F2-31DB-43F8-8482-D56998514FBF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D6C9-1E4B-4E50-AC27-1D5D05670025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EE1F-096D-44B0-9AB4-ADBAE7AB8586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F0ED-4124-426C-AEA2-F536BAB5F13C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9881-A21A-4C97-8159-7B9298A0501C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2048-94A4-40D6-9A91-630E20D7AE32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FDC8A-4AF6-48FF-B6C8-2490FFB2243A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B8DD-2383-4320-A89E-91A116AF52D3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A0181-C3C1-4AF1-AEE9-568F4C0B70F1}" type="datetime1">
              <a:rPr lang="fr-FR" smtClean="0"/>
              <a:pPr/>
              <a:t>01/10/2025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&#8211;moustapharou@asecna.org" TargetMode="External"/><Relationship Id="rId4" Type="http://schemas.openxmlformats.org/officeDocument/2006/relationships/hyperlink" Target="mailto:moustapharouf@yahoo.f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../Docs/Design/EDS.png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88288" y="6352695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</a:t>
            </a:fld>
            <a:endParaRPr lang="fr-BE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AD7F3-4388-403C-A2DE-8BD3AF77D5BB}"/>
              </a:ext>
            </a:extLst>
          </p:cNvPr>
          <p:cNvSpPr/>
          <p:nvPr/>
        </p:nvSpPr>
        <p:spPr>
          <a:xfrm>
            <a:off x="0" y="2527328"/>
            <a:ext cx="12191999" cy="16561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ArialMT"/>
              </a:rPr>
              <a:t>MODULE I.</a:t>
            </a:r>
          </a:p>
          <a:p>
            <a:pPr algn="ctr"/>
            <a:r>
              <a:rPr lang="fr-FR" sz="3600" b="1" dirty="0">
                <a:solidFill>
                  <a:srgbClr val="0070C0"/>
                </a:solidFill>
                <a:latin typeface="ArialMT"/>
              </a:rPr>
              <a:t>FONDAMENTAUX DE LA GESTION DE LA SÉCURITÉ AÉRONAUTIQUE</a:t>
            </a:r>
            <a:endParaRPr lang="x-none" sz="3600" dirty="0">
              <a:solidFill>
                <a:srgbClr val="0070C0"/>
              </a:solidFill>
              <a:latin typeface="ArialM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408696-B304-1017-9DB7-B74D0D667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73" y="116632"/>
            <a:ext cx="882570" cy="10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ous-titre 2">
            <a:extLst>
              <a:ext uri="{FF2B5EF4-FFF2-40B4-BE49-F238E27FC236}">
                <a16:creationId xmlns:a16="http://schemas.microsoft.com/office/drawing/2014/main" id="{F3E503C4-9763-C3D9-16EC-C19EAF7A7B07}"/>
              </a:ext>
            </a:extLst>
          </p:cNvPr>
          <p:cNvSpPr txBox="1">
            <a:spLocks/>
          </p:cNvSpPr>
          <p:nvPr/>
        </p:nvSpPr>
        <p:spPr>
          <a:xfrm>
            <a:off x="909810" y="359297"/>
            <a:ext cx="10672590" cy="488096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SYSTÈME DE GESTION DE LA SECURITE</a:t>
            </a:r>
            <a:endParaRPr lang="fr-FR" sz="3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2478AD6-EFA8-0385-74E3-79AA4A17F08C}"/>
              </a:ext>
            </a:extLst>
          </p:cNvPr>
          <p:cNvSpPr txBox="1"/>
          <p:nvPr/>
        </p:nvSpPr>
        <p:spPr>
          <a:xfrm>
            <a:off x="241700" y="5725705"/>
            <a:ext cx="11708597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70C0"/>
                </a:solidFill>
              </a:rPr>
              <a:t>Préparé et présenté par :</a:t>
            </a:r>
          </a:p>
          <a:p>
            <a:pPr marL="1614488"/>
            <a:r>
              <a:rPr lang="fr-FR" sz="2000" b="1" dirty="0"/>
              <a:t>M. MOUSTAPHA Amadou Roufaï, ASECNA-BENIN			octobre 2025</a:t>
            </a:r>
          </a:p>
          <a:p>
            <a:pPr marL="1614488"/>
            <a:r>
              <a:rPr lang="fr-FR" sz="2000" dirty="0">
                <a:hlinkClick r:id="rId4"/>
              </a:rPr>
              <a:t>moustapharouf@yahoo.fr</a:t>
            </a:r>
            <a:r>
              <a:rPr lang="fr-FR" sz="2000" dirty="0"/>
              <a:t> / </a:t>
            </a:r>
            <a:r>
              <a:rPr lang="fr-FR" sz="2000" dirty="0">
                <a:hlinkClick r:id="rId5"/>
              </a:rPr>
              <a:t>moustapharou@asecna.org</a:t>
            </a:r>
            <a:r>
              <a:rPr lang="fr-FR" sz="20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232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100" b="1" dirty="0"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4124" y="857232"/>
            <a:ext cx="12187876" cy="5078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CONCEPTS DE MANAGEMENT DE LA SÉCURITÉ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APPROCHES DU MANAGEMENT DE LA SÉCURITÉ</a:t>
            </a:r>
          </a:p>
          <a:p>
            <a:pPr marL="571500" indent="-571500">
              <a:buFont typeface="+mj-lt"/>
              <a:buAutoNum type="romanUcPeriod"/>
            </a:pPr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GESTION DES CHANGEMENTS</a:t>
            </a:r>
          </a:p>
          <a:p>
            <a:pPr marL="571500" indent="-571500">
              <a:buFont typeface="+mj-lt"/>
              <a:buAutoNum type="romanUcPeriod"/>
            </a:pPr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buFont typeface="+mj-lt"/>
              <a:buAutoNum type="romanUcPeriod"/>
            </a:pPr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CULTURE DE SECURITE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0160000" y="3066164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8982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766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OBJET DU MODULE 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17665"/>
            <a:ext cx="12192000" cy="5835671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3600" dirty="0">
                <a:latin typeface="ArialMT"/>
              </a:rPr>
              <a:t>Fournir aux participants une compréhension commune des </a:t>
            </a:r>
          </a:p>
          <a:p>
            <a:pPr lvl="1" algn="just"/>
            <a:r>
              <a:rPr lang="fr-FR" sz="3200" dirty="0">
                <a:latin typeface="ArialMT"/>
              </a:rPr>
              <a:t>principes, </a:t>
            </a:r>
          </a:p>
          <a:p>
            <a:pPr lvl="1" algn="just"/>
            <a:r>
              <a:rPr lang="fr-FR" sz="3200" dirty="0">
                <a:latin typeface="ArialMT"/>
              </a:rPr>
              <a:t>concepts et </a:t>
            </a:r>
          </a:p>
          <a:p>
            <a:pPr lvl="1" algn="just"/>
            <a:r>
              <a:rPr lang="fr-FR" sz="3200" dirty="0">
                <a:latin typeface="ArialMT"/>
              </a:rPr>
              <a:t>terminologies </a:t>
            </a:r>
          </a:p>
          <a:p>
            <a:pPr marL="0" indent="0" algn="just">
              <a:buNone/>
            </a:pPr>
            <a:r>
              <a:rPr lang="fr-FR" sz="3600" dirty="0">
                <a:latin typeface="ArialMT"/>
              </a:rPr>
              <a:t>de la gestion de la sécurité en aviation, en expliquant </a:t>
            </a:r>
            <a:r>
              <a:rPr lang="fr-FR" sz="3600" b="1" dirty="0">
                <a:latin typeface="ArialMT"/>
              </a:rPr>
              <a:t>l’évolution</a:t>
            </a:r>
            <a:r>
              <a:rPr lang="fr-FR" sz="3600" dirty="0">
                <a:latin typeface="ArialMT"/>
              </a:rPr>
              <a:t> historique, </a:t>
            </a:r>
            <a:r>
              <a:rPr lang="fr-FR" sz="3600" b="1" dirty="0">
                <a:latin typeface="ArialMT"/>
              </a:rPr>
              <a:t>les motivations </a:t>
            </a:r>
            <a:r>
              <a:rPr lang="fr-FR" sz="3600" dirty="0">
                <a:latin typeface="ArialMT"/>
              </a:rPr>
              <a:t>réglementaires et organisationnelles, ainsi que </a:t>
            </a:r>
            <a:r>
              <a:rPr lang="fr-FR" sz="3600" b="1" dirty="0">
                <a:latin typeface="ArialMT"/>
              </a:rPr>
              <a:t>les éléments constitutifs </a:t>
            </a:r>
            <a:r>
              <a:rPr lang="fr-FR" sz="3600" dirty="0">
                <a:latin typeface="ArialMT"/>
              </a:rPr>
              <a:t>d’un Système de gestion de la sécurité (SMS) selon l’OACI.</a:t>
            </a:r>
          </a:p>
        </p:txBody>
      </p:sp>
    </p:spTree>
    <p:extLst>
      <p:ext uri="{BB962C8B-B14F-4D97-AF65-F5344CB8AC3E}">
        <p14:creationId xmlns:p14="http://schemas.microsoft.com/office/powerpoint/2010/main" val="158339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191344" y="2636913"/>
            <a:ext cx="11809312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/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SÉCURITÉ</a:t>
            </a:r>
          </a:p>
          <a:p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460282" y="836712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6865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1344" y="1508396"/>
            <a:ext cx="11809312" cy="1537571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>
                <a:latin typeface="ArialMT"/>
              </a:rPr>
              <a:t>La gestion de la sécurité fournit </a:t>
            </a:r>
            <a:r>
              <a:rPr lang="fr-FR" b="1" dirty="0">
                <a:latin typeface="ArialMT"/>
              </a:rPr>
              <a:t>les informations </a:t>
            </a:r>
            <a:r>
              <a:rPr lang="fr-FR" dirty="0">
                <a:latin typeface="ArialMT"/>
              </a:rPr>
              <a:t>et les </a:t>
            </a:r>
            <a:r>
              <a:rPr lang="fr-FR" b="1" dirty="0">
                <a:latin typeface="ArialMT"/>
              </a:rPr>
              <a:t>processus</a:t>
            </a:r>
            <a:r>
              <a:rPr lang="fr-FR" dirty="0">
                <a:latin typeface="ArialMT"/>
              </a:rPr>
              <a:t> qui aident les prises </a:t>
            </a:r>
            <a:r>
              <a:rPr lang="fr-FR" b="1" dirty="0">
                <a:latin typeface="ArialMT"/>
              </a:rPr>
              <a:t>de décisions </a:t>
            </a:r>
            <a:r>
              <a:rPr lang="fr-FR" dirty="0">
                <a:latin typeface="ArialMT"/>
              </a:rPr>
              <a:t>de diverses sortes, dans le but de maintenir un </a:t>
            </a:r>
            <a:r>
              <a:rPr lang="fr-FR" b="1" dirty="0">
                <a:latin typeface="ArialMT"/>
              </a:rPr>
              <a:t>niveau acceptable </a:t>
            </a:r>
            <a:r>
              <a:rPr lang="fr-FR" dirty="0">
                <a:latin typeface="ArialMT"/>
              </a:rPr>
              <a:t>de la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6587" y="3143173"/>
            <a:ext cx="10235413" cy="16851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3200" b="1" dirty="0">
                <a:solidFill>
                  <a:srgbClr val="00B0F0"/>
                </a:solidFill>
                <a:latin typeface="ArialMT"/>
              </a:rPr>
              <a:t>Décisions individuelles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3200" dirty="0">
                <a:latin typeface="ArialMT"/>
              </a:rPr>
              <a:t>Prises par le personnel du premier rang (ATCO, Pilotes, ATSEP…)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" y="4714876"/>
            <a:ext cx="1909259" cy="18697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56587" y="4900303"/>
            <a:ext cx="10235413" cy="1625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3200" b="1" dirty="0">
                <a:solidFill>
                  <a:srgbClr val="00B0F0"/>
                </a:solidFill>
                <a:latin typeface="ArialMT"/>
              </a:rPr>
              <a:t>Décisions institutionnelles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3200" dirty="0">
                <a:latin typeface="ArialMT"/>
              </a:rPr>
              <a:t>Prises par un exploitant, un fournisseur de services ou une autorité de supervision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54" y="3143173"/>
            <a:ext cx="1812333" cy="168512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EE1D952-D476-A561-C764-D94C13296D20}"/>
              </a:ext>
            </a:extLst>
          </p:cNvPr>
          <p:cNvSpPr txBox="1"/>
          <p:nvPr/>
        </p:nvSpPr>
        <p:spPr>
          <a:xfrm>
            <a:off x="6610" y="911191"/>
            <a:ext cx="947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C’est quoi la gestion de la sécurité ?</a:t>
            </a:r>
          </a:p>
        </p:txBody>
      </p:sp>
    </p:spTree>
    <p:extLst>
      <p:ext uri="{BB962C8B-B14F-4D97-AF65-F5344CB8AC3E}">
        <p14:creationId xmlns:p14="http://schemas.microsoft.com/office/powerpoint/2010/main" val="316366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6865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6610" y="911191"/>
            <a:ext cx="947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C’est quoi la gestion de la sécurité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7560" y="1567380"/>
            <a:ext cx="11809312" cy="2001924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fr-FR" dirty="0">
                <a:latin typeface="ArialMT"/>
              </a:rPr>
              <a:t>C’est une fonction </a:t>
            </a:r>
            <a:r>
              <a:rPr lang="fr-FR" b="1" dirty="0">
                <a:latin typeface="ArialMT"/>
              </a:rPr>
              <a:t>organisationnelle</a:t>
            </a:r>
            <a:r>
              <a:rPr lang="fr-FR" dirty="0">
                <a:latin typeface="ArialMT"/>
              </a:rPr>
              <a:t> qui s'efforce continuellement d'identifier tous les </a:t>
            </a:r>
            <a:r>
              <a:rPr lang="fr-FR" b="1" dirty="0">
                <a:latin typeface="ArialMT"/>
              </a:rPr>
              <a:t>dangers</a:t>
            </a:r>
            <a:r>
              <a:rPr lang="fr-FR" dirty="0">
                <a:latin typeface="ArialMT"/>
              </a:rPr>
              <a:t> pour la sécurité et d'évaluer et gérer les </a:t>
            </a:r>
            <a:r>
              <a:rPr lang="fr-FR" b="1" dirty="0">
                <a:latin typeface="ArialMT"/>
              </a:rPr>
              <a:t>risques</a:t>
            </a:r>
            <a:r>
              <a:rPr lang="fr-FR" dirty="0">
                <a:latin typeface="ArialMT"/>
              </a:rPr>
              <a:t> associés grâce à une approche </a:t>
            </a:r>
            <a:r>
              <a:rPr lang="fr-FR" b="1" dirty="0">
                <a:latin typeface="ArialMT"/>
              </a:rPr>
              <a:t>systématique</a:t>
            </a:r>
            <a:r>
              <a:rPr lang="fr-FR" dirty="0">
                <a:latin typeface="ArialMT"/>
              </a:rPr>
              <a:t> qui inclut la structure </a:t>
            </a:r>
            <a:r>
              <a:rPr lang="fr-FR" b="1" dirty="0">
                <a:latin typeface="ArialMT"/>
              </a:rPr>
              <a:t>organisationnelle</a:t>
            </a:r>
            <a:r>
              <a:rPr lang="fr-FR" dirty="0">
                <a:latin typeface="ArialMT"/>
              </a:rPr>
              <a:t> nécessaire, les </a:t>
            </a:r>
            <a:r>
              <a:rPr lang="fr-FR" b="1" dirty="0">
                <a:latin typeface="ArialMT"/>
              </a:rPr>
              <a:t>responsabilités</a:t>
            </a:r>
            <a:r>
              <a:rPr lang="fr-FR" dirty="0">
                <a:latin typeface="ArialMT"/>
              </a:rPr>
              <a:t>, les </a:t>
            </a:r>
            <a:r>
              <a:rPr lang="fr-FR" b="1" dirty="0">
                <a:latin typeface="ArialMT"/>
              </a:rPr>
              <a:t>politiques</a:t>
            </a:r>
            <a:r>
              <a:rPr lang="fr-FR" dirty="0">
                <a:latin typeface="ArialMT"/>
              </a:rPr>
              <a:t> et les </a:t>
            </a:r>
            <a:r>
              <a:rPr lang="fr-FR" b="1" dirty="0">
                <a:latin typeface="ArialMT"/>
              </a:rPr>
              <a:t>procédures.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30D5F4-03F3-78AF-52F7-292457D6A818}"/>
              </a:ext>
            </a:extLst>
          </p:cNvPr>
          <p:cNvSpPr txBox="1"/>
          <p:nvPr/>
        </p:nvSpPr>
        <p:spPr>
          <a:xfrm>
            <a:off x="73104" y="5528709"/>
            <a:ext cx="3285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B0F0"/>
                </a:solidFill>
                <a:latin typeface="ArialMT"/>
              </a:rPr>
              <a:t>Identifier les dangers</a:t>
            </a:r>
          </a:p>
        </p:txBody>
      </p:sp>
      <p:pic>
        <p:nvPicPr>
          <p:cNvPr id="1026" name="Picture 2" descr="Stay Safe by BAZL">
            <a:extLst>
              <a:ext uri="{FF2B5EF4-FFF2-40B4-BE49-F238E27FC236}">
                <a16:creationId xmlns:a16="http://schemas.microsoft.com/office/drawing/2014/main" id="{D23566F4-962F-60ED-32C5-7FE2C40DC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999106"/>
            <a:ext cx="3028950" cy="163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éril aviaire, le cauchemar des compagnies aériennes contemporaines. —  avionslegendaires.net">
            <a:extLst>
              <a:ext uri="{FF2B5EF4-FFF2-40B4-BE49-F238E27FC236}">
                <a16:creationId xmlns:a16="http://schemas.microsoft.com/office/drawing/2014/main" id="{786FB6CC-2978-8BFC-8285-587FF6A5E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3999105"/>
            <a:ext cx="2819400" cy="163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38B1F95-344E-FA3F-F46D-11D40C506B45}"/>
              </a:ext>
            </a:extLst>
          </p:cNvPr>
          <p:cNvSpPr txBox="1"/>
          <p:nvPr/>
        </p:nvSpPr>
        <p:spPr>
          <a:xfrm>
            <a:off x="4173091" y="5534487"/>
            <a:ext cx="29893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B0F0"/>
                </a:solidFill>
                <a:latin typeface="ArialMT"/>
              </a:rPr>
              <a:t>Evaluer les risques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70C7770-E6C3-E926-236A-A76282524284}"/>
              </a:ext>
            </a:extLst>
          </p:cNvPr>
          <p:cNvSpPr txBox="1"/>
          <p:nvPr/>
        </p:nvSpPr>
        <p:spPr>
          <a:xfrm>
            <a:off x="8819877" y="5555194"/>
            <a:ext cx="30186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00B0F0"/>
                </a:solidFill>
                <a:latin typeface="ArialMT"/>
              </a:rPr>
              <a:t>approche</a:t>
            </a:r>
            <a:r>
              <a:rPr lang="fr-FR" sz="3200" b="1" dirty="0">
                <a:latin typeface="ArialMT"/>
              </a:rPr>
              <a:t> </a:t>
            </a:r>
            <a:r>
              <a:rPr lang="fr-FR" sz="3200" b="1" dirty="0">
                <a:solidFill>
                  <a:srgbClr val="00B0F0"/>
                </a:solidFill>
                <a:latin typeface="ArialMT"/>
              </a:rPr>
              <a:t>systématique</a:t>
            </a:r>
            <a:r>
              <a:rPr lang="fr-FR" sz="3200" b="1" dirty="0">
                <a:latin typeface="ArialMT"/>
              </a:rPr>
              <a:t> </a:t>
            </a:r>
            <a:endParaRPr lang="fr-FR" sz="3200" dirty="0">
              <a:latin typeface="ArialMT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FCA8842-E9BC-CF8F-4CCB-F4C03BEF91CE}"/>
              </a:ext>
            </a:extLst>
          </p:cNvPr>
          <p:cNvGrpSpPr/>
          <p:nvPr/>
        </p:nvGrpSpPr>
        <p:grpSpPr>
          <a:xfrm>
            <a:off x="8899700" y="3999104"/>
            <a:ext cx="2819400" cy="1633033"/>
            <a:chOff x="8899700" y="3844227"/>
            <a:chExt cx="2906717" cy="2067085"/>
          </a:xfrm>
        </p:grpSpPr>
        <p:pic>
          <p:nvPicPr>
            <p:cNvPr id="1030" name="Picture 6" descr="Nouveau recours contre un appel d&amp;#39;offres d&amp;#39;un secteur de  l&amp;#39;aéroport | 24 heures">
              <a:extLst>
                <a:ext uri="{FF2B5EF4-FFF2-40B4-BE49-F238E27FC236}">
                  <a16:creationId xmlns:a16="http://schemas.microsoft.com/office/drawing/2014/main" id="{3A8F12DE-8A64-84D3-DDD2-A316889177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0364" y="4924855"/>
              <a:ext cx="1442695" cy="986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nfo pratique : collision aviaire, premier danger des avions de ligne | Air  Journal">
              <a:extLst>
                <a:ext uri="{FF2B5EF4-FFF2-40B4-BE49-F238E27FC236}">
                  <a16:creationId xmlns:a16="http://schemas.microsoft.com/office/drawing/2014/main" id="{DE96DAE1-DB65-EF42-374A-196529BDD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9700" y="3844228"/>
              <a:ext cx="1442694" cy="108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Vente Désherbeur LA BALAIN Bionalan 61818 | Scar">
              <a:extLst>
                <a:ext uri="{FF2B5EF4-FFF2-40B4-BE49-F238E27FC236}">
                  <a16:creationId xmlns:a16="http://schemas.microsoft.com/office/drawing/2014/main" id="{6D9BF604-A84F-42CA-18E9-C79CA42E38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63723" y="3844227"/>
              <a:ext cx="1442694" cy="108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EFD696C-AF82-3055-B144-C24DA89AE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73450" y="4944266"/>
              <a:ext cx="1423240" cy="967046"/>
            </a:xfrm>
            <a:prstGeom prst="rect">
              <a:avLst/>
            </a:prstGeom>
          </p:spPr>
        </p:pic>
      </p:grpSp>
      <p:sp>
        <p:nvSpPr>
          <p:cNvPr id="5" name="Ellipse 4">
            <a:extLst>
              <a:ext uri="{FF2B5EF4-FFF2-40B4-BE49-F238E27FC236}">
                <a16:creationId xmlns:a16="http://schemas.microsoft.com/office/drawing/2014/main" id="{E542E61F-D87E-6794-CF17-C795EE257809}"/>
              </a:ext>
            </a:extLst>
          </p:cNvPr>
          <p:cNvSpPr/>
          <p:nvPr/>
        </p:nvSpPr>
        <p:spPr>
          <a:xfrm>
            <a:off x="792934" y="5963060"/>
            <a:ext cx="1880465" cy="583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C5818D-02E3-CC95-3C91-D4AA52EBF683}"/>
              </a:ext>
            </a:extLst>
          </p:cNvPr>
          <p:cNvSpPr/>
          <p:nvPr/>
        </p:nvSpPr>
        <p:spPr>
          <a:xfrm>
            <a:off x="4623640" y="6073096"/>
            <a:ext cx="2088232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BE15D9B-8572-F1FC-EDEE-15194CC2AD9E}"/>
              </a:ext>
            </a:extLst>
          </p:cNvPr>
          <p:cNvSpPr/>
          <p:nvPr/>
        </p:nvSpPr>
        <p:spPr>
          <a:xfrm>
            <a:off x="8944896" y="6109842"/>
            <a:ext cx="2767728" cy="4991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89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5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28059" y="862243"/>
            <a:ext cx="39617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B0F0"/>
                </a:solidFill>
                <a:latin typeface="ArialMT"/>
              </a:rPr>
              <a:t>C’est quoi la sécurité ?</a:t>
            </a:r>
          </a:p>
        </p:txBody>
      </p:sp>
      <p:sp>
        <p:nvSpPr>
          <p:cNvPr id="5" name="Rectangle 4"/>
          <p:cNvSpPr/>
          <p:nvPr/>
        </p:nvSpPr>
        <p:spPr>
          <a:xfrm>
            <a:off x="9048328" y="2357571"/>
            <a:ext cx="2327783" cy="10816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fr-FR" sz="3200" dirty="0">
                <a:solidFill>
                  <a:srgbClr val="FF0000"/>
                </a:solidFill>
                <a:latin typeface="ArialMT"/>
              </a:rPr>
              <a:t>Situations idéales mais irréalistes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3812305" y="1105189"/>
            <a:ext cx="4609492" cy="62041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/>
              <a:t>Zéro accident?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3812305" y="2054955"/>
            <a:ext cx="4609492" cy="62041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/>
              <a:t>Aucun danger?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3791254" y="3096400"/>
            <a:ext cx="4609492" cy="72520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/>
              <a:t>Absence d’erreurs humaines?</a:t>
            </a:r>
          </a:p>
        </p:txBody>
      </p:sp>
      <p:cxnSp>
        <p:nvCxnSpPr>
          <p:cNvPr id="12" name="Connecteur droit 11"/>
          <p:cNvCxnSpPr>
            <a:cxnSpLocks/>
          </p:cNvCxnSpPr>
          <p:nvPr/>
        </p:nvCxnSpPr>
        <p:spPr>
          <a:xfrm flipH="1">
            <a:off x="4475820" y="980728"/>
            <a:ext cx="3240360" cy="30040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cxnSpLocks/>
          </p:cNvCxnSpPr>
          <p:nvPr/>
        </p:nvCxnSpPr>
        <p:spPr>
          <a:xfrm>
            <a:off x="4546485" y="1038908"/>
            <a:ext cx="3169695" cy="29458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4941168"/>
            <a:ext cx="12192000" cy="16561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fr-FR" sz="3200" dirty="0">
                <a:latin typeface="ArialMT"/>
              </a:rPr>
              <a:t>La sécurité est une caractéristique </a:t>
            </a:r>
            <a:r>
              <a:rPr lang="fr-FR" sz="3200" b="1" u="sng" dirty="0">
                <a:latin typeface="ArialMT"/>
              </a:rPr>
              <a:t>dynamique </a:t>
            </a:r>
            <a:r>
              <a:rPr lang="fr-FR" sz="3200" dirty="0">
                <a:latin typeface="ArialMT"/>
              </a:rPr>
              <a:t>du système d’aviation, où les risques de sécurité doivent être </a:t>
            </a:r>
            <a:r>
              <a:rPr lang="fr-FR" sz="3200" b="1" u="sng" dirty="0">
                <a:latin typeface="ArialMT"/>
              </a:rPr>
              <a:t>constamment atténués</a:t>
            </a:r>
          </a:p>
        </p:txBody>
      </p:sp>
      <p:sp>
        <p:nvSpPr>
          <p:cNvPr id="17" name="Flèche vers le bas 16"/>
          <p:cNvSpPr/>
          <p:nvPr/>
        </p:nvSpPr>
        <p:spPr>
          <a:xfrm>
            <a:off x="5807968" y="4252915"/>
            <a:ext cx="648072" cy="479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0" y="-241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</p:spTree>
    <p:extLst>
      <p:ext uri="{BB962C8B-B14F-4D97-AF65-F5344CB8AC3E}">
        <p14:creationId xmlns:p14="http://schemas.microsoft.com/office/powerpoint/2010/main" val="15010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56338" y="841668"/>
            <a:ext cx="956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Atténuation des risques de sécurité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498795"/>
            <a:ext cx="12191999" cy="511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fr-FR" sz="3200" dirty="0">
                <a:latin typeface="ArialMT"/>
              </a:rPr>
              <a:t>Le processus d’atténuation des risques de sécurité </a:t>
            </a:r>
            <a:r>
              <a:rPr lang="fr-FR" sz="3200" b="1" dirty="0">
                <a:latin typeface="ArialMT"/>
              </a:rPr>
              <a:t>s’appuie sur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153" y="2160859"/>
            <a:ext cx="11881319" cy="6480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latin typeface="ArialMT"/>
              </a:rPr>
              <a:t>Une bonne culture de sécurité organisationnelle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E3D72906-347C-4C8F-8AE8-9B3709D01CD5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5E1ED3-427A-C768-E87D-65715F9D70D6}"/>
              </a:ext>
            </a:extLst>
          </p:cNvPr>
          <p:cNvSpPr txBox="1"/>
          <p:nvPr/>
        </p:nvSpPr>
        <p:spPr>
          <a:xfrm>
            <a:off x="479376" y="2959825"/>
            <a:ext cx="6179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dk1"/>
                </a:solidFill>
                <a:latin typeface="ArialMT"/>
              </a:rPr>
              <a:t>conscience de la sécurité,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dk1"/>
                </a:solidFill>
                <a:latin typeface="ArialMT"/>
              </a:rPr>
              <a:t>Responsabilité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dk1"/>
                </a:solidFill>
                <a:latin typeface="ArialMT"/>
              </a:rPr>
              <a:t>engagement</a:t>
            </a:r>
            <a:r>
              <a:rPr lang="fr-FR" b="0" i="0" dirty="0">
                <a:solidFill>
                  <a:srgbClr val="1C1C1C"/>
                </a:solidFill>
                <a:effectLst/>
                <a:latin typeface="avenir-lt-w01_35-light1475496"/>
              </a:rPr>
              <a:t>.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463816-9F02-EF65-FB5C-0E2EC6A7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13" y="2874882"/>
            <a:ext cx="4915586" cy="3496163"/>
          </a:xfrm>
          <a:prstGeom prst="rect">
            <a:avLst/>
          </a:prstGeom>
        </p:spPr>
      </p:pic>
      <p:sp>
        <p:nvSpPr>
          <p:cNvPr id="10" name="Flèche : bas 9">
            <a:extLst>
              <a:ext uri="{FF2B5EF4-FFF2-40B4-BE49-F238E27FC236}">
                <a16:creationId xmlns:a16="http://schemas.microsoft.com/office/drawing/2014/main" id="{271E8D1D-C499-7F55-9B4E-2E20601AF1B1}"/>
              </a:ext>
            </a:extLst>
          </p:cNvPr>
          <p:cNvSpPr/>
          <p:nvPr/>
        </p:nvSpPr>
        <p:spPr>
          <a:xfrm>
            <a:off x="2927648" y="4797152"/>
            <a:ext cx="576064" cy="5620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D583C3C-67E8-6182-993B-35DA1AC4D313}"/>
              </a:ext>
            </a:extLst>
          </p:cNvPr>
          <p:cNvSpPr txBox="1"/>
          <p:nvPr/>
        </p:nvSpPr>
        <p:spPr>
          <a:xfrm>
            <a:off x="576144" y="5892582"/>
            <a:ext cx="6179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chemeClr val="dk1"/>
                </a:solidFill>
                <a:latin typeface="ArialMT"/>
              </a:rPr>
              <a:t>POLITIQUE DE SECURITE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53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8383-56C0-7547-D75D-AC918C3F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F434A2-B890-E7B7-D4C6-508FA15379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AA41AE-4E32-6ED5-778D-066169B33519}"/>
              </a:ext>
            </a:extLst>
          </p:cNvPr>
          <p:cNvSpPr txBox="1"/>
          <p:nvPr/>
        </p:nvSpPr>
        <p:spPr>
          <a:xfrm>
            <a:off x="56338" y="841668"/>
            <a:ext cx="956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Atténuation des risques de sécurité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6A0B9C-80C3-CD87-CE08-72E96F721EBD}"/>
              </a:ext>
            </a:extLst>
          </p:cNvPr>
          <p:cNvSpPr/>
          <p:nvPr/>
        </p:nvSpPr>
        <p:spPr>
          <a:xfrm>
            <a:off x="0" y="1498795"/>
            <a:ext cx="12191999" cy="511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3200" b="1" dirty="0">
                <a:latin typeface="ArialMT"/>
              </a:rPr>
              <a:t>Il comprend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B7E2E-F2B5-6CEE-FEB9-0A0F0E831ACB}"/>
              </a:ext>
            </a:extLst>
          </p:cNvPr>
          <p:cNvSpPr/>
          <p:nvPr/>
        </p:nvSpPr>
        <p:spPr>
          <a:xfrm>
            <a:off x="155340" y="2160859"/>
            <a:ext cx="11881318" cy="6480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latin typeface="ArialMT"/>
              </a:rPr>
              <a:t>1. Des mesures préventives de risques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F402B2F-C443-DC41-B78C-DE12CFAE63E5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D5FEE9-B22D-EA4A-13F7-ADF98EEB3DA1}"/>
              </a:ext>
            </a:extLst>
          </p:cNvPr>
          <p:cNvSpPr txBox="1"/>
          <p:nvPr/>
        </p:nvSpPr>
        <p:spPr>
          <a:xfrm>
            <a:off x="56338" y="3212976"/>
            <a:ext cx="5031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3600" dirty="0">
                <a:solidFill>
                  <a:schemeClr val="dk1"/>
                </a:solidFill>
                <a:latin typeface="ArialMT"/>
              </a:rPr>
              <a:t>mesure prise pour prévenir l’occurrence ou la récurrence d’un événement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E3D20C8-8A77-F185-E145-78441736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91" y="2968379"/>
            <a:ext cx="6504067" cy="338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4228-7C64-DD46-94BC-A0015113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9138D7-E536-E1CA-5CB2-E71D9DCC6F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95C461-4984-DC0B-6819-E175549BD019}"/>
              </a:ext>
            </a:extLst>
          </p:cNvPr>
          <p:cNvSpPr txBox="1"/>
          <p:nvPr/>
        </p:nvSpPr>
        <p:spPr>
          <a:xfrm>
            <a:off x="56338" y="841668"/>
            <a:ext cx="956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Atténuation des risques de sécurité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307CE9-F9C1-2C1C-1A24-B2333E56D7E8}"/>
              </a:ext>
            </a:extLst>
          </p:cNvPr>
          <p:cNvSpPr/>
          <p:nvPr/>
        </p:nvSpPr>
        <p:spPr>
          <a:xfrm>
            <a:off x="0" y="1498795"/>
            <a:ext cx="12191999" cy="511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3200" dirty="0">
                <a:latin typeface="ArialMT"/>
              </a:rPr>
              <a:t>Il </a:t>
            </a:r>
            <a:r>
              <a:rPr lang="fr-FR" sz="3200" b="1" dirty="0">
                <a:latin typeface="ArialMT"/>
              </a:rPr>
              <a:t>comprend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94EEF45-AC23-5A7E-C083-6269D77C8BBF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520238-29B8-85DB-9EF3-0C93F7362E10}"/>
              </a:ext>
            </a:extLst>
          </p:cNvPr>
          <p:cNvSpPr txBox="1"/>
          <p:nvPr/>
        </p:nvSpPr>
        <p:spPr>
          <a:xfrm>
            <a:off x="56338" y="3720584"/>
            <a:ext cx="53195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3600" dirty="0">
                <a:solidFill>
                  <a:schemeClr val="dk1"/>
                </a:solidFill>
                <a:latin typeface="ArialMT"/>
              </a:rPr>
              <a:t>mesure prise pour </a:t>
            </a:r>
            <a:r>
              <a:rPr lang="fr-FR" sz="3600" dirty="0">
                <a:latin typeface="ArialMT"/>
              </a:rPr>
              <a:t> atténuer les effets des événements indésirables</a:t>
            </a:r>
            <a:endParaRPr lang="fr-FR" sz="3600" dirty="0">
              <a:solidFill>
                <a:schemeClr val="dk1"/>
              </a:solidFill>
              <a:latin typeface="Arial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CCA3E-0032-08FD-25C5-619EED1A98A4}"/>
              </a:ext>
            </a:extLst>
          </p:cNvPr>
          <p:cNvSpPr/>
          <p:nvPr/>
        </p:nvSpPr>
        <p:spPr>
          <a:xfrm>
            <a:off x="155340" y="2160859"/>
            <a:ext cx="11881318" cy="6480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3600" dirty="0">
                <a:latin typeface="ArialMT"/>
              </a:rPr>
              <a:t>2. Des défenses réactives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059389-D673-E5AC-D46B-E6052E5A2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91" y="2968379"/>
            <a:ext cx="6504067" cy="338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2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414291"/>
            <a:ext cx="890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52E3482-C551-4DDD-BE95-07BEEEE671B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360334-DE85-7684-047A-97245D8EB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683" y="511506"/>
            <a:ext cx="3152022" cy="383321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5E73AF7-C612-6C97-F53F-0A994A5393EA}"/>
              </a:ext>
            </a:extLst>
          </p:cNvPr>
          <p:cNvSpPr txBox="1"/>
          <p:nvPr/>
        </p:nvSpPr>
        <p:spPr>
          <a:xfrm>
            <a:off x="191344" y="1052736"/>
            <a:ext cx="8904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2800" b="1" dirty="0">
                <a:latin typeface="ArialMT"/>
                <a:cs typeface="Times New Roman" panose="02020603050405020304" pitchFamily="18" charset="0"/>
              </a:rPr>
              <a:t>Ere technique 1900 – 1960 :</a:t>
            </a:r>
          </a:p>
          <a:p>
            <a:r>
              <a:rPr lang="fr-FR" sz="2800" dirty="0">
                <a:latin typeface="ArialMT"/>
                <a:cs typeface="Times New Roman" panose="02020603050405020304" pitchFamily="18" charset="0"/>
              </a:rPr>
              <a:t>Les efforts de la gestion de la sécurité étaient réactifs et essentiellement focalisés sur l’amélioration des moyens techniques</a:t>
            </a:r>
          </a:p>
          <a:p>
            <a:endParaRPr lang="fr-FR" sz="2800" dirty="0">
              <a:latin typeface="ArialMT"/>
              <a:cs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34DA26C-B4E4-EC99-6395-C32464DA7DAA}"/>
              </a:ext>
            </a:extLst>
          </p:cNvPr>
          <p:cNvCxnSpPr>
            <a:cxnSpLocks/>
          </p:cNvCxnSpPr>
          <p:nvPr/>
        </p:nvCxnSpPr>
        <p:spPr>
          <a:xfrm>
            <a:off x="9055683" y="498930"/>
            <a:ext cx="0" cy="60399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67ED21F-2383-07CE-6417-33526BC85612}"/>
              </a:ext>
            </a:extLst>
          </p:cNvPr>
          <p:cNvSpPr txBox="1"/>
          <p:nvPr/>
        </p:nvSpPr>
        <p:spPr>
          <a:xfrm>
            <a:off x="313976" y="2894948"/>
            <a:ext cx="8548623" cy="353943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2800" dirty="0">
                <a:latin typeface="ArialMT"/>
              </a:rPr>
              <a:t>17 septembre 1908 : </a:t>
            </a:r>
          </a:p>
          <a:p>
            <a:r>
              <a:rPr lang="fr-FR" sz="2800" dirty="0">
                <a:latin typeface="ArialMT"/>
              </a:rPr>
              <a:t>le Wright Flyer III, piloté par Orville Wright, est victime d'un accident à la suite de la rupture d'une des hélices en plein vol à Fort Myers, Virginie (États-Unis). </a:t>
            </a:r>
          </a:p>
          <a:p>
            <a:endParaRPr lang="fr-FR" sz="2800" dirty="0">
              <a:latin typeface="ArialMT"/>
            </a:endParaRPr>
          </a:p>
          <a:p>
            <a:r>
              <a:rPr lang="fr-FR" sz="2800" b="1" dirty="0">
                <a:latin typeface="ArialMT"/>
              </a:rPr>
              <a:t>Recommandation d’investigation</a:t>
            </a:r>
          </a:p>
          <a:p>
            <a:r>
              <a:rPr lang="fr-FR" sz="2800" dirty="0">
                <a:latin typeface="ArialMT"/>
              </a:rPr>
              <a:t>Revoir la conception de l’aéronef</a:t>
            </a:r>
          </a:p>
        </p:txBody>
      </p:sp>
    </p:spTree>
    <p:extLst>
      <p:ext uri="{BB962C8B-B14F-4D97-AF65-F5344CB8AC3E}">
        <p14:creationId xmlns:p14="http://schemas.microsoft.com/office/powerpoint/2010/main" val="290063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-1" y="414291"/>
            <a:ext cx="775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52E3482-C551-4DDD-BE95-07BEEEE671B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CA983C-352C-4A01-8055-049782D3D0AB}"/>
              </a:ext>
            </a:extLst>
          </p:cNvPr>
          <p:cNvSpPr txBox="1"/>
          <p:nvPr/>
        </p:nvSpPr>
        <p:spPr>
          <a:xfrm>
            <a:off x="13386" y="943026"/>
            <a:ext cx="8386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MT"/>
                <a:cs typeface="Times New Roman" panose="02020603050405020304" pitchFamily="18" charset="0"/>
              </a:rPr>
              <a:t>2. Ere facteur humain 1970 – 1990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EF5C84-2395-BBBF-18B3-C79A2B0A6816}"/>
              </a:ext>
            </a:extLst>
          </p:cNvPr>
          <p:cNvSpPr txBox="1"/>
          <p:nvPr/>
        </p:nvSpPr>
        <p:spPr>
          <a:xfrm>
            <a:off x="34212" y="1419449"/>
            <a:ext cx="121444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atin typeface="ArialMT"/>
                <a:cs typeface="Times New Roman" panose="02020603050405020304" pitchFamily="18" charset="0"/>
              </a:rPr>
              <a:t>La gestion de la sécurité est étendue à la composante humaine y compris à l’interface homme machine.</a:t>
            </a:r>
            <a:endParaRPr lang="fr-FR" sz="3600" dirty="0"/>
          </a:p>
        </p:txBody>
      </p:sp>
      <p:pic>
        <p:nvPicPr>
          <p:cNvPr id="1026" name="Picture 2" descr="IM SAFE, are you safe? | Review Before Flight">
            <a:extLst>
              <a:ext uri="{FF2B5EF4-FFF2-40B4-BE49-F238E27FC236}">
                <a16:creationId xmlns:a16="http://schemas.microsoft.com/office/drawing/2014/main" id="{91A13AC8-DFD1-51DB-CA6C-2CFA3EE70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3" y="2509876"/>
            <a:ext cx="11702732" cy="409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843C6B7-1A9E-21F1-24A4-8655D04170AE}"/>
              </a:ext>
            </a:extLst>
          </p:cNvPr>
          <p:cNvSpPr txBox="1"/>
          <p:nvPr/>
        </p:nvSpPr>
        <p:spPr>
          <a:xfrm>
            <a:off x="407368" y="2605743"/>
            <a:ext cx="11377264" cy="646331"/>
          </a:xfrm>
          <a:prstGeom prst="rect">
            <a:avLst/>
          </a:prstGeom>
          <a:solidFill>
            <a:srgbClr val="3BA2DB"/>
          </a:solidFill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Exemple : </a:t>
            </a:r>
            <a:r>
              <a:rPr lang="fr-FR" sz="2800" b="1" dirty="0">
                <a:latin typeface="ArialMT"/>
              </a:rPr>
              <a:t>Prise en compte de la fatigue : Capacité des Pilotes</a:t>
            </a:r>
          </a:p>
        </p:txBody>
      </p:sp>
    </p:spTree>
    <p:extLst>
      <p:ext uri="{BB962C8B-B14F-4D97-AF65-F5344CB8AC3E}">
        <p14:creationId xmlns:p14="http://schemas.microsoft.com/office/powerpoint/2010/main" val="317940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3644-9F5B-07A1-95CD-886D4950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3036F2-D5EA-B6BA-CFB8-6DE2E36EB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DDFFF1-FB42-4B63-6D92-68D7ACBEA683}"/>
              </a:ext>
            </a:extLst>
          </p:cNvPr>
          <p:cNvSpPr txBox="1"/>
          <p:nvPr/>
        </p:nvSpPr>
        <p:spPr>
          <a:xfrm>
            <a:off x="-1" y="414291"/>
            <a:ext cx="775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CFB2A78-E35F-DCDF-FAA0-1576898E56C8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7AAA53A-BC74-ECC3-B7B9-5F815C4DFE3E}"/>
              </a:ext>
            </a:extLst>
          </p:cNvPr>
          <p:cNvSpPr txBox="1"/>
          <p:nvPr/>
        </p:nvSpPr>
        <p:spPr>
          <a:xfrm>
            <a:off x="13386" y="943026"/>
            <a:ext cx="8386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MT"/>
                <a:cs typeface="Times New Roman" panose="02020603050405020304" pitchFamily="18" charset="0"/>
              </a:rPr>
              <a:t>2. Ere facteur humain 1970 – 1990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B81FCB-AABB-2CB2-A3A2-F0215C02CAFA}"/>
              </a:ext>
            </a:extLst>
          </p:cNvPr>
          <p:cNvSpPr txBox="1"/>
          <p:nvPr/>
        </p:nvSpPr>
        <p:spPr>
          <a:xfrm>
            <a:off x="34212" y="1419449"/>
            <a:ext cx="121444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atin typeface="ArialMT"/>
                <a:cs typeface="Times New Roman" panose="02020603050405020304" pitchFamily="18" charset="0"/>
              </a:rPr>
              <a:t>La gestion de la sécurité est étendue à la composante humaine y compris à l’interface homme machine.</a:t>
            </a:r>
            <a:endParaRPr lang="fr-FR" sz="36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00416CA-AA3B-5C80-3CB7-EECC5D608A10}"/>
              </a:ext>
            </a:extLst>
          </p:cNvPr>
          <p:cNvSpPr txBox="1"/>
          <p:nvPr/>
        </p:nvSpPr>
        <p:spPr>
          <a:xfrm>
            <a:off x="-24680" y="2605743"/>
            <a:ext cx="10441160" cy="646331"/>
          </a:xfrm>
          <a:prstGeom prst="rect">
            <a:avLst/>
          </a:prstGeom>
          <a:solidFill>
            <a:srgbClr val="3BA2DB"/>
          </a:solidFill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Exemple : </a:t>
            </a:r>
            <a:r>
              <a:rPr lang="fr-FR" sz="2800" b="1" dirty="0">
                <a:latin typeface="ArialMT"/>
              </a:rPr>
              <a:t>Prise en compte de la fatigue (Sommeil ATCO)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AC8CCFC-A3C5-A7AF-53DF-1CBA54B1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4" y="3252074"/>
            <a:ext cx="6696744" cy="3212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6135A89-687A-08CE-75A7-0E13F0E512FA}"/>
              </a:ext>
            </a:extLst>
          </p:cNvPr>
          <p:cNvSpPr txBox="1"/>
          <p:nvPr/>
        </p:nvSpPr>
        <p:spPr>
          <a:xfrm>
            <a:off x="7143059" y="3884370"/>
            <a:ext cx="50355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dirty="0">
                <a:latin typeface="ArialMT"/>
                <a:cs typeface="Times New Roman" panose="02020603050405020304" pitchFamily="18" charset="0"/>
              </a:rPr>
              <a:t>Mais cette approche se concentre sur les individus sans prendre en compte leur organisation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F6CC6B-E7C1-DEAC-1131-60F716BE4A1A}"/>
              </a:ext>
            </a:extLst>
          </p:cNvPr>
          <p:cNvSpPr txBox="1"/>
          <p:nvPr/>
        </p:nvSpPr>
        <p:spPr>
          <a:xfrm>
            <a:off x="1775520" y="3564322"/>
            <a:ext cx="29523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Déficit cumulatif de sommeil (ATC – Rotation rapide vers l’arrière (doc 9966) )</a:t>
            </a:r>
          </a:p>
        </p:txBody>
      </p:sp>
    </p:spTree>
    <p:extLst>
      <p:ext uri="{BB962C8B-B14F-4D97-AF65-F5344CB8AC3E}">
        <p14:creationId xmlns:p14="http://schemas.microsoft.com/office/powerpoint/2010/main" val="109610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414291"/>
            <a:ext cx="8472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52E3482-C551-4DDD-BE95-07BEEEE671B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E73AF7-C612-6C97-F53F-0A994A5393EA}"/>
              </a:ext>
            </a:extLst>
          </p:cNvPr>
          <p:cNvSpPr txBox="1"/>
          <p:nvPr/>
        </p:nvSpPr>
        <p:spPr>
          <a:xfrm>
            <a:off x="31615" y="83264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  <a:cs typeface="Times New Roman" panose="02020603050405020304" pitchFamily="18" charset="0"/>
              </a:rPr>
              <a:t>3. Ere Organisationnelle 1990 – 2000</a:t>
            </a:r>
          </a:p>
          <a:p>
            <a:pPr algn="l"/>
            <a:r>
              <a:rPr lang="fr-FR" sz="3600" b="0" i="0" u="none" strike="noStrike" baseline="0" dirty="0">
                <a:latin typeface="ArialMT"/>
                <a:cs typeface="Times New Roman" panose="02020603050405020304" pitchFamily="18" charset="0"/>
              </a:rPr>
              <a:t>perspective systémique, englobant les facteurs organisationnels ainsi que les facteurs humains et techniques.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C9A0856-434E-139F-12AD-6C7D8BE77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82" y="3005577"/>
            <a:ext cx="679060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9FB497F-2E06-07F3-4FB4-44132CDBB01D}"/>
              </a:ext>
            </a:extLst>
          </p:cNvPr>
          <p:cNvSpPr txBox="1"/>
          <p:nvPr/>
        </p:nvSpPr>
        <p:spPr>
          <a:xfrm>
            <a:off x="7071882" y="2704852"/>
            <a:ext cx="50885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0" i="0" u="none" strike="noStrike" baseline="0" dirty="0">
                <a:latin typeface="ArialMT"/>
                <a:cs typeface="Times New Roman" panose="02020603050405020304" pitchFamily="18" charset="0"/>
              </a:rPr>
              <a:t>l’introduction de la notion </a:t>
            </a:r>
          </a:p>
          <a:p>
            <a:r>
              <a:rPr lang="fr-FR" sz="2800" b="1" i="0" u="none" strike="noStrike" baseline="0" dirty="0">
                <a:latin typeface="ArialMT"/>
                <a:cs typeface="Times New Roman" panose="02020603050405020304" pitchFamily="18" charset="0"/>
              </a:rPr>
              <a:t>« accident organisationnel »</a:t>
            </a:r>
            <a:r>
              <a:rPr lang="fr-FR" sz="2800" dirty="0">
                <a:latin typeface="ArialMT"/>
                <a:cs typeface="Times New Roman" panose="02020603050405020304" pitchFamily="18" charset="0"/>
              </a:rPr>
              <a:t> : incidence de la culture et des politiques organisationnelles sur l’efficacité de la maîtrise des risques de  sécurité</a:t>
            </a:r>
            <a:endParaRPr lang="fr-FR" sz="2800" dirty="0">
              <a:latin typeface="ArialMT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8352D80-7680-72A7-B418-63F255C05749}"/>
              </a:ext>
            </a:extLst>
          </p:cNvPr>
          <p:cNvCxnSpPr>
            <a:cxnSpLocks/>
          </p:cNvCxnSpPr>
          <p:nvPr/>
        </p:nvCxnSpPr>
        <p:spPr>
          <a:xfrm flipH="1">
            <a:off x="7104112" y="2731838"/>
            <a:ext cx="23734" cy="385399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36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414291"/>
            <a:ext cx="9192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52E3482-C551-4DDD-BE95-07BEEEE671B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E73AF7-C612-6C97-F53F-0A994A5393EA}"/>
              </a:ext>
            </a:extLst>
          </p:cNvPr>
          <p:cNvSpPr txBox="1"/>
          <p:nvPr/>
        </p:nvSpPr>
        <p:spPr>
          <a:xfrm>
            <a:off x="0" y="999623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  <a:cs typeface="Times New Roman" panose="02020603050405020304" pitchFamily="18" charset="0"/>
              </a:rPr>
              <a:t>4. Ere système :</a:t>
            </a:r>
          </a:p>
          <a:p>
            <a:r>
              <a:rPr lang="fr-FR" sz="3600" dirty="0">
                <a:latin typeface="ArialMT"/>
                <a:cs typeface="Times New Roman" panose="02020603050405020304" pitchFamily="18" charset="0"/>
              </a:rPr>
              <a:t> Approche visant </a:t>
            </a:r>
            <a:r>
              <a:rPr lang="fr-FR" sz="3600" b="1" dirty="0">
                <a:latin typeface="ArialMT"/>
                <a:cs typeface="Times New Roman" panose="02020603050405020304" pitchFamily="18" charset="0"/>
              </a:rPr>
              <a:t>l’ensemble du système. </a:t>
            </a:r>
            <a:r>
              <a:rPr lang="fr-FR" sz="3600" dirty="0">
                <a:latin typeface="ArialMT"/>
                <a:cs typeface="Times New Roman" panose="02020603050405020304" pitchFamily="18" charset="0"/>
              </a:rPr>
              <a:t>Les </a:t>
            </a:r>
            <a:r>
              <a:rPr lang="fr-FR" sz="3600" b="1" dirty="0">
                <a:latin typeface="ArialMT"/>
                <a:cs typeface="Times New Roman" panose="02020603050405020304" pitchFamily="18" charset="0"/>
              </a:rPr>
              <a:t>interfaces</a:t>
            </a:r>
            <a:r>
              <a:rPr lang="fr-FR" sz="3600" dirty="0">
                <a:latin typeface="ArialMT"/>
                <a:cs typeface="Times New Roman" panose="02020603050405020304" pitchFamily="18" charset="0"/>
              </a:rPr>
              <a:t> entre organisations doivent être prise en compte pour maitriser la sécurité du système aéronautique </a:t>
            </a:r>
          </a:p>
        </p:txBody>
      </p:sp>
      <p:pic>
        <p:nvPicPr>
          <p:cNvPr id="2050" name="Picture 2" descr="Safety Management">
            <a:extLst>
              <a:ext uri="{FF2B5EF4-FFF2-40B4-BE49-F238E27FC236}">
                <a16:creationId xmlns:a16="http://schemas.microsoft.com/office/drawing/2014/main" id="{9C45B60D-095D-6FDF-2F06-D2710B6AC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3182834"/>
            <a:ext cx="3951312" cy="345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D59A4AD-62E6-2A66-5712-83A12D1DE433}"/>
              </a:ext>
            </a:extLst>
          </p:cNvPr>
          <p:cNvSpPr txBox="1"/>
          <p:nvPr/>
        </p:nvSpPr>
        <p:spPr>
          <a:xfrm>
            <a:off x="0" y="3357262"/>
            <a:ext cx="73921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En effet l’évolution de la sécurité a mis en évidence l’importance des interactions entre humains, processus et technologies, et le rôle positif de l’humain dans le système. </a:t>
            </a:r>
          </a:p>
          <a:p>
            <a:endParaRPr lang="fr-FR" sz="2800" dirty="0">
              <a:latin typeface="ArialMT"/>
            </a:endParaRPr>
          </a:p>
          <a:p>
            <a:pPr algn="just"/>
            <a:r>
              <a:rPr lang="fr-FR" sz="2800" dirty="0">
                <a:latin typeface="ArialMT"/>
              </a:rPr>
              <a:t>Elle s’appuie sur une collaboration accrue entre prestataires de services et États</a:t>
            </a:r>
          </a:p>
        </p:txBody>
      </p:sp>
    </p:spTree>
    <p:extLst>
      <p:ext uri="{BB962C8B-B14F-4D97-AF65-F5344CB8AC3E}">
        <p14:creationId xmlns:p14="http://schemas.microsoft.com/office/powerpoint/2010/main" val="166067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414291"/>
            <a:ext cx="10200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Evolution de la gestion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D52E3482-C551-4DDD-BE95-07BEEEE671B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523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6C09EE4-613F-4233-8C4C-3742080B964C}"/>
              </a:ext>
            </a:extLst>
          </p:cNvPr>
          <p:cNvSpPr txBox="1"/>
          <p:nvPr/>
        </p:nvSpPr>
        <p:spPr>
          <a:xfrm>
            <a:off x="1559496" y="5982044"/>
            <a:ext cx="9399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ArialMT"/>
              </a:rPr>
              <a:t>Figure I. </a:t>
            </a:r>
            <a:r>
              <a:rPr lang="fr-FR" sz="2400" dirty="0">
                <a:latin typeface="ArialMT"/>
              </a:rPr>
              <a:t>Evolution de la gestion de la sécurité (c/f doc 9859, </a:t>
            </a:r>
            <a:r>
              <a:rPr lang="fr-FR" sz="2400" dirty="0" err="1">
                <a:latin typeface="ArialMT"/>
              </a:rPr>
              <a:t>ed</a:t>
            </a:r>
            <a:r>
              <a:rPr lang="fr-FR" sz="2400" dirty="0">
                <a:latin typeface="ArialMT"/>
              </a:rPr>
              <a:t> 4)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1645794-0BAD-F505-6042-3C57D6260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318" y="937391"/>
            <a:ext cx="8456138" cy="501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6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CB3C2EF-4F80-49C8-A1F5-D0A1C47EDB65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F9E969B-16BB-56A1-4034-74EC33D1BF94}"/>
              </a:ext>
            </a:extLst>
          </p:cNvPr>
          <p:cNvSpPr txBox="1"/>
          <p:nvPr/>
        </p:nvSpPr>
        <p:spPr>
          <a:xfrm>
            <a:off x="263352" y="1530251"/>
            <a:ext cx="11809312" cy="50783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latin typeface="ArialMT"/>
              </a:rPr>
              <a:t>Les systèmes de l’aviation civile sont protégés par plusieurs couches de défense appelées </a:t>
            </a:r>
            <a:r>
              <a:rPr lang="fr-FR" sz="3600" u="sng" dirty="0">
                <a:solidFill>
                  <a:srgbClr val="0070C0"/>
                </a:solidFill>
                <a:latin typeface="ArialMT"/>
              </a:rPr>
              <a:t>barrières.</a:t>
            </a:r>
          </a:p>
          <a:p>
            <a:pPr algn="just"/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algn="just"/>
            <a:r>
              <a:rPr lang="fr-FR" sz="3600" dirty="0">
                <a:latin typeface="ArialMT"/>
              </a:rPr>
              <a:t>L’industrie aéronautique illustre généralement ce principe de causalité à travers le modèle du </a:t>
            </a:r>
            <a:r>
              <a:rPr lang="fr-FR" sz="3600" b="1" dirty="0">
                <a:latin typeface="ArialMT"/>
              </a:rPr>
              <a:t>« fromage suisse »</a:t>
            </a:r>
            <a:r>
              <a:rPr lang="fr-FR" sz="3600" dirty="0">
                <a:latin typeface="ArialMT"/>
              </a:rPr>
              <a:t> développé par le professeur </a:t>
            </a:r>
            <a:r>
              <a:rPr lang="fr-FR" sz="3600" b="1" dirty="0">
                <a:latin typeface="ArialMT"/>
              </a:rPr>
              <a:t>James Reason, </a:t>
            </a:r>
            <a:r>
              <a:rPr lang="fr-FR" sz="3600" dirty="0">
                <a:latin typeface="ArialMT"/>
              </a:rPr>
              <a:t>qui montre comment les failles présentes dans chaque barrière peuvent s’aligner et conduire à un incident ou à un accident.</a:t>
            </a:r>
            <a:endParaRPr lang="fr-FR" sz="3600" dirty="0">
              <a:solidFill>
                <a:schemeClr val="tx1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2605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8E9A-F19A-9C51-68E9-F0DD33C7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02B15B-2C24-34BB-6CEC-720B8A3369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B502393-8F40-7746-58F9-B9393E272879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EC3C37-348F-1395-2E6C-E2B8964D716B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11776EE-5D31-91DC-AC95-DCF056EB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2EA889-0570-0E54-DBA5-C0B0FD415F35}"/>
              </a:ext>
            </a:extLst>
          </p:cNvPr>
          <p:cNvSpPr txBox="1"/>
          <p:nvPr/>
        </p:nvSpPr>
        <p:spPr>
          <a:xfrm>
            <a:off x="6342711" y="1362798"/>
            <a:ext cx="5833018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Ce modèle  illustre le fait que les accidents découlent de </a:t>
            </a:r>
            <a:r>
              <a:rPr lang="fr-FR" sz="3600" b="1" dirty="0">
                <a:solidFill>
                  <a:schemeClr val="tx1"/>
                </a:solidFill>
                <a:latin typeface="ArialMT"/>
              </a:rPr>
              <a:t>violations successives de multiples </a:t>
            </a:r>
            <a:r>
              <a:rPr lang="fr-FR" sz="3600" dirty="0">
                <a:solidFill>
                  <a:schemeClr val="tx1"/>
                </a:solidFill>
                <a:latin typeface="ArialMT"/>
              </a:rPr>
              <a:t>mécanismes de défense.</a:t>
            </a:r>
          </a:p>
          <a:p>
            <a:pPr algn="just"/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algn="just"/>
            <a:r>
              <a:rPr lang="fr-FR" sz="3600" b="1" dirty="0">
                <a:latin typeface="ArialMT"/>
              </a:rPr>
              <a:t>Organisation → Terrain → Défenses → Accident</a:t>
            </a:r>
            <a:endParaRPr lang="fr-FR" sz="3600" b="1" dirty="0">
              <a:solidFill>
                <a:schemeClr val="tx1"/>
              </a:solidFill>
              <a:latin typeface="ArialM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61EC23A-DFAE-85C9-24A6-261C43F2A5AE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FE706B-5FE4-B8E0-AC60-9E2E940561B1}"/>
              </a:ext>
            </a:extLst>
          </p:cNvPr>
          <p:cNvSpPr txBox="1"/>
          <p:nvPr/>
        </p:nvSpPr>
        <p:spPr>
          <a:xfrm>
            <a:off x="347411" y="4106104"/>
            <a:ext cx="574858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ArialMT"/>
              </a:rPr>
              <a:t>NB : </a:t>
            </a:r>
          </a:p>
          <a:p>
            <a:pPr marL="342900" indent="-342900" algn="just">
              <a:buAutoNum type="arabicPeriod"/>
            </a:pPr>
            <a:r>
              <a:rPr lang="fr-FR" sz="2000" dirty="0">
                <a:latin typeface="ArialMT"/>
              </a:rPr>
              <a:t>Le modèle de Reason n’est pas linaire, il considère plusieurs causes indépendantes.</a:t>
            </a:r>
          </a:p>
          <a:p>
            <a:pPr marL="342900" indent="-342900" algn="just">
              <a:buAutoNum type="arabicPeriod"/>
            </a:pPr>
            <a:endParaRPr lang="fr-FR" sz="2000" dirty="0">
              <a:latin typeface="ArialMT"/>
            </a:endParaRPr>
          </a:p>
          <a:p>
            <a:pPr marL="342900" indent="-342900" algn="just">
              <a:buAutoNum type="arabicPeriod"/>
            </a:pPr>
            <a:r>
              <a:rPr lang="fr-FR" sz="2000" dirty="0">
                <a:latin typeface="ArialMT"/>
              </a:rPr>
              <a:t>Il n’est pas performatif, Il est descriptif.</a:t>
            </a:r>
          </a:p>
        </p:txBody>
      </p:sp>
    </p:spTree>
    <p:extLst>
      <p:ext uri="{BB962C8B-B14F-4D97-AF65-F5344CB8AC3E}">
        <p14:creationId xmlns:p14="http://schemas.microsoft.com/office/powerpoint/2010/main" val="147250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9B87-37FA-8770-DAF3-7529F15D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6FCB4-D5CD-7E41-9239-837BB065FC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75776D2-B212-7EBF-977B-F406CCC4B2FE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182BF32-ADEF-47C2-A289-6720B2C84F50}"/>
              </a:ext>
            </a:extLst>
          </p:cNvPr>
          <p:cNvSpPr txBox="1"/>
          <p:nvPr/>
        </p:nvSpPr>
        <p:spPr>
          <a:xfrm>
            <a:off x="6342711" y="1362798"/>
            <a:ext cx="5833018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Accident organisationnel </a:t>
            </a:r>
            <a:r>
              <a:rPr lang="fr-FR" sz="3600" dirty="0">
                <a:latin typeface="ArialMT"/>
              </a:rPr>
              <a:t>Identifier ces facteurs à l’échelon du système, plutôt que par des efforts localisés, en vue de réduire au minimum les défaillances actives d’individus.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859B1D-DEE9-1F84-7233-7C897EBC4111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EE05B7-A0F4-8571-3649-C9FA3B638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F2EF2D5-4954-0B6F-EF5F-6F0F32E28949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</p:spTree>
    <p:extLst>
      <p:ext uri="{BB962C8B-B14F-4D97-AF65-F5344CB8AC3E}">
        <p14:creationId xmlns:p14="http://schemas.microsoft.com/office/powerpoint/2010/main" val="18293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50F7-9806-6E7B-BE75-289BCF3F6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B25A3F-F553-2412-52F6-181E38274E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CC6569BE-881D-BB9D-FF2B-DCFA8A62D8F8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61EF0C-85EF-1E5E-EDD5-D1463253355D}"/>
              </a:ext>
            </a:extLst>
          </p:cNvPr>
          <p:cNvSpPr txBox="1"/>
          <p:nvPr/>
        </p:nvSpPr>
        <p:spPr>
          <a:xfrm>
            <a:off x="6342711" y="1362798"/>
            <a:ext cx="5833018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Accident organisationnel </a:t>
            </a:r>
            <a:r>
              <a:rPr lang="fr-FR" sz="3600" dirty="0">
                <a:latin typeface="ArialMT"/>
              </a:rPr>
              <a:t>Les grandes catastrophes naissent parfois de petites décisions ordinaires.</a:t>
            </a:r>
          </a:p>
          <a:p>
            <a:endParaRPr lang="fr-FR" sz="3600" dirty="0">
              <a:latin typeface="ArialMT"/>
            </a:endParaRPr>
          </a:p>
          <a:p>
            <a:r>
              <a:rPr lang="fr-FR" sz="3600" dirty="0">
                <a:latin typeface="ArialMT"/>
              </a:rPr>
              <a:t>Chaque choix quotidien est une barrière… ou une faille</a:t>
            </a:r>
          </a:p>
          <a:p>
            <a:endParaRPr lang="fr-FR" sz="3600" dirty="0">
              <a:latin typeface="ArialM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3B46B7-5034-4455-0066-DDDE5CC91003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C335A9-F55D-F6ED-071D-3B5780687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0653975-3CB6-750A-937C-77A7F0F2513E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</p:spTree>
    <p:extLst>
      <p:ext uri="{BB962C8B-B14F-4D97-AF65-F5344CB8AC3E}">
        <p14:creationId xmlns:p14="http://schemas.microsoft.com/office/powerpoint/2010/main" val="115011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CB3C2EF-4F80-49C8-A1F5-D0A1C47EDB65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B4FAAE-1FC3-BFC9-6F9C-822282D6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B15461A-A989-D6BB-C79C-86ECAEFEABC1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FFEC4A-A0F3-441F-0079-FD7A7AE9AB72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6DAD17-7807-A863-3F93-9F14DBD4D20D}"/>
              </a:ext>
            </a:extLst>
          </p:cNvPr>
          <p:cNvSpPr txBox="1"/>
          <p:nvPr/>
        </p:nvSpPr>
        <p:spPr>
          <a:xfrm>
            <a:off x="6342711" y="1362798"/>
            <a:ext cx="5833018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latin typeface="ArialMT"/>
              </a:rPr>
              <a:t>Suivant le model de Reason, l’accident est toujours provoqué par une </a:t>
            </a:r>
            <a:r>
              <a:rPr lang="fr-FR" sz="3600" b="1" dirty="0">
                <a:latin typeface="ArialMT"/>
              </a:rPr>
              <a:t>combinaison </a:t>
            </a:r>
            <a:r>
              <a:rPr lang="fr-FR" sz="3600" dirty="0">
                <a:latin typeface="ArialMT"/>
              </a:rPr>
              <a:t>des 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b="1" dirty="0">
                <a:latin typeface="ArialMT"/>
              </a:rPr>
              <a:t>conditions latentes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3600" b="1" dirty="0">
              <a:latin typeface="ArialM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b="1" dirty="0">
                <a:latin typeface="ArialMT"/>
              </a:rPr>
              <a:t>défaillances actives.</a:t>
            </a:r>
          </a:p>
          <a:p>
            <a:endParaRPr lang="fr-FR" sz="36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2502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0FD3-54DB-1823-6032-7E062858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F2D564-D259-DFE5-8331-332B1C2D65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C0C5672-A93F-ABDB-E298-BB2EFB7FFF17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063412-A4FE-AD94-6525-74EF51C2F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B46A38A-6874-BE12-38A1-8197C71130C9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705EE59-36FB-55F0-552A-CF25E3EE0E25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D1CB3D4-D6F7-DCAC-1BA8-9FBF350A4479}"/>
              </a:ext>
            </a:extLst>
          </p:cNvPr>
          <p:cNvSpPr txBox="1"/>
          <p:nvPr/>
        </p:nvSpPr>
        <p:spPr>
          <a:xfrm>
            <a:off x="6342711" y="1362798"/>
            <a:ext cx="5833018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Conditions latentes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FR" sz="3600" dirty="0">
                <a:latin typeface="ArialMT"/>
              </a:rPr>
              <a:t>conséquence tardive de décisions prises aux niveaux supérieurs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FR" sz="3600" dirty="0">
                <a:latin typeface="ArialMT"/>
              </a:rPr>
              <a:t>peuvent rester dormantes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FR" sz="3600" dirty="0">
                <a:latin typeface="ArialMT"/>
              </a:rPr>
              <a:t>leurs effets sont activés par certaines conditions d’exploitation.</a:t>
            </a:r>
          </a:p>
        </p:txBody>
      </p:sp>
    </p:spTree>
    <p:extLst>
      <p:ext uri="{BB962C8B-B14F-4D97-AF65-F5344CB8AC3E}">
        <p14:creationId xmlns:p14="http://schemas.microsoft.com/office/powerpoint/2010/main" val="5256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8AD2-FD68-C183-6091-9D9B86D8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3DB400-3FDF-679C-FDA0-E265C8EF8F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D8F31D67-ACE0-45A6-C541-F59771416B4E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FD543FB-2BA0-2A85-231D-FD8245012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12B0AAB-2D82-8C1E-6E38-302CA11C101D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9403C4-40E2-2923-A417-153F6C795A24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E97BB6-7E81-E35F-471D-6E90B7B59A53}"/>
              </a:ext>
            </a:extLst>
          </p:cNvPr>
          <p:cNvSpPr txBox="1"/>
          <p:nvPr/>
        </p:nvSpPr>
        <p:spPr>
          <a:xfrm>
            <a:off x="6342711" y="1362798"/>
            <a:ext cx="5833018" cy="50783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Conditions latentes</a:t>
            </a:r>
          </a:p>
          <a:p>
            <a:r>
              <a:rPr lang="fr-FR" sz="3600" b="1" dirty="0">
                <a:latin typeface="ArialMT"/>
              </a:rPr>
              <a:t>Ex : </a:t>
            </a:r>
            <a:r>
              <a:rPr lang="fr-FR" sz="3600" dirty="0">
                <a:latin typeface="ArialMT"/>
              </a:rPr>
              <a:t>AFR 447 (Rio–Paris, 2009) sondes Pitot Airbus A330 connues pour givrer en conditions tropicales.</a:t>
            </a:r>
          </a:p>
          <a:p>
            <a:r>
              <a:rPr lang="fr-FR" sz="3600" b="1" dirty="0">
                <a:latin typeface="ArialMT"/>
              </a:rPr>
              <a:t>Effet :</a:t>
            </a:r>
            <a:r>
              <a:rPr lang="fr-FR" sz="3600" dirty="0">
                <a:latin typeface="ArialMT"/>
              </a:rPr>
              <a:t> perte d’indications de vitesse fiables, entraînant la confusion des pilotes.</a:t>
            </a:r>
          </a:p>
        </p:txBody>
      </p:sp>
    </p:spTree>
    <p:extLst>
      <p:ext uri="{BB962C8B-B14F-4D97-AF65-F5344CB8AC3E}">
        <p14:creationId xmlns:p14="http://schemas.microsoft.com/office/powerpoint/2010/main" val="222201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DAA0-70BC-8814-F4BD-296C713A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4F3E9E-7FCF-5F77-C239-DDDC2DC033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24</a:t>
            </a:fld>
            <a:endParaRPr lang="fr-BE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A148F21-DBF1-CF69-9871-C974ADDEDC83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41EE498-D5ED-9192-8169-E144A49EA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F371F61-388C-BA9F-F847-507DF5ED4BB4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E0D6F11-1A28-05E2-4E45-70CF4233C590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163F025-A7B0-F824-BDA5-2B3E62F407DF}"/>
              </a:ext>
            </a:extLst>
          </p:cNvPr>
          <p:cNvSpPr txBox="1"/>
          <p:nvPr/>
        </p:nvSpPr>
        <p:spPr>
          <a:xfrm>
            <a:off x="6342711" y="1362798"/>
            <a:ext cx="5833018" cy="3970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Défaillances actives  </a:t>
            </a:r>
            <a:r>
              <a:rPr lang="fr-FR" sz="3600" dirty="0">
                <a:latin typeface="ArialMT"/>
              </a:rPr>
              <a:t>actions ou des inactions, y compris des erreurs et des violations de règles, qui ont un effet préjudiciable immédiat.</a:t>
            </a:r>
          </a:p>
          <a:p>
            <a:endParaRPr lang="fr-FR" sz="3600" b="1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3786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C37E-7BC8-6294-CA6F-3A03343D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4F70A2-1E6F-C0EF-6C70-A1F017152B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25</a:t>
            </a:fld>
            <a:endParaRPr lang="fr-BE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DE4CAC8-1463-676F-B174-F23EAD5CDAC9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39A8317-8F29-0F9F-35BC-F361014E8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293799"/>
            <a:ext cx="6199750" cy="459331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CFE154C-AB8F-B866-4CBC-FEE11A047E1D}"/>
              </a:ext>
            </a:extLst>
          </p:cNvPr>
          <p:cNvSpPr txBox="1"/>
          <p:nvPr/>
        </p:nvSpPr>
        <p:spPr>
          <a:xfrm>
            <a:off x="191344" y="5737320"/>
            <a:ext cx="500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Figure II.</a:t>
            </a:r>
            <a:r>
              <a:rPr lang="fr-FR" dirty="0"/>
              <a:t> Modèle de Reason (Doc 9859, édition IV)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511F14C-48B6-D798-31FA-1C071289C36B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65C3626-BEE4-068B-7AF2-16AD55F6BE7A}"/>
              </a:ext>
            </a:extLst>
          </p:cNvPr>
          <p:cNvSpPr txBox="1"/>
          <p:nvPr/>
        </p:nvSpPr>
        <p:spPr>
          <a:xfrm>
            <a:off x="6342711" y="1362798"/>
            <a:ext cx="5833018" cy="50783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Défaillances actives</a:t>
            </a:r>
          </a:p>
          <a:p>
            <a:r>
              <a:rPr lang="fr-FR" sz="3600" b="1" dirty="0">
                <a:latin typeface="ArialMT"/>
              </a:rPr>
              <a:t>Ex : </a:t>
            </a:r>
            <a:r>
              <a:rPr lang="fr-FR" sz="3600" dirty="0">
                <a:latin typeface="ArialMT"/>
              </a:rPr>
              <a:t>AFR 447 (Rio–Paris, 2009) </a:t>
            </a:r>
            <a:endParaRPr lang="fr-FR" sz="3600" b="1" dirty="0">
              <a:latin typeface="ArialMT"/>
            </a:endParaRPr>
          </a:p>
          <a:p>
            <a:r>
              <a:rPr lang="fr-FR" sz="3600" dirty="0">
                <a:latin typeface="ArialMT"/>
              </a:rPr>
              <a:t>Décision de maintenir le CAP malgré la présence d’une zone convective.</a:t>
            </a:r>
          </a:p>
          <a:p>
            <a:r>
              <a:rPr lang="fr-FR" sz="3600" b="1" dirty="0">
                <a:latin typeface="ArialMT"/>
              </a:rPr>
              <a:t>Conséquence : </a:t>
            </a:r>
            <a:r>
              <a:rPr lang="fr-FR" sz="3600" dirty="0">
                <a:latin typeface="ArialMT"/>
              </a:rPr>
              <a:t>Décrochage et chute</a:t>
            </a:r>
            <a:r>
              <a:rPr lang="fr-FR" sz="3600" b="1" dirty="0">
                <a:latin typeface="ArialMT"/>
              </a:rPr>
              <a:t> </a:t>
            </a:r>
            <a:r>
              <a:rPr lang="fr-FR" sz="3600" dirty="0">
                <a:latin typeface="ArialMT"/>
              </a:rPr>
              <a:t>dans l’Atlantique, 228 morts</a:t>
            </a:r>
            <a:r>
              <a:rPr lang="fr-FR" sz="3600" b="1" dirty="0">
                <a:latin typeface="Arial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588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26</a:t>
            </a:fld>
            <a:endParaRPr lang="fr-BE"/>
          </a:p>
        </p:txBody>
      </p:sp>
      <p:sp>
        <p:nvSpPr>
          <p:cNvPr id="5" name="Rectangle 4"/>
          <p:cNvSpPr/>
          <p:nvPr/>
        </p:nvSpPr>
        <p:spPr>
          <a:xfrm>
            <a:off x="155340" y="1460561"/>
            <a:ext cx="11881320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latin typeface="ArialMT"/>
              </a:rPr>
              <a:t>Conditions latentes : </a:t>
            </a:r>
            <a:r>
              <a:rPr lang="fr-FR" sz="2800" dirty="0">
                <a:latin typeface="ArialMT"/>
              </a:rPr>
              <a:t>sont des conditions présentes dans le système d’aviation bien avant que se produise un résultat dommageable. </a:t>
            </a:r>
          </a:p>
          <a:p>
            <a:r>
              <a:rPr lang="fr-FR" sz="2800" dirty="0">
                <a:solidFill>
                  <a:srgbClr val="00B0F0"/>
                </a:solidFill>
                <a:latin typeface="ArialMT"/>
              </a:rPr>
              <a:t>Initialement, </a:t>
            </a:r>
            <a:r>
              <a:rPr lang="fr-FR" sz="2800" dirty="0">
                <a:latin typeface="ArialMT"/>
              </a:rPr>
              <a:t>elles ne sont pas perçues comme danger elles deviendront évidentes après la rupture des défenses du système.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717DDDF-BF72-4CBF-9F95-E81A9435102E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633AC-1CA1-363F-EC08-A2D17DB03FAF}"/>
              </a:ext>
            </a:extLst>
          </p:cNvPr>
          <p:cNvSpPr/>
          <p:nvPr/>
        </p:nvSpPr>
        <p:spPr>
          <a:xfrm>
            <a:off x="146349" y="3581557"/>
            <a:ext cx="11881320" cy="26776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ArialMT"/>
              </a:rPr>
              <a:t>Quelques exemples de conditions latentes :</a:t>
            </a:r>
          </a:p>
          <a:p>
            <a:pPr marL="514350" indent="-514350">
              <a:buAutoNum type="arabicPeriod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Formation inadéquate;</a:t>
            </a:r>
          </a:p>
          <a:p>
            <a:pPr marL="514350" indent="-514350">
              <a:buAutoNum type="arabicPeriod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Procédures opérationnelles incomplètes ou incorrectes;</a:t>
            </a:r>
          </a:p>
          <a:p>
            <a:pPr marL="514350" indent="-514350">
              <a:buAutoNum type="arabicPeriod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Règlementation incorrecte ou inadéquate;</a:t>
            </a:r>
          </a:p>
          <a:p>
            <a:pPr marL="514350" indent="-514350">
              <a:buAutoNum type="arabicPeriod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Défaut de conception d’équipement;</a:t>
            </a:r>
          </a:p>
          <a:p>
            <a:pPr marL="514350" indent="-514350">
              <a:buAutoNum type="arabicPeriod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Sous-effectif, environnement de travail dégradé.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D93592F-EE6D-8E91-BF81-4E772D60FD96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</p:spTree>
    <p:extLst>
      <p:ext uri="{BB962C8B-B14F-4D97-AF65-F5344CB8AC3E}">
        <p14:creationId xmlns:p14="http://schemas.microsoft.com/office/powerpoint/2010/main" val="353660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27</a:t>
            </a:fld>
            <a:endParaRPr lang="fr-BE"/>
          </a:p>
        </p:txBody>
      </p:sp>
      <p:sp>
        <p:nvSpPr>
          <p:cNvPr id="3" name="ZoneTexte 2"/>
          <p:cNvSpPr txBox="1"/>
          <p:nvPr/>
        </p:nvSpPr>
        <p:spPr>
          <a:xfrm>
            <a:off x="119336" y="1410071"/>
            <a:ext cx="11881320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ArialMT"/>
              </a:rPr>
              <a:t>Défaillances actives : </a:t>
            </a:r>
            <a:r>
              <a:rPr lang="fr-FR" sz="2800" dirty="0">
                <a:latin typeface="ArialMT"/>
              </a:rPr>
              <a:t>sont des actions ou des inactions, incluant </a:t>
            </a:r>
            <a:r>
              <a:rPr lang="fr-FR" sz="2800" b="1" dirty="0">
                <a:latin typeface="ArialMT"/>
              </a:rPr>
              <a:t>erreurs</a:t>
            </a:r>
            <a:r>
              <a:rPr lang="fr-FR" sz="2800" dirty="0">
                <a:latin typeface="ArialMT"/>
              </a:rPr>
              <a:t> et </a:t>
            </a:r>
            <a:r>
              <a:rPr lang="fr-FR" sz="2800" b="1" dirty="0">
                <a:latin typeface="ArialMT"/>
              </a:rPr>
              <a:t>violations</a:t>
            </a:r>
            <a:r>
              <a:rPr lang="fr-FR" sz="2800" dirty="0">
                <a:latin typeface="ArialMT"/>
              </a:rPr>
              <a:t>, qui ont un effet adverse immédiat.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336" y="3021436"/>
            <a:ext cx="11881320" cy="3108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ArialMT"/>
              </a:rPr>
              <a:t>Erreur vs Violation : </a:t>
            </a:r>
          </a:p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Elles relèvent toutes deux des acteurs de première ligne (en contact direct avec l’aéronef).</a:t>
            </a:r>
          </a:p>
          <a:p>
            <a:r>
              <a:rPr lang="fr-FR" sz="2800" dirty="0">
                <a:latin typeface="ArialMT"/>
              </a:rPr>
              <a:t>Elles sont différenciées en fonction de l’élément motivationnel et de l’intention de l’acteur :</a:t>
            </a:r>
          </a:p>
          <a:p>
            <a:r>
              <a:rPr lang="fr-FR" sz="2800" dirty="0">
                <a:solidFill>
                  <a:srgbClr val="00B0F0"/>
                </a:solidFill>
                <a:latin typeface="ArialMT"/>
              </a:rPr>
              <a:t>Erreur :</a:t>
            </a:r>
            <a:r>
              <a:rPr lang="fr-FR" sz="2800" dirty="0">
                <a:latin typeface="ArialMT"/>
              </a:rPr>
              <a:t> non intentionnelle (voir diapo suivante);</a:t>
            </a:r>
          </a:p>
          <a:p>
            <a:r>
              <a:rPr lang="fr-FR" sz="2800" dirty="0">
                <a:solidFill>
                  <a:srgbClr val="00B0F0"/>
                </a:solidFill>
                <a:latin typeface="ArialMT"/>
              </a:rPr>
              <a:t>Violation : </a:t>
            </a:r>
            <a:r>
              <a:rPr lang="fr-FR" sz="2800" dirty="0">
                <a:latin typeface="ArialMT"/>
              </a:rPr>
              <a:t>intentionnelle (voir diapo 32).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717DDDF-BF72-4CBF-9F95-E81A9435102E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7022BE1-2842-5CDE-B1BB-239027B6E0F2}"/>
              </a:ext>
            </a:extLst>
          </p:cNvPr>
          <p:cNvSpPr txBox="1"/>
          <p:nvPr/>
        </p:nvSpPr>
        <p:spPr>
          <a:xfrm>
            <a:off x="11872" y="751348"/>
            <a:ext cx="98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Causalité des incidents et accidents </a:t>
            </a:r>
          </a:p>
        </p:txBody>
      </p:sp>
    </p:spTree>
    <p:extLst>
      <p:ext uri="{BB962C8B-B14F-4D97-AF65-F5344CB8AC3E}">
        <p14:creationId xmlns:p14="http://schemas.microsoft.com/office/powerpoint/2010/main" val="337033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28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30349" y="618777"/>
            <a:ext cx="315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Erreurs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" y="3573016"/>
            <a:ext cx="12192000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latin typeface="ArialMT"/>
              </a:rPr>
              <a:t>Déviation/raté (Slips) et Oubli (Lapses) : Erreur d’exécution</a:t>
            </a:r>
          </a:p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Mauvaise application des règles ou défaillance de mémoire conduisant à sauter une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13176"/>
            <a:ext cx="12191999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rgbClr val="FF0000"/>
                </a:solidFill>
                <a:latin typeface="ArialMT"/>
              </a:rPr>
              <a:t>Mistakes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 : Erreur de planification/jugement</a:t>
            </a:r>
          </a:p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Il s’agit d’une erreur dans le planning, le processus ou la procédure à appliquer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223792" y="2809860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2 catégories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8677FC-4B14-469B-90BF-44050106FCC2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8A848B1-07FC-4E1D-B4FA-DF6986A83D4C}"/>
              </a:ext>
            </a:extLst>
          </p:cNvPr>
          <p:cNvSpPr txBox="1"/>
          <p:nvPr/>
        </p:nvSpPr>
        <p:spPr>
          <a:xfrm>
            <a:off x="14104" y="1124744"/>
            <a:ext cx="121920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3600" b="0" i="0" u="none" strike="noStrike" baseline="0" dirty="0">
                <a:latin typeface="ArialMT"/>
              </a:rPr>
              <a:t>Action ou inaction d’une personne en fonction, conduisant à des écarts par rapport aux intentions ou aux attentes de l’organisation ou de cette personne.</a:t>
            </a:r>
          </a:p>
          <a:p>
            <a:pPr algn="just"/>
            <a:r>
              <a:rPr lang="fr-FR" sz="3600" i="1" dirty="0">
                <a:latin typeface="ArialMT"/>
              </a:rPr>
              <a:t>(c/f doc 9859)</a:t>
            </a:r>
          </a:p>
        </p:txBody>
      </p:sp>
    </p:spTree>
    <p:extLst>
      <p:ext uri="{BB962C8B-B14F-4D97-AF65-F5344CB8AC3E}">
        <p14:creationId xmlns:p14="http://schemas.microsoft.com/office/powerpoint/2010/main" val="22295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29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30349" y="618777"/>
            <a:ext cx="175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Erreurs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8677FC-4B14-469B-90BF-44050106FCC2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4F2EA65-095F-4078-963C-F2B9925E59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713343"/>
              </p:ext>
            </p:extLst>
          </p:nvPr>
        </p:nvGraphicFramePr>
        <p:xfrm>
          <a:off x="119336" y="880387"/>
          <a:ext cx="7056784" cy="5538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506A52E9-84B3-32EC-BDEE-5170F1F86733}"/>
              </a:ext>
            </a:extLst>
          </p:cNvPr>
          <p:cNvSpPr txBox="1"/>
          <p:nvPr/>
        </p:nvSpPr>
        <p:spPr>
          <a:xfrm>
            <a:off x="7272808" y="869761"/>
            <a:ext cx="4799856" cy="55338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b="1" kern="1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Slips ou Laps?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Régler le mauvais bouton (sélectionner 1013 hPa au lieu de QNH local).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Ne pas activer l’</a:t>
            </a:r>
            <a:r>
              <a:rPr lang="fr-FR" sz="2400" kern="100" dirty="0" err="1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anti-ice</a:t>
            </a: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 en conditions givrantes</a:t>
            </a:r>
            <a:r>
              <a:rPr lang="fr-FR" sz="2400" dirty="0"/>
              <a:t>.</a:t>
            </a:r>
            <a:endParaRPr lang="fr-FR" sz="2400" kern="100" dirty="0">
              <a:effectLst/>
              <a:latin typeface="Arial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Saisir une mauvaise fréquence radio (126.7 au lieu de 127.6)</a:t>
            </a:r>
          </a:p>
          <a:p>
            <a:pPr>
              <a:buNone/>
            </a:pPr>
            <a:endParaRPr lang="fr-FR" sz="2400" dirty="0">
              <a:latin typeface="Arial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Sauter une étape lors de l’inspection journalière (ex. inspection du RESA non effectuée)..</a:t>
            </a:r>
          </a:p>
        </p:txBody>
      </p:sp>
    </p:spTree>
    <p:extLst>
      <p:ext uri="{BB962C8B-B14F-4D97-AF65-F5344CB8AC3E}">
        <p14:creationId xmlns:p14="http://schemas.microsoft.com/office/powerpoint/2010/main" val="296309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30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30349" y="618777"/>
            <a:ext cx="175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Erreurs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8677FC-4B14-469B-90BF-44050106FCC2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ABA6465-202D-4F3A-A276-387B03CBD0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127331"/>
              </p:ext>
            </p:extLst>
          </p:nvPr>
        </p:nvGraphicFramePr>
        <p:xfrm>
          <a:off x="85259" y="1022350"/>
          <a:ext cx="6226765" cy="521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A94319CF-E61B-361D-600C-A3BD3B2274B3}"/>
              </a:ext>
            </a:extLst>
          </p:cNvPr>
          <p:cNvSpPr txBox="1"/>
          <p:nvPr/>
        </p:nvSpPr>
        <p:spPr>
          <a:xfrm>
            <a:off x="6442789" y="849919"/>
            <a:ext cx="5663952" cy="527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b="1" kern="1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Erreur Procédure/Connaissance?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Interpréter un NOTAM de manière erronée (ex. considérer qu’une piste est disponible alors qu’elle est fermée).</a:t>
            </a:r>
            <a:r>
              <a:rPr lang="fr-FR" sz="2400" kern="100" dirty="0">
                <a:effectLst/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Un responsable sécurité pense qu’un balisage est fiable et écarte les signalements de pannes comme anecdotiques.</a:t>
            </a:r>
          </a:p>
          <a:p>
            <a:pPr>
              <a:buNone/>
            </a:pPr>
            <a:r>
              <a:rPr lang="fr-FR" sz="2400" kern="100" dirty="0">
                <a:latin typeface="ArialMT"/>
                <a:ea typeface="Calibri" panose="020F0502020204030204" pitchFamily="34" charset="0"/>
                <a:cs typeface="Times New Roman" panose="02020603050405020304" pitchFamily="18" charset="0"/>
              </a:rPr>
              <a:t>Le contrôleur surveille attentivement un vol en conflit potentiel et néglige d’autres trafics en convergence plus lointaine.</a:t>
            </a:r>
          </a:p>
        </p:txBody>
      </p:sp>
    </p:spTree>
    <p:extLst>
      <p:ext uri="{BB962C8B-B14F-4D97-AF65-F5344CB8AC3E}">
        <p14:creationId xmlns:p14="http://schemas.microsoft.com/office/powerpoint/2010/main" val="163030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31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85775" y="830098"/>
            <a:ext cx="175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Erreurs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" y="2974733"/>
            <a:ext cx="12176926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Il est reconnu que quelque soit les dispositions réglementaires,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les procédures,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 le niveau de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 formation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et les solutions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techniques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 dans le système, les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 erreurs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humaines continueront à être enregistrées.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37116"/>
            <a:ext cx="12176927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Ainsi la gestion de la sécurité doit mettre en place un mécanisme pour :</a:t>
            </a:r>
          </a:p>
          <a:p>
            <a:pPr marL="457200" indent="-457200">
              <a:buFontTx/>
              <a:buChar char="-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Réduire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la probabilité d’occurrence 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des erreurs;</a:t>
            </a:r>
          </a:p>
          <a:p>
            <a:pPr marL="457200" indent="-457200">
              <a:buFontTx/>
              <a:buChar char="-"/>
            </a:pPr>
            <a:r>
              <a:rPr lang="fr-FR" sz="2800" dirty="0">
                <a:solidFill>
                  <a:schemeClr val="tx1"/>
                </a:solidFill>
                <a:latin typeface="ArialMT"/>
              </a:rPr>
              <a:t>Réduire leurs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conséquences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 en cas d’occurrence.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4348C88-A10E-43F0-8448-1F13E12B3686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I. CONCEPTS DE MANAGEMENT DE  SÉCURITÉ</a:t>
            </a:r>
          </a:p>
        </p:txBody>
      </p:sp>
      <p:pic>
        <p:nvPicPr>
          <p:cNvPr id="1026" name="Picture 2" descr="Seneca - &quot;errare humanum est, sed perseverare diabolicum... | 99stuffs">
            <a:extLst>
              <a:ext uri="{FF2B5EF4-FFF2-40B4-BE49-F238E27FC236}">
                <a16:creationId xmlns:a16="http://schemas.microsoft.com/office/drawing/2014/main" id="{6449F337-E9D6-4BA4-9E7F-ABBC5C61B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639" y="728430"/>
            <a:ext cx="6351682" cy="204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3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4D41-B323-6155-6BED-5E4259FD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D49049-A9BB-DF54-DDC3-F0626831F7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32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7DD16C-140C-CD37-DEE7-B771B910FFC9}"/>
              </a:ext>
            </a:extLst>
          </p:cNvPr>
          <p:cNvSpPr txBox="1"/>
          <p:nvPr/>
        </p:nvSpPr>
        <p:spPr>
          <a:xfrm>
            <a:off x="54051" y="725370"/>
            <a:ext cx="1122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Violation : </a:t>
            </a:r>
            <a:r>
              <a:rPr lang="fr-FR" sz="3600" b="1" dirty="0">
                <a:latin typeface="ArialMT"/>
              </a:rPr>
              <a:t>Erreur de jugement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ou sabotage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AE94EA-E48D-6676-ABFB-6D6911AC9A6A}"/>
              </a:ext>
            </a:extLst>
          </p:cNvPr>
          <p:cNvSpPr txBox="1"/>
          <p:nvPr/>
        </p:nvSpPr>
        <p:spPr>
          <a:xfrm>
            <a:off x="203899" y="3305156"/>
            <a:ext cx="1180931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latin typeface="ArialMT"/>
              </a:rPr>
              <a:t>S’écarter volontairement des normes, en pensant bien faire. </a:t>
            </a:r>
          </a:p>
          <a:p>
            <a:r>
              <a:rPr lang="fr-FR" sz="3600" dirty="0">
                <a:latin typeface="ArialMT"/>
              </a:rPr>
              <a:t>De telles violations relèvent d’une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erreur de jugement</a:t>
            </a:r>
            <a:r>
              <a:rPr lang="fr-FR" sz="3600" dirty="0">
                <a:latin typeface="ArialMT"/>
              </a:rPr>
              <a:t> et ne conduisent pas automatiquement à des mesures disciplinaires, selon les politiques en vigueur.</a:t>
            </a:r>
            <a:endParaRPr lang="fr-FR" sz="3600" dirty="0">
              <a:solidFill>
                <a:schemeClr val="tx1"/>
              </a:solidFill>
              <a:latin typeface="ArialMT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F6358A4-2080-33F8-7322-1F0C3AE35ED2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6CAEB8-144E-A7DC-7E5E-A0CFC7F5B4AD}"/>
              </a:ext>
            </a:extLst>
          </p:cNvPr>
          <p:cNvSpPr txBox="1"/>
          <p:nvPr/>
        </p:nvSpPr>
        <p:spPr>
          <a:xfrm>
            <a:off x="191344" y="1428183"/>
            <a:ext cx="11809312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fr-FR"/>
            </a:defPPr>
            <a:lvl1pPr>
              <a:defRPr sz="2800">
                <a:solidFill>
                  <a:srgbClr val="FF0000"/>
                </a:solidFill>
                <a:latin typeface="ArialMT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sz="3600" dirty="0">
                <a:solidFill>
                  <a:schemeClr val="tx1"/>
                </a:solidFill>
              </a:rPr>
              <a:t>Une violation est un acte ou une omission </a:t>
            </a:r>
            <a:r>
              <a:rPr lang="fr-FR" sz="3600" b="1" dirty="0">
                <a:solidFill>
                  <a:schemeClr val="tx1"/>
                </a:solidFill>
              </a:rPr>
              <a:t>délibérée</a:t>
            </a:r>
            <a:r>
              <a:rPr lang="fr-FR" sz="3600" dirty="0">
                <a:solidFill>
                  <a:schemeClr val="tx1"/>
                </a:solidFill>
              </a:rPr>
              <a:t> visant à s’écarter des </a:t>
            </a:r>
            <a:r>
              <a:rPr lang="fr-FR" sz="3600" b="1" dirty="0">
                <a:solidFill>
                  <a:schemeClr val="tx1"/>
                </a:solidFill>
              </a:rPr>
              <a:t>procédures, protocoles, normes </a:t>
            </a:r>
            <a:r>
              <a:rPr lang="fr-FR" sz="3600" dirty="0">
                <a:solidFill>
                  <a:schemeClr val="tx1"/>
                </a:solidFill>
              </a:rPr>
              <a:t>ou pratiques établis.</a:t>
            </a:r>
          </a:p>
        </p:txBody>
      </p:sp>
    </p:spTree>
    <p:extLst>
      <p:ext uri="{BB962C8B-B14F-4D97-AF65-F5344CB8AC3E}">
        <p14:creationId xmlns:p14="http://schemas.microsoft.com/office/powerpoint/2010/main" val="143349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33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54051" y="725370"/>
            <a:ext cx="258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Violation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91344" y="4005064"/>
            <a:ext cx="11809312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FF0000"/>
                </a:solidFill>
                <a:latin typeface="ArialMT"/>
              </a:rPr>
              <a:t>1. Violations situationnelles :</a:t>
            </a:r>
          </a:p>
          <a:p>
            <a:r>
              <a:rPr lang="fr-FR" sz="3600" dirty="0">
                <a:solidFill>
                  <a:schemeClr val="tx1"/>
                </a:solidFill>
                <a:latin typeface="ArialMT"/>
              </a:rPr>
              <a:t>Commises en réaction à des facteurs rencontrés dans un contexte particulier ( contraintes de temps, forte charge de travail…)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91344" y="118090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rialMT"/>
              </a:rPr>
              <a:t>3 catégories d’erreur de jugement 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108D0526-B15B-4FA1-8B97-B5C367FCEDF8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C4F130F-CBEF-75BC-F31D-CE071B421687}"/>
              </a:ext>
            </a:extLst>
          </p:cNvPr>
          <p:cNvSpPr txBox="1"/>
          <p:nvPr/>
        </p:nvSpPr>
        <p:spPr>
          <a:xfrm>
            <a:off x="3719736" y="1819322"/>
            <a:ext cx="6200192" cy="169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solidFill>
                  <a:srgbClr val="FF0000"/>
                </a:solidFill>
                <a:latin typeface="ArialMT"/>
              </a:rPr>
              <a:t>Violations situationnelles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solidFill>
                  <a:srgbClr val="FF0000"/>
                </a:solidFill>
                <a:latin typeface="ArialMT"/>
              </a:rPr>
              <a:t>Violations de routine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solidFill>
                  <a:srgbClr val="FF0000"/>
                </a:solidFill>
                <a:latin typeface="ArialMT"/>
              </a:rPr>
              <a:t>Violations induites par l’organisation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26082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56F2-EEA0-70B3-063E-2A90AFB6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795E52-780E-07EC-DB6B-DEB6E846CC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34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DA9022-88C0-266F-D99B-002E1A2830F7}"/>
              </a:ext>
            </a:extLst>
          </p:cNvPr>
          <p:cNvSpPr txBox="1"/>
          <p:nvPr/>
        </p:nvSpPr>
        <p:spPr>
          <a:xfrm>
            <a:off x="54051" y="725370"/>
            <a:ext cx="258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Violation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B46631-73A2-9DCE-4A6D-2A2DCDA61060}"/>
              </a:ext>
            </a:extLst>
          </p:cNvPr>
          <p:cNvSpPr txBox="1"/>
          <p:nvPr/>
        </p:nvSpPr>
        <p:spPr>
          <a:xfrm>
            <a:off x="194455" y="1784440"/>
            <a:ext cx="1180931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FF0000"/>
                </a:solidFill>
                <a:latin typeface="ArialMT"/>
              </a:rPr>
              <a:t>1. Violations situationnelles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0FB903-3440-C13C-8534-1627936D838D}"/>
              </a:ext>
            </a:extLst>
          </p:cNvPr>
          <p:cNvSpPr/>
          <p:nvPr/>
        </p:nvSpPr>
        <p:spPr>
          <a:xfrm>
            <a:off x="191344" y="2517921"/>
            <a:ext cx="11809312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solidFill>
                  <a:srgbClr val="FF0000"/>
                </a:solidFill>
                <a:latin typeface="ArialMT"/>
              </a:rPr>
              <a:t>2. Violations de routine :</a:t>
            </a:r>
          </a:p>
          <a:p>
            <a:pPr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Deviennent la façon d’agir normale au sein d’un groupe. Elles sont commises lorsque la conformité aux procédures établies est difficile.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2309BC-58EB-25DD-AE88-42BD2D8B60F1}"/>
              </a:ext>
            </a:extLst>
          </p:cNvPr>
          <p:cNvSpPr txBox="1"/>
          <p:nvPr/>
        </p:nvSpPr>
        <p:spPr>
          <a:xfrm>
            <a:off x="4079776" y="1009021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3 catégories</a:t>
            </a:r>
            <a:endParaRPr lang="fr-FR" sz="3600" b="1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906715-616E-8D01-7EFF-7890587DB67D}"/>
              </a:ext>
            </a:extLst>
          </p:cNvPr>
          <p:cNvSpPr/>
          <p:nvPr/>
        </p:nvSpPr>
        <p:spPr>
          <a:xfrm>
            <a:off x="191344" y="5036506"/>
            <a:ext cx="11809312" cy="12003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Elles peuvent se poursuivre sans conséquences, mais peuvent devenir fréquentes et entraîner des événements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B6BAB087-D2FD-F724-64FF-3EE3DDE341E5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</p:spTree>
    <p:extLst>
      <p:ext uri="{BB962C8B-B14F-4D97-AF65-F5344CB8AC3E}">
        <p14:creationId xmlns:p14="http://schemas.microsoft.com/office/powerpoint/2010/main" val="266855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2063-4F60-DFAD-4501-7FF02097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678947-854E-3604-C54D-7D3FB6F7AB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35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BBDE6A-84E9-0F18-0C02-75D437F97CE7}"/>
              </a:ext>
            </a:extLst>
          </p:cNvPr>
          <p:cNvSpPr txBox="1"/>
          <p:nvPr/>
        </p:nvSpPr>
        <p:spPr>
          <a:xfrm>
            <a:off x="54051" y="725370"/>
            <a:ext cx="258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Violation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02171C7-59C9-4104-BDCB-54A9E4AC6D99}"/>
              </a:ext>
            </a:extLst>
          </p:cNvPr>
          <p:cNvSpPr txBox="1"/>
          <p:nvPr/>
        </p:nvSpPr>
        <p:spPr>
          <a:xfrm>
            <a:off x="194455" y="1784440"/>
            <a:ext cx="1180931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FF0000"/>
                </a:solidFill>
                <a:latin typeface="ArialMT"/>
              </a:rPr>
              <a:t>1. Violations situationnelles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AC05D-C092-72CD-49A8-F5F1F7BA4C66}"/>
              </a:ext>
            </a:extLst>
          </p:cNvPr>
          <p:cNvSpPr/>
          <p:nvPr/>
        </p:nvSpPr>
        <p:spPr>
          <a:xfrm>
            <a:off x="191344" y="2517921"/>
            <a:ext cx="1180931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solidFill>
                  <a:srgbClr val="FF0000"/>
                </a:solidFill>
                <a:latin typeface="ArialMT"/>
              </a:rPr>
              <a:t>2. Violations de routine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E87E33-6997-A256-F618-2BA169AC3C5A}"/>
              </a:ext>
            </a:extLst>
          </p:cNvPr>
          <p:cNvSpPr txBox="1"/>
          <p:nvPr/>
        </p:nvSpPr>
        <p:spPr>
          <a:xfrm>
            <a:off x="4079776" y="1009021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3 catégories</a:t>
            </a:r>
            <a:endParaRPr lang="fr-FR" sz="3600" b="1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0E7C6C8-A0AB-CBE6-794D-A233906770D2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EA92D-F251-50DC-E684-D43F68F20E18}"/>
              </a:ext>
            </a:extLst>
          </p:cNvPr>
          <p:cNvSpPr/>
          <p:nvPr/>
        </p:nvSpPr>
        <p:spPr>
          <a:xfrm>
            <a:off x="180256" y="3305156"/>
            <a:ext cx="1179697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600" dirty="0">
                <a:solidFill>
                  <a:srgbClr val="FF0000"/>
                </a:solidFill>
                <a:latin typeface="ArialMT"/>
              </a:rPr>
              <a:t>3. Violations induites par l’organisation: </a:t>
            </a:r>
            <a:r>
              <a:rPr lang="fr-FR" sz="3600" dirty="0">
                <a:solidFill>
                  <a:schemeClr val="tx1"/>
                </a:solidFill>
                <a:latin typeface="ArialMT"/>
              </a:rPr>
              <a:t>Extension des violations de routine. </a:t>
            </a:r>
          </a:p>
          <a:p>
            <a:pPr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se produit lorsqu’une organisation tente de répondre à des exigences de rendement accru en ignorant ses défenses de sécurité ou en les étirant.</a:t>
            </a:r>
          </a:p>
        </p:txBody>
      </p:sp>
    </p:spTree>
    <p:extLst>
      <p:ext uri="{BB962C8B-B14F-4D97-AF65-F5344CB8AC3E}">
        <p14:creationId xmlns:p14="http://schemas.microsoft.com/office/powerpoint/2010/main" val="173491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0D5B-4CB4-EE33-C0F3-5A921325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D8F65C-2E45-A588-A768-CDC7F0E3F3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36</a:t>
            </a:fld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FB3EAD9-1056-73E3-A7B4-9373738C795A}"/>
              </a:ext>
            </a:extLst>
          </p:cNvPr>
          <p:cNvSpPr txBox="1"/>
          <p:nvPr/>
        </p:nvSpPr>
        <p:spPr>
          <a:xfrm>
            <a:off x="62842" y="689789"/>
            <a:ext cx="1122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Violation : </a:t>
            </a:r>
            <a:r>
              <a:rPr lang="fr-FR" sz="3600" b="1" dirty="0">
                <a:latin typeface="ArialMT"/>
              </a:rPr>
              <a:t>Erreur de jugement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ou sabotage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81ABDC84-D9CD-1A20-6CA9-51D1D990D1AF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698DF01-13C7-0315-7333-7851BE985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07" y="1364933"/>
            <a:ext cx="11377264" cy="496260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968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37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47150" y="947164"/>
            <a:ext cx="446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Dérive pratique</a:t>
            </a: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50" y="1623922"/>
            <a:ext cx="4032626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/>
                </a:solidFill>
                <a:latin typeface="ArialMT"/>
              </a:rPr>
              <a:t>Tout système est conçu pour fonctionner selon une performance de référence.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D561BD-FEBA-C019-21A9-73A9B96155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1655489"/>
            <a:ext cx="7633026" cy="45512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C7248A9-9DAC-BB21-5167-87E952B3D53D}"/>
              </a:ext>
            </a:extLst>
          </p:cNvPr>
          <p:cNvSpPr txBox="1"/>
          <p:nvPr/>
        </p:nvSpPr>
        <p:spPr>
          <a:xfrm>
            <a:off x="5087888" y="4486244"/>
            <a:ext cx="6172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>
                <a:latin typeface="ArialMT"/>
              </a:rPr>
              <a:t>C</a:t>
            </a:r>
            <a:r>
              <a:rPr lang="fr-FR" sz="2400" dirty="0">
                <a:solidFill>
                  <a:schemeClr val="tx1"/>
                </a:solidFill>
                <a:latin typeface="ArialMT"/>
              </a:rPr>
              <a:t>ependant, la performance opérationnelle est différente de la performance de référence. </a:t>
            </a:r>
          </a:p>
        </p:txBody>
      </p:sp>
    </p:spTree>
    <p:extLst>
      <p:ext uri="{BB962C8B-B14F-4D97-AF65-F5344CB8AC3E}">
        <p14:creationId xmlns:p14="http://schemas.microsoft.com/office/powerpoint/2010/main" val="409070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38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0" y="1005998"/>
            <a:ext cx="4727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Dérive pratique</a:t>
            </a: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0644"/>
            <a:ext cx="12192000" cy="4332652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1267BD1-F6B0-C5AD-1FAC-92D2AC319AB9}"/>
              </a:ext>
            </a:extLst>
          </p:cNvPr>
          <p:cNvSpPr txBox="1"/>
          <p:nvPr/>
        </p:nvSpPr>
        <p:spPr>
          <a:xfrm>
            <a:off x="0" y="4708301"/>
            <a:ext cx="6384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F0"/>
                </a:solidFill>
                <a:latin typeface="ArialMT"/>
              </a:rPr>
              <a:t>Le terme « dérive » est employé pour désigner </a:t>
            </a:r>
            <a:r>
              <a:rPr lang="fr-FR" sz="2800" b="1" dirty="0">
                <a:latin typeface="ArialMT"/>
              </a:rPr>
              <a:t>l’écart progressif</a:t>
            </a:r>
            <a:r>
              <a:rPr lang="fr-FR" sz="2800" dirty="0">
                <a:latin typeface="ArialMT"/>
              </a:rPr>
              <a:t>, </a:t>
            </a:r>
            <a:r>
              <a:rPr lang="fr-FR" sz="2800" dirty="0">
                <a:solidFill>
                  <a:srgbClr val="00B0F0"/>
                </a:solidFill>
                <a:latin typeface="ArialMT"/>
              </a:rPr>
              <a:t>du fait d’influences extérieures</a:t>
            </a:r>
          </a:p>
        </p:txBody>
      </p:sp>
    </p:spTree>
    <p:extLst>
      <p:ext uri="{BB962C8B-B14F-4D97-AF65-F5344CB8AC3E}">
        <p14:creationId xmlns:p14="http://schemas.microsoft.com/office/powerpoint/2010/main" val="195614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39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15094" y="919475"/>
            <a:ext cx="560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Dilemme du manager</a:t>
            </a: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0" y="11014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04305"/>
            <a:ext cx="12192000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L’identification des dangers, l’évaluation et l’atténuation des risques de sécurité sont la clé du processus de gestion de la sécurité.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-15094" y="3284985"/>
            <a:ext cx="12192000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L’atténuation des risques de sécurité consiste à mettre en œuvre des défenses (équipement, procédures, formation, procédures…) contre les risques identifiés.</a:t>
            </a:r>
          </a:p>
        </p:txBody>
      </p:sp>
      <p:pic>
        <p:nvPicPr>
          <p:cNvPr id="1026" name="Picture 2" descr="Les ressources financières | Etat de Fribourg">
            <a:extLst>
              <a:ext uri="{FF2B5EF4-FFF2-40B4-BE49-F238E27FC236}">
                <a16:creationId xmlns:a16="http://schemas.microsoft.com/office/drawing/2014/main" id="{6BE4392D-7C28-2F33-AE7A-83B420E5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4669980"/>
            <a:ext cx="2447925" cy="192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C603CB8-6E49-BDB8-88A0-EAB8BCBCE32D}"/>
              </a:ext>
            </a:extLst>
          </p:cNvPr>
          <p:cNvSpPr txBox="1"/>
          <p:nvPr/>
        </p:nvSpPr>
        <p:spPr>
          <a:xfrm>
            <a:off x="191344" y="5282975"/>
            <a:ext cx="62281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0" i="0" u="none" strike="noStrike" baseline="0" dirty="0">
                <a:latin typeface="ArialMT"/>
              </a:rPr>
              <a:t>Un coût — en termes d’argent, de temps et de ressources</a:t>
            </a:r>
            <a:endParaRPr lang="fr-FR" sz="2400" dirty="0"/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2EF922BE-A844-C67A-AD1D-646BD6902C84}"/>
              </a:ext>
            </a:extLst>
          </p:cNvPr>
          <p:cNvSpPr/>
          <p:nvPr/>
        </p:nvSpPr>
        <p:spPr>
          <a:xfrm>
            <a:off x="1055440" y="4691766"/>
            <a:ext cx="288032" cy="6265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74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3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40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07866" y="790583"/>
            <a:ext cx="570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Dilemme du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12" y="2416820"/>
            <a:ext cx="4367233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tx1"/>
                </a:solidFill>
                <a:latin typeface="ArialMT"/>
              </a:rPr>
              <a:t>Ainsi les risques de production et les risques de sécurité sont liés.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DF59B9D-C261-4684-B3B5-C75565F4DA2A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F3BD811-27C4-2AAA-2EDA-B4AE71A8A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345" y="1428157"/>
            <a:ext cx="7797655" cy="495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2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41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91344" y="642499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Dilemme du manager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432907"/>
            <a:ext cx="5391150" cy="46482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3AE285CA-DEF4-41F7-A5F0-1FEFBF9BF849}"/>
              </a:ext>
            </a:extLst>
          </p:cNvPr>
          <p:cNvSpPr txBox="1">
            <a:spLocks/>
          </p:cNvSpPr>
          <p:nvPr/>
        </p:nvSpPr>
        <p:spPr>
          <a:xfrm>
            <a:off x="0" y="-24171"/>
            <a:ext cx="12192000" cy="642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I. CONCEPTS DE MANAGEMENT DE 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16" y="2274838"/>
            <a:ext cx="6312024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tx1"/>
                </a:solidFill>
                <a:latin typeface="ArialMT"/>
              </a:rPr>
              <a:t>Toute organisation doit définir ses objectifs de production et ses objectifs de sécurité en recherchant un équilibre</a:t>
            </a:r>
          </a:p>
        </p:txBody>
      </p:sp>
    </p:spTree>
    <p:extLst>
      <p:ext uri="{BB962C8B-B14F-4D97-AF65-F5344CB8AC3E}">
        <p14:creationId xmlns:p14="http://schemas.microsoft.com/office/powerpoint/2010/main" val="272921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263352" y="2736502"/>
            <a:ext cx="1166529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/>
            <a:endParaRPr lang="fr-FR" sz="3600" b="1" dirty="0">
              <a:solidFill>
                <a:schemeClr val="accent6">
                  <a:lumMod val="75000"/>
                </a:schemeClr>
              </a:solidFill>
              <a:latin typeface="ArialMT"/>
            </a:endParaRPr>
          </a:p>
          <a:p>
            <a:pPr algn="ctr"/>
            <a:r>
              <a:rPr lang="fr-FR" sz="3600" b="1" dirty="0">
                <a:solidFill>
                  <a:schemeClr val="tx1"/>
                </a:solidFill>
                <a:latin typeface="ArialMT"/>
              </a:rPr>
              <a:t>II. APPROCHES DU MANAGEMENT DE LA SECURITE</a:t>
            </a:r>
          </a:p>
          <a:p>
            <a:endParaRPr lang="fr-FR" sz="3600" b="1" dirty="0">
              <a:solidFill>
                <a:schemeClr val="accent6">
                  <a:lumMod val="75000"/>
                </a:schemeClr>
              </a:solidFill>
              <a:latin typeface="ArialM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460282" y="836712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6939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43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271464" y="1988840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3600" b="1" dirty="0">
                <a:solidFill>
                  <a:srgbClr val="00B0F0"/>
                </a:solidFill>
                <a:latin typeface="ArialMT"/>
              </a:rPr>
              <a:t>Approche orientée performance</a:t>
            </a:r>
          </a:p>
          <a:p>
            <a:pPr marL="457200" indent="-457200">
              <a:buFont typeface="+mj-lt"/>
              <a:buAutoNum type="arabicPeriod"/>
            </a:pPr>
            <a:endParaRPr lang="fr-FR" sz="3600" b="1" dirty="0">
              <a:solidFill>
                <a:srgbClr val="00B0F0"/>
              </a:solidFill>
              <a:latin typeface="ArialMT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3600" b="1" dirty="0">
                <a:solidFill>
                  <a:srgbClr val="00B0F0"/>
                </a:solidFill>
                <a:latin typeface="ArialMT"/>
              </a:rPr>
              <a:t>Approche réactive </a:t>
            </a:r>
          </a:p>
          <a:p>
            <a:pPr marL="457200" indent="-457200">
              <a:buFont typeface="+mj-lt"/>
              <a:buAutoNum type="arabicPeriod"/>
            </a:pPr>
            <a:endParaRPr lang="fr-FR" sz="3600" b="1" dirty="0">
              <a:solidFill>
                <a:srgbClr val="00B0F0"/>
              </a:solidFill>
              <a:latin typeface="ArialMT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3600" b="1" dirty="0">
                <a:solidFill>
                  <a:srgbClr val="00B0F0"/>
                </a:solidFill>
                <a:latin typeface="ArialMT"/>
              </a:rPr>
              <a:t>Approche risques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3758788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44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4428" y="686611"/>
            <a:ext cx="818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00B0F0"/>
                </a:solidFill>
                <a:latin typeface="ArialMT"/>
              </a:rPr>
              <a:t>1. Approche orientée performance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444124"/>
            <a:ext cx="8600000" cy="3857143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-19744" y="3236783"/>
            <a:ext cx="50356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Approche prescriptive :  </a:t>
            </a:r>
            <a:r>
              <a:rPr lang="fr-FR" sz="2400" dirty="0"/>
              <a:t>Assurance de la sécurité sur la base de la conformité aux exigences (Normes, règlements…)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0" y="5325015"/>
            <a:ext cx="50356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Approche orienté performance  </a:t>
            </a:r>
            <a:r>
              <a:rPr lang="fr-FR" sz="2400" dirty="0"/>
              <a:t>Assurance de la sécurité sur la base de la performance mesurée du système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5B890A-2DE5-ACA9-4915-F9CE0E47AEA0}"/>
              </a:ext>
            </a:extLst>
          </p:cNvPr>
          <p:cNvSpPr txBox="1"/>
          <p:nvPr/>
        </p:nvSpPr>
        <p:spPr>
          <a:xfrm>
            <a:off x="119336" y="1265940"/>
            <a:ext cx="108732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Elle mesure et pilote les résultats sécurité via des SPI.</a:t>
            </a:r>
          </a:p>
          <a:p>
            <a:pPr algn="just"/>
            <a:r>
              <a:rPr lang="fr-FR" sz="2800" dirty="0">
                <a:latin typeface="ArialMT"/>
              </a:rPr>
              <a:t>Elle complète l’approche prescriptive.</a:t>
            </a:r>
          </a:p>
        </p:txBody>
      </p:sp>
    </p:spTree>
    <p:extLst>
      <p:ext uri="{BB962C8B-B14F-4D97-AF65-F5344CB8AC3E}">
        <p14:creationId xmlns:p14="http://schemas.microsoft.com/office/powerpoint/2010/main" val="227325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45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-3408" y="620174"/>
            <a:ext cx="842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F0"/>
                </a:solidFill>
                <a:latin typeface="ArialMT"/>
              </a:rPr>
              <a:t>1. Approche orientée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328" y="1297780"/>
            <a:ext cx="5112568" cy="10965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fr-FR" sz="2800" dirty="0">
                <a:latin typeface="ArialMT"/>
              </a:rPr>
              <a:t>SMS et SSP en place conformément aux exigences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71647" y="1120764"/>
            <a:ext cx="66247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dirty="0">
                <a:latin typeface="ArialMT"/>
              </a:rPr>
              <a:t>S’assurer régulièrement que les éléments mis en place sont conformes (Approche prescriptive)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20" y="2852936"/>
            <a:ext cx="5112569" cy="10965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solidFill>
                  <a:srgbClr val="FF0000"/>
                </a:solidFill>
                <a:latin typeface="ArialMT"/>
              </a:rPr>
              <a:t>Processus d’accord de niveau de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1647" y="2602051"/>
            <a:ext cx="69730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800" dirty="0">
                <a:solidFill>
                  <a:srgbClr val="FF0000"/>
                </a:solidFill>
                <a:latin typeface="ArialMT"/>
              </a:rPr>
              <a:t>Indicateurs SPI définis (par exploitant)</a:t>
            </a:r>
          </a:p>
          <a:p>
            <a:pPr marL="342900" indent="-342900">
              <a:buFontTx/>
              <a:buChar char="-"/>
            </a:pPr>
            <a:r>
              <a:rPr lang="fr-FR" sz="2800" dirty="0">
                <a:solidFill>
                  <a:srgbClr val="FF0000"/>
                </a:solidFill>
                <a:latin typeface="ArialMT"/>
              </a:rPr>
              <a:t>Certains SPI convenus avec l’AAC</a:t>
            </a:r>
          </a:p>
          <a:p>
            <a:pPr marL="342900" indent="-342900">
              <a:buFontTx/>
              <a:buChar char="-"/>
            </a:pPr>
            <a:r>
              <a:rPr lang="fr-FR" sz="2800" dirty="0">
                <a:solidFill>
                  <a:srgbClr val="FF0000"/>
                </a:solidFill>
                <a:latin typeface="ArialMT"/>
              </a:rPr>
              <a:t>Indicateurs définis pour le Pays à partir des SPI des exploitants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9" y="4797152"/>
            <a:ext cx="5112569" cy="109654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latin typeface="ArialMT"/>
              </a:rPr>
              <a:t>Processus de surveillance continue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7889" y="4402914"/>
            <a:ext cx="69730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Surveillance des exploitants programmée en fonction des valeurs des SPI convenus;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Niveau de performance du Pays surveillé à partir des indicateurs agrégés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6FF785AB-D4AB-3D82-4201-3476D9FB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45717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46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56153" y="952605"/>
            <a:ext cx="1072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2. Approche réactive : </a:t>
            </a:r>
            <a:r>
              <a:rPr lang="fr-FR" sz="3600" b="1" dirty="0">
                <a:latin typeface="ArialMT"/>
              </a:rPr>
              <a:t>Compte rendu de sécurité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9356" y="1753720"/>
            <a:ext cx="11593288" cy="1891304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3600" dirty="0">
                <a:latin typeface="ArialMT"/>
              </a:rPr>
              <a:t>Un processus formel de compte rendu sur la sécurité au niveau des exploitants mais aussi au niveau de l’Etat est nécessaire pour une gestion de la sécurité efficace.</a:t>
            </a: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299356" y="4077072"/>
            <a:ext cx="11593288" cy="1828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600" dirty="0">
                <a:latin typeface="ArialMT"/>
              </a:rPr>
              <a:t>Le compte rendu sur la sécurité permet d’accéder aux données nécessaires pour l’identification des risques de sécurité.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4811E07D-D2FB-3D85-6851-ED874026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53948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47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0" y="868223"/>
            <a:ext cx="6600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Compte rendu de sécurité :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942624" y="967047"/>
            <a:ext cx="6421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latin typeface="ArialMT"/>
              </a:rPr>
              <a:t>Trois types de compte rendu de sécurité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802" y="1804535"/>
            <a:ext cx="4509054" cy="10965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fr-FR" sz="2800" dirty="0">
                <a:latin typeface="ArialMT"/>
              </a:rPr>
              <a:t>Compte rendu d’accident et d’incident grave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680" y="3284984"/>
            <a:ext cx="4508176" cy="109654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latin typeface="ArialMT"/>
              </a:rPr>
              <a:t>Compte rendu obligatoire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52" y="5013176"/>
            <a:ext cx="4536504" cy="109654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latin typeface="ArialMT"/>
              </a:rPr>
              <a:t>Compte rendu volontaire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3872" y="1706722"/>
            <a:ext cx="58326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>
                <a:latin typeface="ArialMT"/>
              </a:rPr>
              <a:t>- Accident : </a:t>
            </a:r>
            <a:r>
              <a:rPr lang="fr-FR" sz="2800" dirty="0">
                <a:latin typeface="ArialMT"/>
              </a:rPr>
              <a:t>Collision, CFIT, ….</a:t>
            </a:r>
          </a:p>
          <a:p>
            <a:pPr lvl="0"/>
            <a:r>
              <a:rPr lang="fr-FR" sz="2800" b="1" dirty="0">
                <a:latin typeface="ArialMT"/>
              </a:rPr>
              <a:t>- Incident grave : </a:t>
            </a:r>
            <a:r>
              <a:rPr lang="fr-FR" sz="2800" dirty="0">
                <a:latin typeface="ArialMT"/>
              </a:rPr>
              <a:t>Sortie de piste, incendie à bord….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6564" y="3046570"/>
            <a:ext cx="72407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dirty="0">
                <a:latin typeface="ArialMT"/>
              </a:rPr>
              <a:t>Les événements entrant dans les champ de compte rendu obligatoire sont spécifiques aux domaines d’aviation considéré.</a:t>
            </a:r>
          </a:p>
          <a:p>
            <a:pPr lvl="0"/>
            <a:r>
              <a:rPr lang="fr-FR" sz="2800" b="1" dirty="0">
                <a:solidFill>
                  <a:schemeClr val="tx2"/>
                </a:solidFill>
                <a:latin typeface="ArialMT"/>
              </a:rPr>
              <a:t>Exemple ANSP : AIRPROX, TCAS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5881" y="4855759"/>
            <a:ext cx="736212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dirty="0">
                <a:latin typeface="ArialMT"/>
              </a:rPr>
              <a:t>C’est un canal mis à la disposition des acteurs du premier rang pour reporter les événements non pris en compte par les 2 catégories ci-dessus 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1CB89C0-E163-1D9E-58A2-1C2E17D50B7E}"/>
              </a:ext>
            </a:extLst>
          </p:cNvPr>
          <p:cNvCxnSpPr/>
          <p:nvPr/>
        </p:nvCxnSpPr>
        <p:spPr>
          <a:xfrm>
            <a:off x="0" y="3091717"/>
            <a:ext cx="1222800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4F42E19-854D-7730-8336-033CBCCE6C52}"/>
              </a:ext>
            </a:extLst>
          </p:cNvPr>
          <p:cNvCxnSpPr/>
          <p:nvPr/>
        </p:nvCxnSpPr>
        <p:spPr>
          <a:xfrm>
            <a:off x="-18003" y="4855759"/>
            <a:ext cx="1222800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1">
            <a:extLst>
              <a:ext uri="{FF2B5EF4-FFF2-40B4-BE49-F238E27FC236}">
                <a16:creationId xmlns:a16="http://schemas.microsoft.com/office/drawing/2014/main" id="{A7A73B3F-C9D5-0028-6ECB-7DE93129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01838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48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0" y="588608"/>
            <a:ext cx="9336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Efficacité du système de compte rendu: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BEE074C-A41D-4E2F-9190-A76FF7CF1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1215061"/>
            <a:ext cx="6735778" cy="5359651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2321EA70-5420-9780-4206-A093D9E9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814441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49</a:t>
            </a:fld>
            <a:endParaRPr lang="fr-BE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43ADC1-2BA8-7814-EAC8-27E5AD41623D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96BE45C-8CE2-0EE7-5875-9720EE21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10" name="Forme libre 4">
            <a:extLst>
              <a:ext uri="{FF2B5EF4-FFF2-40B4-BE49-F238E27FC236}">
                <a16:creationId xmlns:a16="http://schemas.microsoft.com/office/drawing/2014/main" id="{AF54E715-F85C-518C-0299-CFDE7660B676}"/>
              </a:ext>
            </a:extLst>
          </p:cNvPr>
          <p:cNvSpPr/>
          <p:nvPr/>
        </p:nvSpPr>
        <p:spPr>
          <a:xfrm>
            <a:off x="407368" y="2377028"/>
            <a:ext cx="2880320" cy="1556027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32" tIns="100532" rIns="100532" bIns="100532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600" dirty="0">
                <a:latin typeface="ArialMT"/>
              </a:rPr>
              <a:t>Identification des dangers</a:t>
            </a:r>
            <a:endParaRPr lang="fr-FR" sz="3600" dirty="0"/>
          </a:p>
        </p:txBody>
      </p:sp>
      <p:sp>
        <p:nvSpPr>
          <p:cNvPr id="11" name="Forme libre 7">
            <a:extLst>
              <a:ext uri="{FF2B5EF4-FFF2-40B4-BE49-F238E27FC236}">
                <a16:creationId xmlns:a16="http://schemas.microsoft.com/office/drawing/2014/main" id="{F866B362-559B-3BF3-BBAF-A53CC2D39AAE}"/>
              </a:ext>
            </a:extLst>
          </p:cNvPr>
          <p:cNvSpPr/>
          <p:nvPr/>
        </p:nvSpPr>
        <p:spPr>
          <a:xfrm>
            <a:off x="3663709" y="2890104"/>
            <a:ext cx="494130" cy="595716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9429" rIns="101848" bIns="79429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600"/>
          </a:p>
        </p:txBody>
      </p:sp>
      <p:sp>
        <p:nvSpPr>
          <p:cNvPr id="12" name="Forme libre 8">
            <a:extLst>
              <a:ext uri="{FF2B5EF4-FFF2-40B4-BE49-F238E27FC236}">
                <a16:creationId xmlns:a16="http://schemas.microsoft.com/office/drawing/2014/main" id="{99988014-30CE-0105-4CC6-ED8147D9CC49}"/>
              </a:ext>
            </a:extLst>
          </p:cNvPr>
          <p:cNvSpPr/>
          <p:nvPr/>
        </p:nvSpPr>
        <p:spPr>
          <a:xfrm>
            <a:off x="4453952" y="2487241"/>
            <a:ext cx="2578151" cy="1556026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32" tIns="100532" rIns="100532" bIns="100532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600" dirty="0">
                <a:latin typeface="ArialMT"/>
              </a:rPr>
              <a:t>Evaluation des risques </a:t>
            </a:r>
          </a:p>
        </p:txBody>
      </p:sp>
      <p:sp>
        <p:nvSpPr>
          <p:cNvPr id="13" name="Forme libre 9">
            <a:extLst>
              <a:ext uri="{FF2B5EF4-FFF2-40B4-BE49-F238E27FC236}">
                <a16:creationId xmlns:a16="http://schemas.microsoft.com/office/drawing/2014/main" id="{3F43AFC1-FA46-FB3A-46A4-B00AE2279270}"/>
              </a:ext>
            </a:extLst>
          </p:cNvPr>
          <p:cNvSpPr/>
          <p:nvPr/>
        </p:nvSpPr>
        <p:spPr>
          <a:xfrm>
            <a:off x="7392144" y="2996952"/>
            <a:ext cx="623086" cy="674081"/>
          </a:xfrm>
          <a:custGeom>
            <a:avLst/>
            <a:gdLst>
              <a:gd name="connsiteX0" fmla="*/ 0 w 339494"/>
              <a:gd name="connsiteY0" fmla="*/ 79429 h 397144"/>
              <a:gd name="connsiteX1" fmla="*/ 169747 w 339494"/>
              <a:gd name="connsiteY1" fmla="*/ 79429 h 397144"/>
              <a:gd name="connsiteX2" fmla="*/ 169747 w 339494"/>
              <a:gd name="connsiteY2" fmla="*/ 0 h 397144"/>
              <a:gd name="connsiteX3" fmla="*/ 339494 w 339494"/>
              <a:gd name="connsiteY3" fmla="*/ 198572 h 397144"/>
              <a:gd name="connsiteX4" fmla="*/ 169747 w 339494"/>
              <a:gd name="connsiteY4" fmla="*/ 397144 h 397144"/>
              <a:gd name="connsiteX5" fmla="*/ 169747 w 339494"/>
              <a:gd name="connsiteY5" fmla="*/ 317715 h 397144"/>
              <a:gd name="connsiteX6" fmla="*/ 0 w 339494"/>
              <a:gd name="connsiteY6" fmla="*/ 317715 h 397144"/>
              <a:gd name="connsiteX7" fmla="*/ 0 w 339494"/>
              <a:gd name="connsiteY7" fmla="*/ 79429 h 39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494" h="397144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79429" rIns="101848" bIns="79429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fr-FR" sz="1600"/>
          </a:p>
        </p:txBody>
      </p:sp>
      <p:sp>
        <p:nvSpPr>
          <p:cNvPr id="14" name="Forme libre 10">
            <a:extLst>
              <a:ext uri="{FF2B5EF4-FFF2-40B4-BE49-F238E27FC236}">
                <a16:creationId xmlns:a16="http://schemas.microsoft.com/office/drawing/2014/main" id="{9B580150-DF7B-EAC8-4043-4BEE147B8546}"/>
              </a:ext>
            </a:extLst>
          </p:cNvPr>
          <p:cNvSpPr/>
          <p:nvPr/>
        </p:nvSpPr>
        <p:spPr>
          <a:xfrm>
            <a:off x="8457953" y="2559850"/>
            <a:ext cx="2997004" cy="1556026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32" tIns="100532" rIns="100532" bIns="100532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600" dirty="0">
                <a:latin typeface="ArialMT"/>
              </a:rPr>
              <a:t>Atténuation des risques </a:t>
            </a:r>
          </a:p>
        </p:txBody>
      </p:sp>
    </p:spTree>
    <p:extLst>
      <p:ext uri="{BB962C8B-B14F-4D97-AF65-F5344CB8AC3E}">
        <p14:creationId xmlns:p14="http://schemas.microsoft.com/office/powerpoint/2010/main" val="251368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A251-8FE7-E865-B00B-D9D1F916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8597B3-C093-8587-32B9-6B55141D93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50</a:t>
            </a:fld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BF241-B141-6A01-4FCF-1298570D590A}"/>
              </a:ext>
            </a:extLst>
          </p:cNvPr>
          <p:cNvSpPr/>
          <p:nvPr/>
        </p:nvSpPr>
        <p:spPr>
          <a:xfrm>
            <a:off x="-15755" y="1412649"/>
            <a:ext cx="12192000" cy="100960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>
                <a:solidFill>
                  <a:srgbClr val="C00000"/>
                </a:solidFill>
                <a:latin typeface="ArialMT"/>
                <a:cs typeface="Arial" panose="020B0604020202020204" pitchFamily="34" charset="0"/>
              </a:rPr>
              <a:t>Danger 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– Situation ou objet p</a:t>
            </a:r>
            <a:r>
              <a:rPr lang="fr-FR" sz="2800" b="1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ouvant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 causer un incident ou un accident d’aviation ou y contribuer. (C/f doc 9859)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1560A9-0F7C-7E82-AF2E-03553D145DE7}"/>
              </a:ext>
            </a:extLst>
          </p:cNvPr>
          <p:cNvSpPr/>
          <p:nvPr/>
        </p:nvSpPr>
        <p:spPr>
          <a:xfrm>
            <a:off x="0" y="3573015"/>
            <a:ext cx="12192000" cy="255749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>
                <a:solidFill>
                  <a:srgbClr val="C00000"/>
                </a:solidFill>
                <a:latin typeface="ArialMT"/>
                <a:cs typeface="Arial" panose="020B0604020202020204" pitchFamily="34" charset="0"/>
              </a:rPr>
              <a:t>Interprétation : </a:t>
            </a:r>
          </a:p>
          <a:p>
            <a:r>
              <a:rPr lang="fr-FR" sz="2800" b="1" u="sng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Situation/Objet</a:t>
            </a:r>
            <a:r>
              <a:rPr lang="fr-FR" sz="2800" b="1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 : 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A l’opposée de « événement », existe sur une période de temps plus large.</a:t>
            </a:r>
          </a:p>
          <a:p>
            <a:endParaRPr lang="fr-FR" sz="2800" dirty="0">
              <a:solidFill>
                <a:schemeClr val="tx1"/>
              </a:solidFill>
              <a:latin typeface="ArialMT"/>
              <a:cs typeface="Arial" panose="020B0604020202020204" pitchFamily="34" charset="0"/>
            </a:endParaRPr>
          </a:p>
          <a:p>
            <a:r>
              <a:rPr lang="fr-FR" sz="2800" b="1" u="sng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Potentiel </a:t>
            </a:r>
            <a:r>
              <a:rPr lang="fr-FR" sz="2800" b="1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: 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situation non active (dormante) qui constitue un élément normal et identifiable de tout système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AD9641-9225-F109-5DC3-3EAA1F9BD35C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15BF264-D176-90AA-9D65-02C99763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66290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51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0" y="3864073"/>
            <a:ext cx="12288688" cy="249227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Formulation </a:t>
            </a:r>
            <a:r>
              <a:rPr lang="fr-F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fr-F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doc9859 §5.3)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fr-F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Toujours sous-forme d’une expression Affirmative (décrit dans l’état désiré (maîtrisé) );</a:t>
            </a:r>
          </a:p>
          <a:p>
            <a:pPr marL="342900" indent="-342900">
              <a:buFontTx/>
              <a:buChar char="-"/>
            </a:pPr>
            <a:r>
              <a:rPr lang="fr-F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2 composantes : </a:t>
            </a:r>
          </a:p>
          <a:p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composante générique suivant une taxonomie </a:t>
            </a:r>
            <a:r>
              <a:rPr lang="fr-FR" dirty="0"/>
              <a:t>(</a:t>
            </a:r>
            <a:r>
              <a:rPr lang="fr-FR" dirty="0">
                <a:latin typeface="ArialMT"/>
              </a:rPr>
              <a:t>environnemental, technique, organisationnel et humain).</a:t>
            </a:r>
            <a:r>
              <a:rPr lang="fr-FR" b="1" dirty="0">
                <a:solidFill>
                  <a:srgbClr val="FF0000"/>
                </a:solidFill>
                <a:latin typeface="ArialMT"/>
                <a:cs typeface="Arial" panose="020B0604020202020204" pitchFamily="34" charset="0"/>
              </a:rPr>
              <a:t>;</a:t>
            </a:r>
          </a:p>
          <a:p>
            <a:endParaRPr lang="fr-F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La composante spécifique </a:t>
            </a:r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qui décrit le danger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205" y="692696"/>
            <a:ext cx="8372475" cy="3095625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4F30AD1-EDA7-ABDE-752C-B1657C7E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0425740-A7EF-7C96-FC2D-327B1C478D07}"/>
              </a:ext>
            </a:extLst>
          </p:cNvPr>
          <p:cNvSpPr txBox="1"/>
          <p:nvPr/>
        </p:nvSpPr>
        <p:spPr>
          <a:xfrm>
            <a:off x="0" y="727489"/>
            <a:ext cx="6600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</a:t>
            </a:r>
          </a:p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247680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52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236220" y="1694485"/>
            <a:ext cx="11521280" cy="170818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b="1" dirty="0">
                <a:solidFill>
                  <a:srgbClr val="C00000"/>
                </a:solidFill>
                <a:latin typeface="ArialMT"/>
                <a:cs typeface="Arial" panose="020B0604020202020204" pitchFamily="34" charset="0"/>
              </a:rPr>
              <a:t>Exemple de taxonomie du terme générique</a:t>
            </a:r>
          </a:p>
          <a:p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Classification des dangers en quatre familles : Environnemental, Technique, Organisationnel et Humain 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2F28C330-72C9-4B7D-959F-CB9148B31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784812"/>
              </p:ext>
            </p:extLst>
          </p:nvPr>
        </p:nvGraphicFramePr>
        <p:xfrm>
          <a:off x="263352" y="3474680"/>
          <a:ext cx="3384376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1232633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Environnemental (ENV)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1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Conditions MTO dangereuse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Evénements naturels (volcans, Insectes, animaux…)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6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Conditions géographiques (Altitude, Montagnes, Mer…)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6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Santé publique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93056"/>
                  </a:ext>
                </a:extLst>
              </a:tr>
            </a:tbl>
          </a:graphicData>
        </a:graphic>
      </p:graphicFrame>
      <p:graphicFrame>
        <p:nvGraphicFramePr>
          <p:cNvPr id="11" name="Tableau 4">
            <a:extLst>
              <a:ext uri="{FF2B5EF4-FFF2-40B4-BE49-F238E27FC236}">
                <a16:creationId xmlns:a16="http://schemas.microsoft.com/office/drawing/2014/main" id="{41795AD6-05D7-4E23-9025-46AF0B95B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827896"/>
              </p:ext>
            </p:extLst>
          </p:nvPr>
        </p:nvGraphicFramePr>
        <p:xfrm>
          <a:off x="4077272" y="3474680"/>
          <a:ext cx="1728192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232633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Technique (TECH)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1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Aéronef défectueux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 err="1"/>
                        <a:t>Navaids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6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Infrastructures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6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Outillage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93056"/>
                  </a:ext>
                </a:extLst>
              </a:tr>
            </a:tbl>
          </a:graphicData>
        </a:graphic>
      </p:graphicFrame>
      <p:graphicFrame>
        <p:nvGraphicFramePr>
          <p:cNvPr id="12" name="Tableau 4">
            <a:extLst>
              <a:ext uri="{FF2B5EF4-FFF2-40B4-BE49-F238E27FC236}">
                <a16:creationId xmlns:a16="http://schemas.microsoft.com/office/drawing/2014/main" id="{74AE8A12-C58E-4E24-AE90-38F1F500E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68309"/>
              </p:ext>
            </p:extLst>
          </p:nvPr>
        </p:nvGraphicFramePr>
        <p:xfrm>
          <a:off x="6773981" y="3474680"/>
          <a:ext cx="2160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232633094"/>
                    </a:ext>
                  </a:extLst>
                </a:gridCol>
              </a:tblGrid>
              <a:tr h="39643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Organisationnel (ORG°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1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Récession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Augmentation de trafic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6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Culture organisationnelle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6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Organigramme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93056"/>
                  </a:ext>
                </a:extLst>
              </a:tr>
            </a:tbl>
          </a:graphicData>
        </a:graphic>
      </p:graphicFrame>
      <p:graphicFrame>
        <p:nvGraphicFramePr>
          <p:cNvPr id="13" name="Tableau 4">
            <a:extLst>
              <a:ext uri="{FF2B5EF4-FFF2-40B4-BE49-F238E27FC236}">
                <a16:creationId xmlns:a16="http://schemas.microsoft.com/office/drawing/2014/main" id="{2617A2E0-4CA8-406C-AEB0-EC62D040C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005653"/>
              </p:ext>
            </p:extLst>
          </p:nvPr>
        </p:nvGraphicFramePr>
        <p:xfrm>
          <a:off x="9870325" y="3474680"/>
          <a:ext cx="1728192" cy="226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232633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Humain (HUM)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1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Médical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Psychologique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6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Cognitif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6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dirty="0"/>
                        <a:t>Limitation physique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93056"/>
                  </a:ext>
                </a:extLst>
              </a:tr>
            </a:tbl>
          </a:graphicData>
        </a:graphic>
      </p:graphicFrame>
      <p:sp>
        <p:nvSpPr>
          <p:cNvPr id="6" name="Titre 1">
            <a:extLst>
              <a:ext uri="{FF2B5EF4-FFF2-40B4-BE49-F238E27FC236}">
                <a16:creationId xmlns:a16="http://schemas.microsoft.com/office/drawing/2014/main" id="{8D8E0CBC-A60E-D0A5-8164-7BB9476E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449D79-5676-48AE-DB50-FEB6B54B9CDD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282217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53</a:t>
            </a:fld>
            <a:endParaRPr lang="fr-BE"/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153453040"/>
              </p:ext>
            </p:extLst>
          </p:nvPr>
        </p:nvGraphicFramePr>
        <p:xfrm>
          <a:off x="2017536" y="496492"/>
          <a:ext cx="846043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5894" y="3243767"/>
            <a:ext cx="8343655" cy="3312368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087BD819-90D1-092F-A84E-81630181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7B08CC-A0E2-C952-E74E-9CD84E3862AC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296918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54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472" y="1431940"/>
            <a:ext cx="9983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Exemples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313265-A4BD-450A-A537-EA6BBF15253F}"/>
              </a:ext>
            </a:extLst>
          </p:cNvPr>
          <p:cNvSpPr txBox="1"/>
          <p:nvPr/>
        </p:nvSpPr>
        <p:spPr>
          <a:xfrm>
            <a:off x="263352" y="2271713"/>
            <a:ext cx="11737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latin typeface="ArialMT"/>
              </a:rPr>
              <a:t>Evn</a:t>
            </a:r>
            <a:r>
              <a:rPr lang="fr-FR" sz="2800" b="1" dirty="0">
                <a:latin typeface="ArialMT"/>
              </a:rPr>
              <a:t>. Evénements naturels (Présence d’animaux) </a:t>
            </a:r>
            <a:r>
              <a:rPr lang="fr-FR" sz="2800" dirty="0">
                <a:latin typeface="ArialMT"/>
              </a:rPr>
              <a:t>: Présence d’animaux à proximité de </a:t>
            </a:r>
            <a:r>
              <a:rPr lang="fr-FR" sz="2800" b="1" dirty="0">
                <a:latin typeface="ArialMT"/>
              </a:rPr>
              <a:t>la piste en service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642B065-320D-4EDD-906D-3286AF18FBCB}"/>
              </a:ext>
            </a:extLst>
          </p:cNvPr>
          <p:cNvSpPr txBox="1"/>
          <p:nvPr/>
        </p:nvSpPr>
        <p:spPr>
          <a:xfrm>
            <a:off x="263352" y="3841884"/>
            <a:ext cx="11737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rialMT"/>
              </a:rPr>
              <a:t>Tech. Infrastructure </a:t>
            </a:r>
            <a:r>
              <a:rPr lang="fr-FR" sz="2800" dirty="0">
                <a:latin typeface="ArialMT"/>
              </a:rPr>
              <a:t>: Piste courte pour les opérations autorisées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553FA83-E0DC-958D-C223-EFE8ED08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703CBB-57BC-00DB-1E6A-7AA78ED725F8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77733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55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19336" y="1411432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ArialMT"/>
              </a:rPr>
              <a:t>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336" y="1916832"/>
            <a:ext cx="11881320" cy="14401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Processus d’identification d’objet ou de condition qui a le potentiel de contribuer à</a:t>
            </a:r>
            <a:r>
              <a:rPr lang="fr-FR" sz="2800" dirty="0">
                <a:solidFill>
                  <a:srgbClr val="FF0000"/>
                </a:solidFill>
                <a:latin typeface="ArialMT"/>
                <a:cs typeface="Arial" panose="020B0604020202020204" pitchFamily="34" charset="0"/>
              </a:rPr>
              <a:t> 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-</a:t>
            </a:r>
            <a:r>
              <a:rPr lang="fr-FR" sz="2800" dirty="0">
                <a:solidFill>
                  <a:srgbClr val="FF0000"/>
                </a:solidFill>
                <a:latin typeface="ArialMT"/>
                <a:cs typeface="Arial" panose="020B0604020202020204" pitchFamily="34" charset="0"/>
              </a:rPr>
              <a:t> </a:t>
            </a:r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ou - de causer </a:t>
            </a:r>
            <a:r>
              <a:rPr lang="fr-FR" sz="2800" dirty="0">
                <a:solidFill>
                  <a:srgbClr val="FF0000"/>
                </a:solidFill>
                <a:latin typeface="ArialMT"/>
                <a:cs typeface="Arial" panose="020B0604020202020204" pitchFamily="34" charset="0"/>
              </a:rPr>
              <a:t>un accident ou un incident grave d’aéronef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336" y="3501008"/>
            <a:ext cx="11881320" cy="14401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Les dangers peuvent être identifiés à partir d’examen et d’analyse des données sur la sécurité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336" y="5039442"/>
            <a:ext cx="11881320" cy="14401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solidFill>
                  <a:schemeClr val="tx1"/>
                </a:solidFill>
                <a:latin typeface="ArialMT"/>
                <a:cs typeface="Arial" panose="020B0604020202020204" pitchFamily="34" charset="0"/>
              </a:rPr>
              <a:t>Les données sur la sécurité sont collectées au moyen des méthodes réactives, proactive ou une combinaison des deux méthodes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0BEEDF7-FE9E-C30D-CE2E-50F0632C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7EA4539-C1CB-6EE2-4C0E-F9F86CC5FD79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119408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56</a:t>
            </a:fld>
            <a:endParaRPr lang="fr-BE"/>
          </a:p>
        </p:txBody>
      </p:sp>
      <p:sp>
        <p:nvSpPr>
          <p:cNvPr id="3" name="Rectangle à coins arrondis 2"/>
          <p:cNvSpPr/>
          <p:nvPr/>
        </p:nvSpPr>
        <p:spPr>
          <a:xfrm>
            <a:off x="1415479" y="2237793"/>
            <a:ext cx="3456385" cy="8640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rialMT"/>
              </a:rPr>
              <a:t>Approche réactive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864630" y="1999679"/>
            <a:ext cx="699201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Enquête sur les accidents et incidents graves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Compte rendus de sécurité, réclamation; 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494626" y="4609871"/>
            <a:ext cx="3456385" cy="8640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rialMT"/>
              </a:rPr>
              <a:t>Approche proactive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934311" y="3918535"/>
            <a:ext cx="6922329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Audits, inspections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Analyse de performance;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Revue de processus;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Revue de la sécurité</a:t>
            </a:r>
          </a:p>
          <a:p>
            <a:pPr marL="285750" indent="-285750">
              <a:buFontTx/>
              <a:buChar char="-"/>
            </a:pPr>
            <a:r>
              <a:rPr lang="fr-FR" sz="2800" dirty="0">
                <a:latin typeface="ArialMT"/>
              </a:rPr>
              <a:t>Etude de sécurité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1777B28-7EE8-6FF4-FCA9-A306DAC5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AC4437-E6FB-7454-8A38-7E16DE2E0D27}"/>
              </a:ext>
            </a:extLst>
          </p:cNvPr>
          <p:cNvSpPr txBox="1"/>
          <p:nvPr/>
        </p:nvSpPr>
        <p:spPr>
          <a:xfrm>
            <a:off x="119336" y="1411432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ArialMT"/>
              </a:rPr>
              <a:t>Identification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3D74F3-0F4B-5693-45C4-2ED39DD98D48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 : </a:t>
            </a:r>
            <a:r>
              <a:rPr lang="fr-FR" sz="3600" b="1" dirty="0">
                <a:solidFill>
                  <a:srgbClr val="FF0000"/>
                </a:solidFill>
                <a:latin typeface="ArialMT"/>
              </a:rPr>
              <a:t>Danger</a:t>
            </a:r>
          </a:p>
        </p:txBody>
      </p:sp>
    </p:spTree>
    <p:extLst>
      <p:ext uri="{BB962C8B-B14F-4D97-AF65-F5344CB8AC3E}">
        <p14:creationId xmlns:p14="http://schemas.microsoft.com/office/powerpoint/2010/main" val="143507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C42A-E09B-D5B1-23DE-4328CBB7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4EAC51-0CFE-D021-BE61-75BC267629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57</a:t>
            </a:fld>
            <a:endParaRPr lang="fr-BE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89DD827-02BA-BFAF-A4BE-BFAA890D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6"/>
            <a:ext cx="12192000" cy="67408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APPROCHES DU MANAGEMENT DE LA SECURITE</a:t>
            </a:r>
          </a:p>
        </p:txBody>
      </p:sp>
      <p:sp>
        <p:nvSpPr>
          <p:cNvPr id="2" name="Forme libre 8">
            <a:extLst>
              <a:ext uri="{FF2B5EF4-FFF2-40B4-BE49-F238E27FC236}">
                <a16:creationId xmlns:a16="http://schemas.microsoft.com/office/drawing/2014/main" id="{2D154909-9D5F-DF6B-11FE-EA9D40522D8E}"/>
              </a:ext>
            </a:extLst>
          </p:cNvPr>
          <p:cNvSpPr/>
          <p:nvPr/>
        </p:nvSpPr>
        <p:spPr>
          <a:xfrm>
            <a:off x="2279576" y="2060848"/>
            <a:ext cx="2578151" cy="1556026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32" tIns="100532" rIns="100532" bIns="100532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600" dirty="0">
                <a:latin typeface="ArialMT"/>
              </a:rPr>
              <a:t>Evaluation des risques </a:t>
            </a:r>
          </a:p>
        </p:txBody>
      </p:sp>
      <p:sp>
        <p:nvSpPr>
          <p:cNvPr id="5" name="Forme libre 10">
            <a:extLst>
              <a:ext uri="{FF2B5EF4-FFF2-40B4-BE49-F238E27FC236}">
                <a16:creationId xmlns:a16="http://schemas.microsoft.com/office/drawing/2014/main" id="{BB821568-0369-CF2D-D6FB-3CD43E0B2971}"/>
              </a:ext>
            </a:extLst>
          </p:cNvPr>
          <p:cNvSpPr/>
          <p:nvPr/>
        </p:nvSpPr>
        <p:spPr>
          <a:xfrm>
            <a:off x="6283577" y="2133457"/>
            <a:ext cx="2997004" cy="1556026"/>
          </a:xfrm>
          <a:custGeom>
            <a:avLst/>
            <a:gdLst>
              <a:gd name="connsiteX0" fmla="*/ 0 w 1601390"/>
              <a:gd name="connsiteY0" fmla="*/ 96083 h 960834"/>
              <a:gd name="connsiteX1" fmla="*/ 96083 w 1601390"/>
              <a:gd name="connsiteY1" fmla="*/ 0 h 960834"/>
              <a:gd name="connsiteX2" fmla="*/ 1505307 w 1601390"/>
              <a:gd name="connsiteY2" fmla="*/ 0 h 960834"/>
              <a:gd name="connsiteX3" fmla="*/ 1601390 w 1601390"/>
              <a:gd name="connsiteY3" fmla="*/ 96083 h 960834"/>
              <a:gd name="connsiteX4" fmla="*/ 1601390 w 1601390"/>
              <a:gd name="connsiteY4" fmla="*/ 864751 h 960834"/>
              <a:gd name="connsiteX5" fmla="*/ 1505307 w 1601390"/>
              <a:gd name="connsiteY5" fmla="*/ 960834 h 960834"/>
              <a:gd name="connsiteX6" fmla="*/ 96083 w 1601390"/>
              <a:gd name="connsiteY6" fmla="*/ 960834 h 960834"/>
              <a:gd name="connsiteX7" fmla="*/ 0 w 1601390"/>
              <a:gd name="connsiteY7" fmla="*/ 864751 h 960834"/>
              <a:gd name="connsiteX8" fmla="*/ 0 w 1601390"/>
              <a:gd name="connsiteY8" fmla="*/ 96083 h 960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1390" h="960834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32" tIns="100532" rIns="100532" bIns="100532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600" dirty="0">
                <a:latin typeface="ArialMT"/>
              </a:rPr>
              <a:t>Atténuation des risques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929ED4-FAFA-8307-839A-522A4B74417B}"/>
              </a:ext>
            </a:extLst>
          </p:cNvPr>
          <p:cNvSpPr txBox="1"/>
          <p:nvPr/>
        </p:nvSpPr>
        <p:spPr>
          <a:xfrm>
            <a:off x="0" y="727489"/>
            <a:ext cx="6600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3. Approche risque</a:t>
            </a:r>
            <a:endParaRPr lang="fr-FR" sz="3600" b="1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D07684-9FEA-FCD1-638C-949DF30EB552}"/>
              </a:ext>
            </a:extLst>
          </p:cNvPr>
          <p:cNvSpPr txBox="1"/>
          <p:nvPr/>
        </p:nvSpPr>
        <p:spPr>
          <a:xfrm>
            <a:off x="1415480" y="3909060"/>
            <a:ext cx="9505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MT"/>
              </a:rPr>
              <a:t>Sera développé au module 3 sur le déploiement du SGS</a:t>
            </a:r>
          </a:p>
        </p:txBody>
      </p:sp>
    </p:spTree>
    <p:extLst>
      <p:ext uri="{BB962C8B-B14F-4D97-AF65-F5344CB8AC3E}">
        <p14:creationId xmlns:p14="http://schemas.microsoft.com/office/powerpoint/2010/main" val="4229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3573017"/>
            <a:ext cx="12192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/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GESTION DES CHANGEMENTS</a:t>
            </a:r>
          </a:p>
          <a:p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58</a:t>
            </a:fld>
            <a:endParaRPr lang="fr-BE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1999" cy="32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109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4954" y="-17038"/>
            <a:ext cx="12191999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GESTION DES CHANGEMENTS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59</a:t>
            </a:fld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955" y="1351526"/>
            <a:ext cx="12192000" cy="157341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>
                <a:latin typeface="ArialMT"/>
              </a:rPr>
              <a:t>Changements dus à l’expansion ou à la contraction ainsi qu’aux modifications sur les systèmes, les équipements, les politiques, les  programmes, les services…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-21197" y="828306"/>
            <a:ext cx="7297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F0"/>
                </a:solidFill>
                <a:latin typeface="ArialMT"/>
              </a:rPr>
              <a:t>GESTION DES CHANGEMENTS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653BDB-F2B4-47B2-9DCE-4EFD168A0654}"/>
              </a:ext>
            </a:extLst>
          </p:cNvPr>
          <p:cNvSpPr/>
          <p:nvPr/>
        </p:nvSpPr>
        <p:spPr>
          <a:xfrm>
            <a:off x="-21196" y="3490300"/>
            <a:ext cx="12191999" cy="26882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3200" dirty="0">
                <a:latin typeface="ArialMT"/>
              </a:rPr>
              <a:t>Des dangers peuvent être introduits par inadvertance dans le système lors du changement. 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3200" dirty="0">
                <a:latin typeface="ArialMT"/>
              </a:rPr>
              <a:t>Les pratiques de la gestion de la sécurité exigent que les dangers résultant du changement soient systématiquement identifiés, et les risques de sécurité maitrisés.</a:t>
            </a:r>
          </a:p>
        </p:txBody>
      </p:sp>
    </p:spTree>
    <p:extLst>
      <p:ext uri="{BB962C8B-B14F-4D97-AF65-F5344CB8AC3E}">
        <p14:creationId xmlns:p14="http://schemas.microsoft.com/office/powerpoint/2010/main" val="230531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60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91344" y="899831"/>
            <a:ext cx="10297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F0"/>
                </a:solidFill>
                <a:latin typeface="ArialMT"/>
              </a:rPr>
              <a:t>Gestion des changements :</a:t>
            </a:r>
            <a:endParaRPr lang="fr-FR" sz="3200" b="1" dirty="0">
              <a:latin typeface="ArialMT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FCB026A-F119-48B4-8DC6-9D07A6B4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54" y="-17038"/>
            <a:ext cx="12191999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GESTION DES CHANGEMENTS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8B032B-295F-FF0E-366A-61F6C0EDBC7B}"/>
              </a:ext>
            </a:extLst>
          </p:cNvPr>
          <p:cNvSpPr txBox="1"/>
          <p:nvPr/>
        </p:nvSpPr>
        <p:spPr>
          <a:xfrm>
            <a:off x="3431704" y="2780928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ArialMT"/>
                <a:hlinkClick r:id="rId3" action="ppaction://hlinkfile"/>
              </a:rPr>
              <a:t>Exemple de  processus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16549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61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14954" y="506182"/>
            <a:ext cx="8991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GESTION DES CHANGEMENTS : </a:t>
            </a:r>
            <a:r>
              <a:rPr lang="fr-FR" sz="2800" b="1" dirty="0"/>
              <a:t>Etude de cas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FCB026A-F119-48B4-8DC6-9D07A6B4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54" y="-17038"/>
            <a:ext cx="12191999" cy="5232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III. GESTION DES CHANGEMENTS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D4F70C8-7E24-4E1E-A011-CD3D00BF6CC5}"/>
              </a:ext>
            </a:extLst>
          </p:cNvPr>
          <p:cNvSpPr txBox="1"/>
          <p:nvPr/>
        </p:nvSpPr>
        <p:spPr>
          <a:xfrm>
            <a:off x="14955" y="1088839"/>
            <a:ext cx="12177045" cy="52629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fr-FR" sz="2800" dirty="0">
                <a:solidFill>
                  <a:schemeClr val="tx1"/>
                </a:solidFill>
              </a:rPr>
              <a:t>Le centre de Contrôle de </a:t>
            </a:r>
            <a:r>
              <a:rPr lang="fr-FR" sz="2800" dirty="0" err="1">
                <a:solidFill>
                  <a:schemeClr val="tx1"/>
                </a:solidFill>
              </a:rPr>
              <a:t>AnyTown</a:t>
            </a:r>
            <a:r>
              <a:rPr lang="fr-FR" sz="2800" dirty="0">
                <a:solidFill>
                  <a:schemeClr val="tx1"/>
                </a:solidFill>
              </a:rPr>
              <a:t> est informé que la ville va recevoir une manifestation internationale qui va générer un flux de trafic exceptionnel avoisinant 1.5 fois sa capacité actuelle.</a:t>
            </a:r>
          </a:p>
          <a:p>
            <a:pPr marL="0" lvl="1"/>
            <a:r>
              <a:rPr lang="fr-FR" sz="2800" dirty="0">
                <a:solidFill>
                  <a:schemeClr val="tx1"/>
                </a:solidFill>
              </a:rPr>
              <a:t>Afin de se préparer à la prise en charge de ce trafic, la Direction a envisagé un ensemble de mesure : Sectorisation de l’espace aérien, renforcement de l’effectif des Contrôleurs, de la maintenance et de la météo.</a:t>
            </a:r>
          </a:p>
          <a:p>
            <a:pPr marL="0" lvl="1"/>
            <a:r>
              <a:rPr lang="fr-FR" sz="2800" dirty="0">
                <a:solidFill>
                  <a:schemeClr val="tx1"/>
                </a:solidFill>
              </a:rPr>
              <a:t>Les deux centres adjacents d’</a:t>
            </a:r>
            <a:r>
              <a:rPr lang="fr-FR" sz="2800" dirty="0" err="1">
                <a:solidFill>
                  <a:schemeClr val="tx1"/>
                </a:solidFill>
              </a:rPr>
              <a:t>Anytown</a:t>
            </a:r>
            <a:r>
              <a:rPr lang="fr-FR" sz="2800" dirty="0">
                <a:solidFill>
                  <a:schemeClr val="tx1"/>
                </a:solidFill>
              </a:rPr>
              <a:t> seront aussi affectés par les mesures prises.</a:t>
            </a:r>
          </a:p>
          <a:p>
            <a:pPr marL="0" lvl="1"/>
            <a:r>
              <a:rPr lang="fr-FR" sz="2800" dirty="0">
                <a:solidFill>
                  <a:schemeClr val="tx1"/>
                </a:solidFill>
              </a:rPr>
              <a:t>Le centre d’</a:t>
            </a:r>
            <a:r>
              <a:rPr lang="fr-FR" sz="2800" dirty="0" err="1">
                <a:solidFill>
                  <a:schemeClr val="tx1"/>
                </a:solidFill>
              </a:rPr>
              <a:t>Anytown</a:t>
            </a:r>
            <a:r>
              <a:rPr lang="fr-FR" sz="2800" dirty="0">
                <a:solidFill>
                  <a:schemeClr val="tx1"/>
                </a:solidFill>
              </a:rPr>
              <a:t> a déjà organisé deux fois la prise en charge d’une demande supérieure à la Capacité.</a:t>
            </a:r>
          </a:p>
          <a:p>
            <a:pPr marL="0" lvl="1"/>
            <a:endParaRPr lang="fr-FR" sz="2800" dirty="0">
              <a:solidFill>
                <a:schemeClr val="tx1"/>
              </a:solidFill>
            </a:endParaRPr>
          </a:p>
          <a:p>
            <a:pPr marL="0" lvl="1"/>
            <a:r>
              <a:rPr lang="fr-FR" sz="2800" dirty="0">
                <a:solidFill>
                  <a:schemeClr val="tx1"/>
                </a:solidFill>
              </a:rPr>
              <a:t>Quel type d’évaluation de la sécurité doit être réalisée dans le cadre de la conduite de ce changement?</a:t>
            </a:r>
          </a:p>
        </p:txBody>
      </p:sp>
    </p:spTree>
    <p:extLst>
      <p:ext uri="{BB962C8B-B14F-4D97-AF65-F5344CB8AC3E}">
        <p14:creationId xmlns:p14="http://schemas.microsoft.com/office/powerpoint/2010/main" val="1262348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119336" y="2636913"/>
            <a:ext cx="1207266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/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fr-FR" sz="3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  <a:p>
            <a:endParaRPr lang="fr-FR" sz="3600" b="1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460282" y="836712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243700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63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871" y="620689"/>
            <a:ext cx="5520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3352" y="1226369"/>
            <a:ext cx="11665296" cy="133853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2800" dirty="0">
                <a:latin typeface="ArialMT"/>
              </a:rPr>
              <a:t>La culture est caractérisée par les croyances, les valeurs, les préjugés/partis pris et le comportement qui en résulte, que partagent les membres d’une société, d’un groupe ou d’une organisation. </a:t>
            </a:r>
          </a:p>
        </p:txBody>
      </p:sp>
      <p:graphicFrame>
        <p:nvGraphicFramePr>
          <p:cNvPr id="9" name="Diagramme 8"/>
          <p:cNvGraphicFramePr/>
          <p:nvPr>
            <p:extLst>
              <p:ext uri="{D42A27DB-BD31-4B8C-83A1-F6EECF244321}">
                <p14:modId xmlns:p14="http://schemas.microsoft.com/office/powerpoint/2010/main" val="3708739783"/>
              </p:ext>
            </p:extLst>
          </p:nvPr>
        </p:nvGraphicFramePr>
        <p:xfrm>
          <a:off x="106029" y="2564905"/>
          <a:ext cx="6696744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6459D3B5-6B68-AB5D-4EA9-6CF1815AA931}"/>
              </a:ext>
            </a:extLst>
          </p:cNvPr>
          <p:cNvSpPr txBox="1"/>
          <p:nvPr/>
        </p:nvSpPr>
        <p:spPr>
          <a:xfrm>
            <a:off x="6600056" y="3308792"/>
            <a:ext cx="4763763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fr-FR" sz="3000" dirty="0"/>
              <a:t>La culture de la sécurité est  « la façon dont les humains se comportent vis-à-vis de la</a:t>
            </a:r>
          </a:p>
          <a:p>
            <a:pPr algn="l"/>
            <a:r>
              <a:rPr lang="fr-FR" sz="3000" dirty="0"/>
              <a:t>sécurité et du risque lorsque personne ne les observe ».</a:t>
            </a:r>
          </a:p>
        </p:txBody>
      </p:sp>
    </p:spTree>
    <p:extLst>
      <p:ext uri="{BB962C8B-B14F-4D97-AF65-F5344CB8AC3E}">
        <p14:creationId xmlns:p14="http://schemas.microsoft.com/office/powerpoint/2010/main" val="114313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Graphic spid="9" grpId="0">
        <p:bldAsOne/>
      </p:bldGraphic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64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871" y="620689"/>
            <a:ext cx="4656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F0"/>
                </a:solidFill>
                <a:latin typeface="ArialMT"/>
              </a:rPr>
              <a:t>Caractérisation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2481" y="1213957"/>
            <a:ext cx="11665296" cy="5082949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2800" dirty="0">
                <a:latin typeface="ArialMT"/>
                <a:cs typeface="Times New Roman" panose="02020603050405020304" pitchFamily="18" charset="0"/>
              </a:rPr>
              <a:t>Elle traduit la façon dont la sécurité est </a:t>
            </a:r>
            <a:r>
              <a:rPr lang="fr-FR" sz="2800" b="1" dirty="0">
                <a:latin typeface="ArialMT"/>
                <a:cs typeface="Times New Roman" panose="02020603050405020304" pitchFamily="18" charset="0"/>
              </a:rPr>
              <a:t>perçue, appréciée et priorisée </a:t>
            </a:r>
            <a:r>
              <a:rPr lang="fr-FR" sz="2800" dirty="0">
                <a:latin typeface="ArialMT"/>
                <a:cs typeface="Times New Roman" panose="02020603050405020304" pitchFamily="18" charset="0"/>
              </a:rPr>
              <a:t>par la direction et par les employés d’une organisation et la mesure dans laquelle les individus et les groupes :</a:t>
            </a:r>
          </a:p>
          <a:p>
            <a:pPr marL="0" indent="0" algn="just">
              <a:buNone/>
            </a:pPr>
            <a:endParaRPr lang="fr-FR" sz="2800" dirty="0">
              <a:latin typeface="ArialMT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400" b="1" dirty="0">
                <a:latin typeface="ArialMT"/>
                <a:cs typeface="Times New Roman" panose="02020603050405020304" pitchFamily="18" charset="0"/>
              </a:rPr>
              <a:t>a) </a:t>
            </a:r>
            <a:r>
              <a:rPr lang="fr-FR" sz="2400" dirty="0">
                <a:latin typeface="ArialMT"/>
                <a:cs typeface="Times New Roman" panose="02020603050405020304" pitchFamily="18" charset="0"/>
              </a:rPr>
              <a:t>sont conscients des risques et des dangers connus auxquels l’organisation et ses activités sont confrontées ;</a:t>
            </a:r>
          </a:p>
          <a:p>
            <a:pPr marL="857250" lvl="1" indent="-457200">
              <a:buAutoNum type="alphaLcParenR"/>
            </a:pPr>
            <a:endParaRPr lang="fr-FR" sz="2400" dirty="0">
              <a:latin typeface="ArialMT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400" b="1" dirty="0">
                <a:latin typeface="ArialMT"/>
                <a:cs typeface="Times New Roman" panose="02020603050405020304" pitchFamily="18" charset="0"/>
              </a:rPr>
              <a:t>b) </a:t>
            </a:r>
            <a:r>
              <a:rPr lang="fr-FR" sz="2400" dirty="0">
                <a:latin typeface="ArialMT"/>
                <a:cs typeface="Times New Roman" panose="02020603050405020304" pitchFamily="18" charset="0"/>
              </a:rPr>
              <a:t>ont en tout temps un comportement visant à préserver et à renforcer la sécurité </a:t>
            </a:r>
          </a:p>
          <a:p>
            <a:pPr marL="400050" lvl="1" indent="0">
              <a:buNone/>
            </a:pPr>
            <a:endParaRPr lang="fr-FR" sz="2400" dirty="0">
              <a:latin typeface="ArialMT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400" b="1" dirty="0">
                <a:latin typeface="ArialMT"/>
                <a:cs typeface="Times New Roman" panose="02020603050405020304" pitchFamily="18" charset="0"/>
              </a:rPr>
              <a:t>c) </a:t>
            </a:r>
            <a:r>
              <a:rPr lang="fr-FR" sz="2400" dirty="0">
                <a:latin typeface="ArialMT"/>
                <a:cs typeface="Times New Roman" panose="02020603050405020304" pitchFamily="18" charset="0"/>
              </a:rPr>
              <a:t>sont capables d’accéder aux ressources requises pour assurer la sécurité de l’exploitation ;</a:t>
            </a:r>
          </a:p>
        </p:txBody>
      </p:sp>
    </p:spTree>
    <p:extLst>
      <p:ext uri="{BB962C8B-B14F-4D97-AF65-F5344CB8AC3E}">
        <p14:creationId xmlns:p14="http://schemas.microsoft.com/office/powerpoint/2010/main" val="19489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65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871" y="620689"/>
            <a:ext cx="5088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2481" y="1336924"/>
            <a:ext cx="11665296" cy="5201989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b="1" dirty="0">
                <a:latin typeface="ArialMT"/>
                <a:cs typeface="Times New Roman" panose="02020603050405020304" pitchFamily="18" charset="0"/>
              </a:rPr>
              <a:t>d) </a:t>
            </a:r>
            <a:r>
              <a:rPr lang="fr-FR" sz="2800" dirty="0">
                <a:latin typeface="ArialMT"/>
                <a:cs typeface="Times New Roman" panose="02020603050405020304" pitchFamily="18" charset="0"/>
              </a:rPr>
              <a:t>sont désireux et capables de s’adapter lorsqu’ils sont confrontés à des problèmes de sécurité ;</a:t>
            </a:r>
          </a:p>
          <a:p>
            <a:pPr marL="0" indent="0">
              <a:buNone/>
            </a:pPr>
            <a:endParaRPr lang="fr-FR" sz="2800" dirty="0">
              <a:latin typeface="ArialM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b="1" dirty="0">
                <a:latin typeface="ArialMT"/>
                <a:cs typeface="Times New Roman" panose="02020603050405020304" pitchFamily="18" charset="0"/>
              </a:rPr>
              <a:t>e) </a:t>
            </a:r>
            <a:r>
              <a:rPr lang="fr-FR" sz="2800" dirty="0">
                <a:latin typeface="ArialMT"/>
                <a:cs typeface="Times New Roman" panose="02020603050405020304" pitchFamily="18" charset="0"/>
              </a:rPr>
              <a:t>sont disposés à communiquer des problèmes de sécurité ;</a:t>
            </a:r>
          </a:p>
          <a:p>
            <a:pPr marL="0" indent="0">
              <a:buNone/>
            </a:pPr>
            <a:endParaRPr lang="fr-FR" sz="2800" dirty="0">
              <a:latin typeface="ArialM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b="1" dirty="0">
                <a:latin typeface="ArialMT"/>
                <a:cs typeface="Times New Roman" panose="02020603050405020304" pitchFamily="18" charset="0"/>
              </a:rPr>
              <a:t>f) </a:t>
            </a:r>
            <a:r>
              <a:rPr lang="fr-FR" sz="2800" dirty="0">
                <a:latin typeface="ArialMT"/>
                <a:cs typeface="Times New Roman" panose="02020603050405020304" pitchFamily="18" charset="0"/>
              </a:rPr>
              <a:t>évaluent en permanence les comportements en matière de sécurité dans l’ensemble de l’organisation.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DD0954C-EF4B-7B90-F788-5426B2EF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413948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66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-31358" y="588758"/>
            <a:ext cx="555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118465" y="1233755"/>
            <a:ext cx="11953328" cy="133853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/>
              <a:t>Les trois éléments culturels les plus influents sont les cultures </a:t>
            </a:r>
            <a:r>
              <a:rPr lang="fr-FR" b="1" dirty="0"/>
              <a:t>organisationnelles, professionnelles et nationales</a:t>
            </a:r>
          </a:p>
        </p:txBody>
      </p:sp>
      <p:grpSp>
        <p:nvGrpSpPr>
          <p:cNvPr id="49" name="Groupe 48"/>
          <p:cNvGrpSpPr/>
          <p:nvPr/>
        </p:nvGrpSpPr>
        <p:grpSpPr>
          <a:xfrm>
            <a:off x="2164695" y="2728869"/>
            <a:ext cx="8022884" cy="2461056"/>
            <a:chOff x="611560" y="3056176"/>
            <a:chExt cx="8022884" cy="2461056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1167887" y="3056176"/>
              <a:ext cx="6696744" cy="7920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2400" b="1" dirty="0"/>
                <a:t>CULTURE DE SECURITE</a:t>
              </a:r>
            </a:p>
          </p:txBody>
        </p:sp>
        <p:grpSp>
          <p:nvGrpSpPr>
            <p:cNvPr id="45" name="Groupe 44"/>
            <p:cNvGrpSpPr/>
            <p:nvPr/>
          </p:nvGrpSpPr>
          <p:grpSpPr>
            <a:xfrm>
              <a:off x="611560" y="4221088"/>
              <a:ext cx="8022884" cy="1296144"/>
              <a:chOff x="611560" y="4149080"/>
              <a:chExt cx="8022884" cy="1296144"/>
            </a:xfrm>
          </p:grpSpPr>
          <p:sp>
            <p:nvSpPr>
              <p:cNvPr id="14" name="Organigramme : Processus 13"/>
              <p:cNvSpPr/>
              <p:nvPr/>
            </p:nvSpPr>
            <p:spPr>
              <a:xfrm>
                <a:off x="611560" y="4581128"/>
                <a:ext cx="2289043" cy="864096"/>
              </a:xfrm>
              <a:prstGeom prst="flowChartProcess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/>
                  <a:t>Culture organisationnelle</a:t>
                </a:r>
              </a:p>
            </p:txBody>
          </p:sp>
          <p:sp>
            <p:nvSpPr>
              <p:cNvPr id="15" name="Organigramme : Processus 14"/>
              <p:cNvSpPr/>
              <p:nvPr/>
            </p:nvSpPr>
            <p:spPr>
              <a:xfrm>
                <a:off x="3371738" y="4556898"/>
                <a:ext cx="2289043" cy="864096"/>
              </a:xfrm>
              <a:prstGeom prst="flowChartProcess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/>
                  <a:t>Culture professionnelle</a:t>
                </a:r>
              </a:p>
            </p:txBody>
          </p:sp>
          <p:sp>
            <p:nvSpPr>
              <p:cNvPr id="16" name="Organigramme : Processus 15"/>
              <p:cNvSpPr/>
              <p:nvPr/>
            </p:nvSpPr>
            <p:spPr>
              <a:xfrm>
                <a:off x="6345401" y="4581128"/>
                <a:ext cx="2289043" cy="864096"/>
              </a:xfrm>
              <a:prstGeom prst="flowChartProcess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/>
                  <a:t>Culture nationale</a:t>
                </a:r>
              </a:p>
            </p:txBody>
          </p:sp>
          <p:grpSp>
            <p:nvGrpSpPr>
              <p:cNvPr id="39" name="Groupe 38"/>
              <p:cNvGrpSpPr/>
              <p:nvPr/>
            </p:nvGrpSpPr>
            <p:grpSpPr>
              <a:xfrm>
                <a:off x="1756081" y="4149080"/>
                <a:ext cx="5733842" cy="432048"/>
                <a:chOff x="1756081" y="4149080"/>
                <a:chExt cx="5733842" cy="432048"/>
              </a:xfrm>
            </p:grpSpPr>
            <p:cxnSp>
              <p:nvCxnSpPr>
                <p:cNvPr id="18" name="Connecteur droit 17"/>
                <p:cNvCxnSpPr/>
                <p:nvPr/>
              </p:nvCxnSpPr>
              <p:spPr>
                <a:xfrm>
                  <a:off x="1756081" y="4149080"/>
                  <a:ext cx="573384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eur droit avec flèche 21"/>
                <p:cNvCxnSpPr>
                  <a:endCxn id="14" idx="0"/>
                </p:cNvCxnSpPr>
                <p:nvPr/>
              </p:nvCxnSpPr>
              <p:spPr>
                <a:xfrm>
                  <a:off x="1756081" y="4149080"/>
                  <a:ext cx="1" cy="432048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avec flèche 29"/>
                <p:cNvCxnSpPr>
                  <a:endCxn id="15" idx="0"/>
                </p:cNvCxnSpPr>
                <p:nvPr/>
              </p:nvCxnSpPr>
              <p:spPr>
                <a:xfrm>
                  <a:off x="4516259" y="4149080"/>
                  <a:ext cx="1" cy="407818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avec flèche 34"/>
                <p:cNvCxnSpPr>
                  <a:endCxn id="16" idx="0"/>
                </p:cNvCxnSpPr>
                <p:nvPr/>
              </p:nvCxnSpPr>
              <p:spPr>
                <a:xfrm>
                  <a:off x="7489922" y="4149080"/>
                  <a:ext cx="1" cy="432048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8" name="Connecteur droit 47"/>
            <p:cNvCxnSpPr>
              <a:stCxn id="10" idx="2"/>
            </p:cNvCxnSpPr>
            <p:nvPr/>
          </p:nvCxnSpPr>
          <p:spPr>
            <a:xfrm>
              <a:off x="4516259" y="3848264"/>
              <a:ext cx="0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Espace réservé du contenu 2"/>
          <p:cNvSpPr txBox="1">
            <a:spLocks/>
          </p:cNvSpPr>
          <p:nvPr/>
        </p:nvSpPr>
        <p:spPr>
          <a:xfrm>
            <a:off x="0" y="5249276"/>
            <a:ext cx="12192000" cy="140485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dirty="0">
                <a:latin typeface="ArialMT"/>
              </a:rPr>
              <a:t>La combinaison de ces éléments culturels varie grandement suivant l’organisations et influence le compte rendu, l’analyse collaborative des causes racines et l’atténuation des risques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E67DF88-ACB9-776B-273C-6DDC8AC8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3262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67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-871" y="586789"/>
            <a:ext cx="1135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Caractérisation: </a:t>
            </a:r>
            <a:r>
              <a:rPr lang="fr-FR" sz="3600" b="1" dirty="0">
                <a:latin typeface="ArialMT"/>
              </a:rPr>
              <a:t>Culture organisationnelle</a:t>
            </a: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293448" y="1231471"/>
            <a:ext cx="11881320" cy="133853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latin typeface="ArialMT"/>
              </a:rPr>
              <a:t>Elle fait référence aux caractéristiques et aux perceptions de la sécurité entre membres qui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interagissent</a:t>
            </a:r>
            <a:r>
              <a:rPr lang="fr-FR" sz="2800" dirty="0">
                <a:latin typeface="ArialMT"/>
              </a:rPr>
              <a:t> au sein d’une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certaine entité</a:t>
            </a:r>
            <a:r>
              <a:rPr lang="fr-FR" sz="2800" dirty="0">
                <a:latin typeface="ArialMT"/>
              </a:rPr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774652" y="2603429"/>
            <a:ext cx="9361907" cy="372919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Elle inclut les politiques de priorisation ou de réalisation d’un équilibre entre des objectifs tels que :</a:t>
            </a:r>
          </a:p>
          <a:p>
            <a:pPr marL="1258888" indent="-630238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productivité vs. qualité,</a:t>
            </a:r>
          </a:p>
          <a:p>
            <a:pPr marL="1258888" indent="-630238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sécurité vs. efficacité, </a:t>
            </a:r>
          </a:p>
          <a:p>
            <a:pPr marL="1258888" indent="-630238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financier vs. technique, </a:t>
            </a:r>
          </a:p>
          <a:p>
            <a:pPr marL="1258888" indent="-630238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professionnel vs. académique, </a:t>
            </a:r>
          </a:p>
          <a:p>
            <a:pPr marL="1258888" indent="-630238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application vs. mesures correctives.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46AFDB7-7B1A-8EAB-D944-3BD2D90A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333294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68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714192"/>
            <a:ext cx="1113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 : </a:t>
            </a:r>
            <a:r>
              <a:rPr lang="fr-FR" sz="3600" b="1" dirty="0">
                <a:latin typeface="ArialMT"/>
              </a:rPr>
              <a:t>Culture organisationnelle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4469" y="1482504"/>
            <a:ext cx="11881320" cy="14431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2800" b="1" dirty="0">
                <a:latin typeface="ArialMT"/>
              </a:rPr>
              <a:t>L’organisation</a:t>
            </a:r>
            <a:r>
              <a:rPr lang="fr-FR" sz="2800" dirty="0">
                <a:latin typeface="ArialMT"/>
              </a:rPr>
              <a:t> est un élément déterminant majeur du comportement, dans lequel des personnes s’engageront en exerçant des activités de gestion ou opérationnelles.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1344" y="3356993"/>
            <a:ext cx="11881320" cy="1152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fr-FR" sz="2800" b="1" dirty="0">
                <a:latin typeface="ArialMT"/>
              </a:rPr>
              <a:t>La culture de l’organisation </a:t>
            </a:r>
            <a:r>
              <a:rPr lang="fr-FR" sz="2800" dirty="0">
                <a:latin typeface="ArialMT"/>
              </a:rPr>
              <a:t>fixe les limites de la performance de direction et opérationnelle en établissant les normes et les limites.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F701013-6EF9-C27A-D5C8-1B6E4D05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48582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69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698749"/>
            <a:ext cx="12005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 : </a:t>
            </a:r>
            <a:r>
              <a:rPr lang="fr-FR" sz="3600" b="1" dirty="0">
                <a:latin typeface="ArialMT"/>
              </a:rPr>
              <a:t>Culture professionnelle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336" y="1392803"/>
            <a:ext cx="11881320" cy="14431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Elle différencie les caractéristiques de groupes professionnels particuliers (</a:t>
            </a:r>
            <a:r>
              <a:rPr lang="fr-FR" sz="2800" dirty="0" err="1">
                <a:latin typeface="ArialMT"/>
              </a:rPr>
              <a:t>Exp</a:t>
            </a:r>
            <a:r>
              <a:rPr lang="fr-FR" sz="2800" dirty="0">
                <a:latin typeface="ArialMT"/>
              </a:rPr>
              <a:t> pilotes vis-à-vis des ATCO, du personnel A/d et ingénieurs de maintenance. )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endParaRPr lang="fr-FR" sz="2800" dirty="0">
              <a:latin typeface="ArialM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336" y="3177473"/>
            <a:ext cx="11881320" cy="22877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À travers la sélection du personnel, l’éducation, la formation, l’expérience professionnelle ou la pression des pairs, les professionnels ont tendance à adopter le système de valeurs et à développer des modèles de comportement en cohérence avec ceux de leurs pairs ou de leurs prédécesseurs.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429C90-54E2-4404-B10F-DF20CF24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28099678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70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47328" y="71511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 : </a:t>
            </a:r>
            <a:r>
              <a:rPr lang="fr-FR" sz="3600" b="1" dirty="0">
                <a:latin typeface="ArialMT"/>
              </a:rPr>
              <a:t>Culture professionnelle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344" y="1772816"/>
            <a:ext cx="11809312" cy="13881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Une culture professionnelle efficace reflète la capacité de groupes professionnels à faire la différence entre questions de performance de sécurité et questions contractuelles ou industrielles.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91344" y="3687324"/>
            <a:ext cx="11809312" cy="154187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Une saine culture professionnelle peut être caractérisée comme la capacité qu’ont tous les groupes professionnels au sein de l’organisation de s’occuper en collaboration des questions de performance de sécurité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7FE761F-EDF8-959E-DB6E-6455BA92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229974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71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15687" y="657562"/>
            <a:ext cx="10729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 : </a:t>
            </a:r>
            <a:r>
              <a:rPr lang="fr-FR" sz="3600" b="1" dirty="0">
                <a:latin typeface="ArialMT"/>
              </a:rPr>
              <a:t>Culture nationale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127" y="1328277"/>
            <a:ext cx="11809312" cy="21220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Elle différencie les caractéristiques des différentes nations, notamment </a:t>
            </a:r>
            <a:r>
              <a:rPr lang="fr-FR" sz="2800" b="1" dirty="0">
                <a:latin typeface="ArialMT"/>
              </a:rPr>
              <a:t>le rôle de l’individu au sein de la société, la manière dont l’autorité est distribuée</a:t>
            </a:r>
            <a:r>
              <a:rPr lang="fr-FR" sz="2800" dirty="0">
                <a:latin typeface="ArialMT"/>
              </a:rPr>
              <a:t> et les priorités nationales en ce qui concerne les ressources, les responsabilités, la moralité, les objectifs et les différents régimes juridiques.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079" y="3706660"/>
            <a:ext cx="11809312" cy="21706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Dans la perspective de la gestion de la sécurité, la culture nationale joue un grand rôle pour déterminer la nature et la portée des politiques d’application des règlements, y compris les relations entre </a:t>
            </a:r>
            <a:r>
              <a:rPr lang="fr-FR" sz="2800" b="1" dirty="0">
                <a:latin typeface="ArialMT"/>
              </a:rPr>
              <a:t>le personnel de l’autorité réglementaire et le personnel de l’industrie,</a:t>
            </a:r>
            <a:r>
              <a:rPr lang="fr-FR" sz="2800" dirty="0">
                <a:latin typeface="ArialMT"/>
              </a:rPr>
              <a:t> et la mesure dans laquelle les </a:t>
            </a:r>
            <a:r>
              <a:rPr lang="fr-FR" sz="2800" b="1" dirty="0">
                <a:latin typeface="ArialMT"/>
              </a:rPr>
              <a:t>renseignements sur la sécurité sont protégés.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C8DF88E-2E05-631A-946C-99B35783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7348693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72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16092" y="640236"/>
            <a:ext cx="9552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Caractérisation : </a:t>
            </a:r>
            <a:r>
              <a:rPr lang="fr-FR" sz="3600" b="1" dirty="0">
                <a:latin typeface="ArialMT"/>
              </a:rPr>
              <a:t>Culture nationale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473" y="1328637"/>
            <a:ext cx="11809312" cy="487623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fr-FR" sz="2800" dirty="0">
                <a:latin typeface="ArialMT"/>
              </a:rPr>
              <a:t>Dans la perspective de la gestion de la sécurité, la culture nationale joue un grand rôle dans la détermination de :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endParaRPr lang="fr-FR" sz="2800" dirty="0">
              <a:latin typeface="ArialMT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la nature et la portée des politiques de l’application des règlements, 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endParaRPr lang="fr-FR" sz="2800" dirty="0">
              <a:latin typeface="ArialMT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les relations entre le personnel de l’autorité réglementaire et le personnel de l’industrie,</a:t>
            </a: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endParaRPr lang="fr-FR" sz="2800" dirty="0">
              <a:latin typeface="ArialMT"/>
            </a:endParaRPr>
          </a:p>
          <a:p>
            <a:pPr marL="457200" indent="-457200"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 la mesure dans laquelle les renseignements sur la sécurité sont protégés.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2C64681-33B8-708A-9139-AF8882F7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83473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73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675549"/>
            <a:ext cx="768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Culture de compte rendu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88" y="1493577"/>
            <a:ext cx="11809312" cy="175517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fr-FR" sz="2800" dirty="0">
                <a:latin typeface="ArialMT"/>
              </a:rPr>
              <a:t>Elle émerge des convictions et des attitudes personnelles en ce qui concerne les </a:t>
            </a:r>
            <a:r>
              <a:rPr lang="fr-FR" sz="2800" b="1" dirty="0">
                <a:latin typeface="ArialMT"/>
              </a:rPr>
              <a:t>avantages et les inconvénients</a:t>
            </a:r>
            <a:r>
              <a:rPr lang="fr-FR" sz="2800" dirty="0">
                <a:latin typeface="ArialMT"/>
              </a:rPr>
              <a:t> qui peuvent être associés aux systèmes de compte rendu et l’effet ultime sur l’acceptation ou l’utilisation de ces systèmes.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344" y="3609250"/>
            <a:ext cx="11809312" cy="15515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fr-FR" sz="2800" dirty="0">
                <a:latin typeface="ArialMT"/>
              </a:rPr>
              <a:t>Elle est grandement influencée par les cultures organisationnelle, professionnelle et nationale, elle est l’un des critères pour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juger de l’efficacité d’un système de sécurité. 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67FC0DA-77F2-C4F6-6C35-92E1AD11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02270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74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-8080" y="576422"/>
            <a:ext cx="760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Culture de compte rendu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469" y="1165996"/>
            <a:ext cx="11881320" cy="179863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fr-FR" sz="2800" dirty="0">
                <a:latin typeface="ArialMT"/>
              </a:rPr>
              <a:t>Une saine culture de compte rendu vise à distinguer entre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écarts intentionnels et non intentionnels </a:t>
            </a:r>
            <a:r>
              <a:rPr lang="fr-FR" sz="2800" dirty="0">
                <a:latin typeface="ArialMT"/>
              </a:rPr>
              <a:t>et à déterminer la meilleure façon de procéder, pour l’organisation dans son ensemble et pour les individus directement concernés.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950" y="3181480"/>
            <a:ext cx="5648670" cy="32900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Organigramme : Bande perforée 4"/>
          <p:cNvSpPr/>
          <p:nvPr/>
        </p:nvSpPr>
        <p:spPr>
          <a:xfrm>
            <a:off x="7438621" y="3610965"/>
            <a:ext cx="3121875" cy="2081038"/>
          </a:xfrm>
          <a:prstGeom prst="flowChartPunchedTap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/>
              <a:t>Une culture « absolument sans blâme »  n’est pas réalisable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B087199-5D81-BAEF-CFEE-7D334780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10456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75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1631504" y="62359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rgbClr val="00B0F0"/>
                </a:solidFill>
                <a:latin typeface="ArialMT"/>
              </a:rPr>
              <a:t>Caractérisation de culture de compte rendu d’une organisation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839416" y="1844425"/>
            <a:ext cx="2592288" cy="9361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PATHOLOGIQUE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4439816" y="1844425"/>
            <a:ext cx="2592288" cy="93610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BUREAUCRATIQUE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8459488" y="1843597"/>
            <a:ext cx="2592288" cy="93610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GENERATIVE</a:t>
            </a:r>
          </a:p>
        </p:txBody>
      </p:sp>
      <p:sp>
        <p:nvSpPr>
          <p:cNvPr id="13" name="Organigramme : Processus 12"/>
          <p:cNvSpPr/>
          <p:nvPr/>
        </p:nvSpPr>
        <p:spPr>
          <a:xfrm>
            <a:off x="-24680" y="3068960"/>
            <a:ext cx="4320480" cy="2808312"/>
          </a:xfrm>
          <a:prstGeom prst="flowChart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fr-FR" sz="2400" dirty="0">
                <a:latin typeface="ArialMT"/>
              </a:rPr>
              <a:t>Le personnel n’est pas encouragé par les superviseurs à reporter les événements et les dangers;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fr-FR" sz="2400" dirty="0">
                <a:latin typeface="ArialMT"/>
              </a:rPr>
              <a:t>Encouragement discret pour manipuler ou cacher les informations</a:t>
            </a:r>
          </a:p>
        </p:txBody>
      </p:sp>
      <p:sp>
        <p:nvSpPr>
          <p:cNvPr id="14" name="Organigramme : Processus 13"/>
          <p:cNvSpPr/>
          <p:nvPr/>
        </p:nvSpPr>
        <p:spPr>
          <a:xfrm>
            <a:off x="4439816" y="3075598"/>
            <a:ext cx="2736304" cy="280167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2400" dirty="0">
                <a:latin typeface="ArialMT"/>
              </a:rPr>
              <a:t>Existence de barrières artificielles qui bloquent ou rendent difficile  la remontée d’information</a:t>
            </a:r>
          </a:p>
          <a:p>
            <a:endParaRPr lang="fr-FR" sz="2400" dirty="0">
              <a:latin typeface="ArialMT"/>
            </a:endParaRPr>
          </a:p>
        </p:txBody>
      </p:sp>
      <p:sp>
        <p:nvSpPr>
          <p:cNvPr id="15" name="Organigramme : Processus 14"/>
          <p:cNvSpPr/>
          <p:nvPr/>
        </p:nvSpPr>
        <p:spPr>
          <a:xfrm>
            <a:off x="7320136" y="2995533"/>
            <a:ext cx="4870993" cy="3101581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fr-FR" sz="2400" dirty="0">
                <a:latin typeface="ArialMT"/>
              </a:rPr>
              <a:t>Informations accessibles  à toutes les personnes concernées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fr-FR" sz="2400" dirty="0">
                <a:latin typeface="ArialMT"/>
              </a:rPr>
              <a:t>Des processus sont déployés pour le traitement et l’analyse objective des données de sécurité et des risques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fr-FR" sz="2400" dirty="0">
                <a:latin typeface="ArialMT"/>
              </a:rPr>
              <a:t>mise en œuvre des actions correctives formulées</a:t>
            </a:r>
          </a:p>
          <a:p>
            <a:endParaRPr lang="fr-FR" sz="2400" dirty="0">
              <a:latin typeface="ArialMT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0C7FCD7-6B62-D14D-91EC-A7B31A68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345587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76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604334"/>
            <a:ext cx="8370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Culture positive de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477" y="1271760"/>
            <a:ext cx="11737304" cy="482750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2800" b="1" dirty="0">
                <a:latin typeface="ArialMT"/>
              </a:rPr>
              <a:t>Elle est caractérisée par :</a:t>
            </a:r>
          </a:p>
          <a:p>
            <a:endParaRPr lang="fr-FR" sz="2800" b="1" dirty="0">
              <a:latin typeface="ArialMT"/>
            </a:endParaRPr>
          </a:p>
          <a:p>
            <a:pPr marL="628650" indent="-450850"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une recherche active d’amélioration, </a:t>
            </a:r>
          </a:p>
          <a:p>
            <a:pPr marL="628650" indent="-450850">
              <a:buFont typeface="Wingdings" panose="05000000000000000000" pitchFamily="2" charset="2"/>
              <a:buChar char="q"/>
            </a:pPr>
            <a:endParaRPr lang="fr-FR" sz="2800" dirty="0">
              <a:latin typeface="ArialMT"/>
            </a:endParaRPr>
          </a:p>
          <a:p>
            <a:pPr marL="628650" indent="-450850"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le maintien d’une surveillance permanente sur les dangers</a:t>
            </a:r>
          </a:p>
          <a:p>
            <a:pPr marL="628650" indent="-450850">
              <a:buFont typeface="Wingdings" panose="05000000000000000000" pitchFamily="2" charset="2"/>
              <a:buChar char="q"/>
            </a:pPr>
            <a:endParaRPr lang="fr-FR" sz="2800" dirty="0">
              <a:latin typeface="ArialMT"/>
            </a:endParaRPr>
          </a:p>
          <a:p>
            <a:pPr marL="628650" indent="-450850">
              <a:buFont typeface="Wingdings" panose="05000000000000000000" pitchFamily="2" charset="2"/>
              <a:buChar char="q"/>
            </a:pPr>
            <a:r>
              <a:rPr lang="fr-FR" sz="2800" dirty="0">
                <a:latin typeface="ArialMT"/>
              </a:rPr>
              <a:t>l’utilisation des systèmes et des outils pour le compte rendu continu, l’analyse, l’atténuation et la surveillance des événements (culture de compte rendu générative).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24E953D-C528-3C5F-5B79-DFAFCC54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45538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025157" y="6289011"/>
            <a:ext cx="21336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77</a:t>
            </a:fld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679111"/>
            <a:ext cx="8895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Profil de risque de l’organisation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8013" y="1392804"/>
            <a:ext cx="8895974" cy="11721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2800" dirty="0">
                <a:latin typeface="ArialMT"/>
              </a:rPr>
              <a:t>C’est le niveau de maturité de la culture de sécurité de l’organisation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984" y="2964870"/>
            <a:ext cx="3238500" cy="2924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39516" y="3068960"/>
            <a:ext cx="5364596" cy="194421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r>
              <a:rPr lang="fr-FR" sz="2800" dirty="0">
                <a:latin typeface="ArialMT"/>
              </a:rPr>
              <a:t>Elle peut être évaluée au moyen d’une liste de vérification contenant les divers paramètre d’une culture de sécurité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57B06F0-A7F9-9952-43CF-68726165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236000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78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1822674" y="1181084"/>
            <a:ext cx="729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Travaux dirigés pour approfondir le module I.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847528" y="2132857"/>
            <a:ext cx="8363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Voir fiche d’exercice N°I.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26EA910-4A2F-4CD6-9B86-59F9B94F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1" y="11921"/>
            <a:ext cx="12192000" cy="62125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2800" b="1" dirty="0">
                <a:solidFill>
                  <a:schemeClr val="accent6">
                    <a:lumMod val="75000"/>
                  </a:schemeClr>
                </a:solidFill>
              </a:rPr>
              <a:t>IV. CULTURE DE SECURITE</a:t>
            </a:r>
          </a:p>
        </p:txBody>
      </p:sp>
    </p:spTree>
    <p:extLst>
      <p:ext uri="{BB962C8B-B14F-4D97-AF65-F5344CB8AC3E}">
        <p14:creationId xmlns:p14="http://schemas.microsoft.com/office/powerpoint/2010/main" val="17045509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81158" y="428605"/>
            <a:ext cx="8229600" cy="2286016"/>
          </a:xfrm>
        </p:spPr>
        <p:txBody>
          <a:bodyPr anchor="ctr" anchorCtr="0">
            <a:normAutofit/>
          </a:bodyPr>
          <a:lstStyle/>
          <a:p>
            <a:pPr algn="ctr">
              <a:buNone/>
            </a:pPr>
            <a:r>
              <a:rPr lang="fr-FR" sz="6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MERCI DE VOTRE AIMABLE ATTENTION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0314" y="2357430"/>
            <a:ext cx="3633784" cy="3658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00" y="3357562"/>
            <a:ext cx="3581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79</a:t>
            </a:fld>
            <a:endParaRPr lang="fr-B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11658</TotalTime>
  <Words>4566</Words>
  <Application>Microsoft Office PowerPoint</Application>
  <PresentationFormat>Grand écran</PresentationFormat>
  <Paragraphs>674</Paragraphs>
  <Slides>79</Slides>
  <Notes>79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79</vt:i4>
      </vt:variant>
    </vt:vector>
  </HeadingPairs>
  <TitlesOfParts>
    <vt:vector size="86" baseType="lpstr">
      <vt:lpstr>Aharoni</vt:lpstr>
      <vt:lpstr>Arial</vt:lpstr>
      <vt:lpstr>ArialMT</vt:lpstr>
      <vt:lpstr>avenir-lt-w01_35-light1475496</vt:lpstr>
      <vt:lpstr>Calibri</vt:lpstr>
      <vt:lpstr>Wingdings</vt:lpstr>
      <vt:lpstr>Thème Office</vt:lpstr>
      <vt:lpstr>Présentation PowerPoint</vt:lpstr>
      <vt:lpstr>SOMMAIRE</vt:lpstr>
      <vt:lpstr>OBJET DU MODULE 1</vt:lpstr>
      <vt:lpstr>Présentation PowerPoint</vt:lpstr>
      <vt:lpstr>I. CONCEPTS DE MANAGEMENT DE  SÉCURITÉ</vt:lpstr>
      <vt:lpstr>I. CONCEPTS DE MANAGEMENT DE  SÉCURITÉ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I. CONCEPTS DE MANAGEMENT DE  SÉCURITÉ</vt:lpstr>
      <vt:lpstr>I. CONCEPTS DE MANAGEMENT DE  SÉCURITÉ</vt:lpstr>
      <vt:lpstr>I. CONCEPTS DE MANAGEMENT DE  SÉCURITÉ</vt:lpstr>
      <vt:lpstr>Présentation PowerPoint</vt:lpstr>
      <vt:lpstr>Présentation PowerPoint</vt:lpstr>
      <vt:lpstr>Présentation PowerPoint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II. APPROCHES DU MANAGEMENT DE LA SECURITE</vt:lpstr>
      <vt:lpstr>Présentation PowerPoint</vt:lpstr>
      <vt:lpstr>III. GESTION DES CHANGEMENTS</vt:lpstr>
      <vt:lpstr>III. GESTION DES CHANGEMENTS</vt:lpstr>
      <vt:lpstr>III. GESTION DES CHANGEMENTS</vt:lpstr>
      <vt:lpstr>Présentation PowerPoint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IV. CULTURE DE SECURITE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Moustapha Roufai</dc:creator>
  <cp:lastModifiedBy>MOUSTAPHA Amadou Roufaï</cp:lastModifiedBy>
  <cp:revision>418</cp:revision>
  <dcterms:created xsi:type="dcterms:W3CDTF">2015-03-17T09:23:14Z</dcterms:created>
  <dcterms:modified xsi:type="dcterms:W3CDTF">2025-10-01T19:12:33Z</dcterms:modified>
</cp:coreProperties>
</file>