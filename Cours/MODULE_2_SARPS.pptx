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2"/>
  </p:notesMasterIdLst>
  <p:sldIdLst>
    <p:sldId id="256" r:id="rId2"/>
    <p:sldId id="348" r:id="rId3"/>
    <p:sldId id="353" r:id="rId4"/>
    <p:sldId id="378" r:id="rId5"/>
    <p:sldId id="396" r:id="rId6"/>
    <p:sldId id="382" r:id="rId7"/>
    <p:sldId id="266" r:id="rId8"/>
    <p:sldId id="380" r:id="rId9"/>
    <p:sldId id="305" r:id="rId10"/>
    <p:sldId id="350" r:id="rId11"/>
    <p:sldId id="351" r:id="rId12"/>
    <p:sldId id="352" r:id="rId13"/>
    <p:sldId id="397" r:id="rId14"/>
    <p:sldId id="355" r:id="rId15"/>
    <p:sldId id="363" r:id="rId16"/>
    <p:sldId id="356" r:id="rId17"/>
    <p:sldId id="362" r:id="rId18"/>
    <p:sldId id="398" r:id="rId19"/>
    <p:sldId id="358" r:id="rId20"/>
    <p:sldId id="359" r:id="rId21"/>
    <p:sldId id="360" r:id="rId22"/>
    <p:sldId id="361" r:id="rId23"/>
    <p:sldId id="364" r:id="rId24"/>
    <p:sldId id="365" r:id="rId25"/>
    <p:sldId id="366" r:id="rId26"/>
    <p:sldId id="368" r:id="rId27"/>
    <p:sldId id="399" r:id="rId28"/>
    <p:sldId id="367" r:id="rId29"/>
    <p:sldId id="369" r:id="rId30"/>
    <p:sldId id="370" r:id="rId31"/>
    <p:sldId id="371" r:id="rId32"/>
    <p:sldId id="400" r:id="rId33"/>
    <p:sldId id="373" r:id="rId34"/>
    <p:sldId id="374" r:id="rId35"/>
    <p:sldId id="375" r:id="rId36"/>
    <p:sldId id="386" r:id="rId37"/>
    <p:sldId id="387" r:id="rId38"/>
    <p:sldId id="388" r:id="rId39"/>
    <p:sldId id="389" r:id="rId40"/>
    <p:sldId id="394" r:id="rId41"/>
    <p:sldId id="395" r:id="rId42"/>
    <p:sldId id="376" r:id="rId43"/>
    <p:sldId id="390" r:id="rId44"/>
    <p:sldId id="401" r:id="rId45"/>
    <p:sldId id="391" r:id="rId46"/>
    <p:sldId id="402" r:id="rId47"/>
    <p:sldId id="393" r:id="rId48"/>
    <p:sldId id="385" r:id="rId49"/>
    <p:sldId id="377" r:id="rId50"/>
    <p:sldId id="286" r:id="rId5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3" autoAdjust="0"/>
    <p:restoredTop sz="94638" autoAdjust="0"/>
  </p:normalViewPr>
  <p:slideViewPr>
    <p:cSldViewPr>
      <p:cViewPr>
        <p:scale>
          <a:sx n="50" d="100"/>
          <a:sy n="50" d="100"/>
        </p:scale>
        <p:origin x="510" y="3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297DB-BE90-4ACD-BAA0-39B9312079A3}" type="datetimeFigureOut">
              <a:rPr lang="fr-FR" smtClean="0"/>
              <a:pPr/>
              <a:t>04/10/2025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08858A-24C0-45FC-8BAD-17E81CB3740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37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79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755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05676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791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D6A95-1235-A928-EED1-589C67EB5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6963C9-AB16-874F-F210-F29C3BA23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34EF71D-1391-DF18-35DA-FB3D1E7D5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5B2C76-87A8-FDA8-9481-DBC9D93B7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6754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1155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395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372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7915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0940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394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352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53B5-8BB1-FE8F-E5C0-3BC1B1DC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0F8DA81-4FFD-3985-C31A-03407B164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16E0A11-9A72-EFCF-09D9-40079DEF7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34AB0F-4B78-7B4D-36E4-454B31BC08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7827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605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711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59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5882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513A-91FD-0CFF-D2E6-2FFDA8C6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ED93F46-3E7E-00FE-1724-E8D43CE0B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3BACC77-1F38-1E04-0370-7EAB8294F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D63598-2D4B-56B9-B8F5-766A07EE99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3029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983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877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6775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093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6259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96970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883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1917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B931-368C-9B41-3628-AF609363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7051B96-A97F-D0AC-FBDB-50C2729C4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1D7AB18-7F2F-8D55-C1CF-D6610F4E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95D4C1-E639-782D-AC33-9F0A42947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425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5705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36942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808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72343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75B8-9A7D-DB53-D21B-CBC2CE9F2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836F9BB-785B-C6CC-23F3-34F73BAFC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E7F4602-E03B-94D8-774B-D3749BE1C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72D0C4-DB22-179B-5AA4-F06015003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29760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47464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4765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3753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06118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62009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1990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0282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82831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3914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34467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2072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BFFDF-5063-B981-3F7D-EF5FB22C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78B4AC9-E39B-207C-E0C6-27F7EDF66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8E1C58D-73D9-1DD9-1A3A-CE0134653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9ED517-5A84-8692-72B5-032D372F7F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2471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00864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F8D24-01E6-335C-8B78-20B60AC8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BEDB7D3-2F87-A7B9-32D0-5C2F17607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33CA4E9-D978-A283-A9E2-F542AD25B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7EA518C-F920-7BD3-EC68-080464155B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66945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01153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1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7538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08858A-24C0-45FC-8BAD-17E81CB37407}" type="slidenum">
              <a:rPr lang="fr-FR" smtClean="0"/>
              <a:pPr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281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D86B4-96DC-4197-864A-824B587DC928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D06A06-3C7B-18F8-C041-FACA637C1E53}"/>
              </a:ext>
            </a:extLst>
          </p:cNvPr>
          <p:cNvSpPr txBox="1"/>
          <p:nvPr userDrawn="1"/>
        </p:nvSpPr>
        <p:spPr>
          <a:xfrm>
            <a:off x="0" y="6596945"/>
            <a:ext cx="12192000" cy="2616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1614488" indent="-1614488"/>
            <a:r>
              <a:rPr lang="fr-FR" sz="1100" b="0" i="1" dirty="0"/>
              <a:t>M. MOUSTAPHA Amadou Roufaï, Chargé des systèmes de management ASECNA Bénin	                                                                                                                                              Cours SMS  ERNAM    octobre 2025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B9435-9462-418C-8B29-497A6250095F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9B7F2-31DB-43F8-8482-D56998514FBF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1D6C9-1E4B-4E50-AC27-1D5D05670025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0EE1F-096D-44B0-9AB4-ADBAE7AB8586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AF0ED-4124-426C-AEA2-F536BAB5F13C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9881-A21A-4C97-8159-7B9298A0501C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B2048-94A4-40D6-9A91-630E20D7AE32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FDC8A-4AF6-48FF-B6C8-2490FFB2243A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9B8DD-2383-4320-A89E-91A116AF52D3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A0181-C3C1-4AF1-AEE9-568F4C0B70F1}" type="datetime1">
              <a:rPr lang="fr-FR" smtClean="0"/>
              <a:pPr/>
              <a:t>04/10/2025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&#8211;moustapharou@asecna.org" TargetMode="External"/><Relationship Id="rId4" Type="http://schemas.openxmlformats.org/officeDocument/2006/relationships/hyperlink" Target="mailto:moustapharouf@yahoo.fr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../Docs/OACI/an19_2ed_fr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Docs/SARPS_PNS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Docs/SARPS_SMS.pdf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88288" y="6352695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</a:t>
            </a:fld>
            <a:endParaRPr lang="fr-BE" dirty="0"/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9AD7F3-4388-403C-A2DE-8BD3AF77D5BB}"/>
              </a:ext>
            </a:extLst>
          </p:cNvPr>
          <p:cNvSpPr/>
          <p:nvPr/>
        </p:nvSpPr>
        <p:spPr>
          <a:xfrm>
            <a:off x="0" y="2527328"/>
            <a:ext cx="12191999" cy="165618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latin typeface="ArialMT"/>
              </a:rPr>
              <a:t>MODULE II.</a:t>
            </a:r>
          </a:p>
          <a:p>
            <a:pPr algn="ctr"/>
            <a:r>
              <a:rPr lang="fr-FR" sz="3600" b="1" dirty="0">
                <a:solidFill>
                  <a:srgbClr val="0070C0"/>
                </a:solidFill>
                <a:latin typeface="ArialMT"/>
              </a:rPr>
              <a:t>EXIGENCES RELATIVES A LA GESTION DE LA SÉCURITÉ</a:t>
            </a:r>
            <a:endParaRPr lang="x-none" sz="3600" dirty="0">
              <a:solidFill>
                <a:srgbClr val="0070C0"/>
              </a:solidFill>
              <a:latin typeface="ArialM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8408696-B304-1017-9DB7-B74D0D667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73" y="116632"/>
            <a:ext cx="882570" cy="105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ous-titre 2">
            <a:extLst>
              <a:ext uri="{FF2B5EF4-FFF2-40B4-BE49-F238E27FC236}">
                <a16:creationId xmlns:a16="http://schemas.microsoft.com/office/drawing/2014/main" id="{F3E503C4-9763-C3D9-16EC-C19EAF7A7B07}"/>
              </a:ext>
            </a:extLst>
          </p:cNvPr>
          <p:cNvSpPr txBox="1">
            <a:spLocks/>
          </p:cNvSpPr>
          <p:nvPr/>
        </p:nvSpPr>
        <p:spPr>
          <a:xfrm>
            <a:off x="909810" y="359297"/>
            <a:ext cx="10672590" cy="488096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600" b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SYSTÈME DE GESTION DE LA SECURITE</a:t>
            </a:r>
            <a:endParaRPr lang="fr-FR" sz="3600" b="1" dirty="0">
              <a:solidFill>
                <a:schemeClr val="tx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2478AD6-EFA8-0385-74E3-79AA4A17F08C}"/>
              </a:ext>
            </a:extLst>
          </p:cNvPr>
          <p:cNvSpPr txBox="1"/>
          <p:nvPr/>
        </p:nvSpPr>
        <p:spPr>
          <a:xfrm>
            <a:off x="241700" y="5725705"/>
            <a:ext cx="11708597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70C0"/>
                </a:solidFill>
              </a:rPr>
              <a:t>Préparé et présenté par :</a:t>
            </a:r>
          </a:p>
          <a:p>
            <a:pPr marL="1614488"/>
            <a:r>
              <a:rPr lang="fr-FR" sz="2000" b="1" dirty="0"/>
              <a:t>M. MOUSTAPHA Amadou Roufaï, ASECNA-BENIN			octobre 2025</a:t>
            </a:r>
          </a:p>
          <a:p>
            <a:pPr marL="1614488"/>
            <a:r>
              <a:rPr lang="fr-FR" sz="2000" dirty="0">
                <a:hlinkClick r:id="rId4"/>
              </a:rPr>
              <a:t>moustapharouf@yahoo.fr</a:t>
            </a:r>
            <a:r>
              <a:rPr lang="fr-FR" sz="2000" dirty="0"/>
              <a:t> / </a:t>
            </a:r>
            <a:r>
              <a:rPr lang="fr-FR" sz="2000" dirty="0">
                <a:hlinkClick r:id="rId5"/>
              </a:rPr>
              <a:t>moustapharou@asecna.org</a:t>
            </a:r>
            <a:r>
              <a:rPr lang="fr-FR" sz="2000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7232"/>
          </a:xfrm>
          <a:solidFill>
            <a:schemeClr val="bg1">
              <a:lumMod val="85000"/>
            </a:schemeClr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600" b="1" dirty="0">
                <a:latin typeface="Aharoni" panose="02010803020104030203" pitchFamily="2" charset="-79"/>
                <a:cs typeface="Aharoni" panose="02010803020104030203" pitchFamily="2" charset="-79"/>
              </a:rPr>
              <a:t>SOMMAIRE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4124" y="857232"/>
            <a:ext cx="12187876" cy="493981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PRESENTATION DE L’ANNEXE 19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endParaRPr lang="fr-FR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RESPONSABILITES DE L’ETAT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endParaRPr lang="fr-FR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RESPONSABILITES DES ANSP ET EXPLOITANTS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endParaRPr lang="fr-FR" dirty="0">
              <a:solidFill>
                <a:schemeClr val="tx1"/>
              </a:solidFill>
              <a:latin typeface="ArialMT"/>
            </a:endParaRPr>
          </a:p>
          <a:p>
            <a:pPr marL="571500" indent="-571500">
              <a:buFont typeface="+mj-lt"/>
              <a:buAutoNum type="romanUcPeriod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 PARTAGE ET PROTECTION DES DONNÉES ET INFORMATIONS DE SÉCURITÉ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10560496" y="1340768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8982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-4573" y="1222040"/>
            <a:ext cx="8280920" cy="5078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A la fin de ce module, les participants seront capables de :</a:t>
            </a:r>
          </a:p>
          <a:p>
            <a:pPr marL="0" lvl="1" algn="just"/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571500" lvl="1" indent="-571500" algn="just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Comprendre</a:t>
            </a:r>
          </a:p>
          <a:p>
            <a:pPr marL="571500" lvl="1" indent="-571500" algn="just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expliquer</a:t>
            </a:r>
          </a:p>
          <a:p>
            <a:pPr marL="571500" lvl="1" indent="-571500" algn="just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/>
                </a:solidFill>
                <a:latin typeface="ArialMT"/>
              </a:rPr>
              <a:t>savoir appliquer </a:t>
            </a:r>
          </a:p>
          <a:p>
            <a:pPr marL="0" lvl="1" algn="just"/>
            <a:endParaRPr lang="fr-FR" sz="3600" dirty="0">
              <a:solidFill>
                <a:schemeClr val="tx1"/>
              </a:solidFill>
              <a:latin typeface="ArialMT"/>
            </a:endParaRPr>
          </a:p>
          <a:p>
            <a:pPr marL="0" lvl="1" algn="just"/>
            <a:r>
              <a:rPr lang="fr-FR" sz="3600" dirty="0">
                <a:solidFill>
                  <a:schemeClr val="tx1"/>
                </a:solidFill>
                <a:latin typeface="ArialMT"/>
              </a:rPr>
              <a:t>« les exigences » de l’OACI relatives à la gestion de la sécurité</a:t>
            </a:r>
          </a:p>
        </p:txBody>
      </p: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  <p:sp>
        <p:nvSpPr>
          <p:cNvPr id="34" name="ZoneTexte 33"/>
          <p:cNvSpPr txBox="1"/>
          <p:nvPr/>
        </p:nvSpPr>
        <p:spPr>
          <a:xfrm>
            <a:off x="0" y="38180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OBJECTIF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F2969C5E-A4C1-D15C-2945-CE66D33C3EBC}"/>
              </a:ext>
            </a:extLst>
          </p:cNvPr>
          <p:cNvSpPr/>
          <p:nvPr/>
        </p:nvSpPr>
        <p:spPr>
          <a:xfrm>
            <a:off x="8370743" y="754360"/>
            <a:ext cx="3773929" cy="4114800"/>
          </a:xfrm>
          <a:custGeom>
            <a:avLst/>
            <a:gdLst/>
            <a:ahLst/>
            <a:cxnLst/>
            <a:rect l="l" t="t" r="r" b="b"/>
            <a:pathLst>
              <a:path w="4010060" h="4114800">
                <a:moveTo>
                  <a:pt x="0" y="0"/>
                </a:moveTo>
                <a:lnTo>
                  <a:pt x="4010059" y="0"/>
                </a:lnTo>
                <a:lnTo>
                  <a:pt x="4010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92C0371-0751-863E-6DD0-A9193A61BDD4}"/>
              </a:ext>
            </a:extLst>
          </p:cNvPr>
          <p:cNvGrpSpPr/>
          <p:nvPr/>
        </p:nvGrpSpPr>
        <p:grpSpPr>
          <a:xfrm>
            <a:off x="8337425" y="4911865"/>
            <a:ext cx="3872504" cy="1613479"/>
            <a:chOff x="8337425" y="4869160"/>
            <a:chExt cx="3872504" cy="1613479"/>
          </a:xfrm>
        </p:grpSpPr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A9973262-AC79-B222-BAEC-B104A771F646}"/>
                </a:ext>
              </a:extLst>
            </p:cNvPr>
            <p:cNvSpPr txBox="1"/>
            <p:nvPr/>
          </p:nvSpPr>
          <p:spPr>
            <a:xfrm>
              <a:off x="10322965" y="4869160"/>
              <a:ext cx="1886964" cy="7078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>
              <a:defPPr>
                <a:defRPr lang="fr-FR"/>
              </a:defPPr>
              <a:lvl1pPr algn="ctr">
                <a:defRPr sz="20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fr-FR" dirty="0"/>
                <a:t>OACI</a:t>
              </a:r>
            </a:p>
            <a:p>
              <a:r>
                <a:rPr lang="fr-FR" dirty="0" err="1"/>
                <a:t>SARPs</a:t>
              </a:r>
              <a:r>
                <a:rPr lang="fr-FR" dirty="0"/>
                <a:t> et Orient</a:t>
              </a: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1F87F64C-1ACE-83FD-2B67-426DF060C215}"/>
                </a:ext>
              </a:extLst>
            </p:cNvPr>
            <p:cNvSpPr txBox="1"/>
            <p:nvPr/>
          </p:nvSpPr>
          <p:spPr>
            <a:xfrm>
              <a:off x="8337425" y="5774753"/>
              <a:ext cx="2178937" cy="70788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Etats</a:t>
              </a:r>
            </a:p>
            <a:p>
              <a:pPr algn="ctr"/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exigences et Orient</a:t>
              </a:r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D9FEA07B-F50D-1F4A-5102-A7E92A0D9B0A}"/>
                </a:ext>
              </a:extLst>
            </p:cNvPr>
            <p:cNvCxnSpPr>
              <a:cxnSpLocks/>
              <a:stCxn id="3" idx="1"/>
              <a:endCxn id="35" idx="0"/>
            </p:cNvCxnSpPr>
            <p:nvPr/>
          </p:nvCxnSpPr>
          <p:spPr>
            <a:xfrm flipH="1">
              <a:off x="9426894" y="5223103"/>
              <a:ext cx="896071" cy="5516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354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33111" y="23682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GLOSSAIRE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190261" y="1626656"/>
            <a:ext cx="11810395" cy="1754326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Standards and </a:t>
            </a:r>
            <a:r>
              <a:rPr lang="fr-FR" sz="3600" b="1" dirty="0" err="1">
                <a:latin typeface="ArialMT"/>
              </a:rPr>
              <a:t>Recommanded</a:t>
            </a:r>
            <a:r>
              <a:rPr lang="fr-FR" sz="3600" b="1" dirty="0">
                <a:latin typeface="ArialMT"/>
              </a:rPr>
              <a:t> practices</a:t>
            </a:r>
          </a:p>
          <a:p>
            <a:endParaRPr lang="fr-FR" sz="3600" b="1" dirty="0">
              <a:latin typeface="ArialMT"/>
            </a:endParaRPr>
          </a:p>
          <a:p>
            <a:r>
              <a:rPr lang="fr-FR" sz="3600" b="1" dirty="0">
                <a:solidFill>
                  <a:srgbClr val="FF0000"/>
                </a:solidFill>
                <a:latin typeface="ArialMT"/>
              </a:rPr>
              <a:t>Normes et pratiques recommandées</a:t>
            </a:r>
            <a:endParaRPr lang="fr-FR" sz="36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90261" y="900592"/>
            <a:ext cx="18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SARPS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90261" y="3584740"/>
            <a:ext cx="18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CE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90261" y="4221089"/>
            <a:ext cx="11810394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 err="1">
                <a:latin typeface="ArialMT"/>
              </a:rPr>
              <a:t>Critical</a:t>
            </a:r>
            <a:r>
              <a:rPr lang="fr-FR" sz="3600" b="1" dirty="0">
                <a:latin typeface="ArialMT"/>
              </a:rPr>
              <a:t> </a:t>
            </a:r>
            <a:r>
              <a:rPr lang="fr-FR" sz="3600" b="1" dirty="0" err="1">
                <a:latin typeface="ArialMT"/>
              </a:rPr>
              <a:t>Elements</a:t>
            </a:r>
            <a:endParaRPr lang="fr-FR" sz="3600" b="1" dirty="0">
              <a:latin typeface="ArialMT"/>
            </a:endParaRPr>
          </a:p>
          <a:p>
            <a:endParaRPr lang="fr-FR" sz="3600" b="1" dirty="0">
              <a:latin typeface="ArialMT"/>
            </a:endParaRPr>
          </a:p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Eléments Cruciaux</a:t>
            </a:r>
            <a:endParaRPr lang="fr-FR" sz="3600" dirty="0">
              <a:solidFill>
                <a:srgbClr val="00B0F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8231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4F010-2625-142F-CC85-1C99FC3B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856CF34-0108-F62B-6267-CBF409284A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0B1DB98-C168-B004-08E5-8C62FC0C4694}"/>
              </a:ext>
            </a:extLst>
          </p:cNvPr>
          <p:cNvSpPr txBox="1"/>
          <p:nvPr/>
        </p:nvSpPr>
        <p:spPr>
          <a:xfrm>
            <a:off x="145511" y="4695928"/>
            <a:ext cx="11737304" cy="1754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Programme National de Sécurité </a:t>
            </a:r>
          </a:p>
          <a:p>
            <a:r>
              <a:rPr lang="fr-FR" sz="3600" dirty="0">
                <a:latin typeface="ArialMT"/>
              </a:rPr>
              <a:t>Ensemble intégré de règlements et d’activités de l’Etat qui visent à améliorer la sécurité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E7460F-C7A4-E176-5579-F2AE11EF6551}"/>
              </a:ext>
            </a:extLst>
          </p:cNvPr>
          <p:cNvSpPr txBox="1"/>
          <p:nvPr/>
        </p:nvSpPr>
        <p:spPr>
          <a:xfrm>
            <a:off x="124342" y="4065440"/>
            <a:ext cx="8270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SSP : STATE SAFETY PROGRAMME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22613AA-FAC2-1D50-6E46-91E8DD8EE682}"/>
              </a:ext>
            </a:extLst>
          </p:cNvPr>
          <p:cNvSpPr txBox="1"/>
          <p:nvPr/>
        </p:nvSpPr>
        <p:spPr>
          <a:xfrm>
            <a:off x="145511" y="875762"/>
            <a:ext cx="18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A42BDCD-75B5-7382-D575-3813D61FC193}"/>
              </a:ext>
            </a:extLst>
          </p:cNvPr>
          <p:cNvSpPr txBox="1"/>
          <p:nvPr/>
        </p:nvSpPr>
        <p:spPr>
          <a:xfrm>
            <a:off x="197058" y="1592451"/>
            <a:ext cx="11670468" cy="175432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 err="1">
                <a:latin typeface="ArialMT"/>
              </a:rPr>
              <a:t>Safety</a:t>
            </a:r>
            <a:r>
              <a:rPr lang="fr-FR" sz="3600" b="1" dirty="0">
                <a:latin typeface="ArialMT"/>
              </a:rPr>
              <a:t> Management System</a:t>
            </a:r>
          </a:p>
          <a:p>
            <a:endParaRPr lang="fr-FR" sz="3600" b="1" dirty="0">
              <a:latin typeface="ArialMT"/>
            </a:endParaRPr>
          </a:p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Système de Gestion de la Sécurité (SGS)</a:t>
            </a:r>
            <a:endParaRPr lang="fr-FR" sz="3600" dirty="0">
              <a:solidFill>
                <a:srgbClr val="00B0F0"/>
              </a:solidFill>
              <a:latin typeface="ArialMT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C430319-CDAA-3D70-F002-704F2F44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111" y="23682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GLOSSAIRE</a:t>
            </a:r>
          </a:p>
        </p:txBody>
      </p:sp>
    </p:spTree>
    <p:extLst>
      <p:ext uri="{BB962C8B-B14F-4D97-AF65-F5344CB8AC3E}">
        <p14:creationId xmlns:p14="http://schemas.microsoft.com/office/powerpoint/2010/main" val="364022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  <p:sp>
        <p:nvSpPr>
          <p:cNvPr id="14" name="ZoneTexte 13"/>
          <p:cNvSpPr txBox="1"/>
          <p:nvPr/>
        </p:nvSpPr>
        <p:spPr>
          <a:xfrm>
            <a:off x="197058" y="1052736"/>
            <a:ext cx="1810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SSO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97058" y="1902732"/>
            <a:ext cx="6979062" cy="23083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State </a:t>
            </a:r>
            <a:r>
              <a:rPr lang="fr-FR" sz="3600" b="1" dirty="0" err="1">
                <a:latin typeface="ArialMT"/>
              </a:rPr>
              <a:t>Safety</a:t>
            </a:r>
            <a:r>
              <a:rPr lang="fr-FR" sz="3600" b="1" dirty="0">
                <a:latin typeface="ArialMT"/>
              </a:rPr>
              <a:t> </a:t>
            </a:r>
            <a:r>
              <a:rPr lang="fr-FR" sz="3600" b="1" dirty="0" err="1">
                <a:latin typeface="ArialMT"/>
              </a:rPr>
              <a:t>Oversight</a:t>
            </a:r>
            <a:endParaRPr lang="fr-FR" sz="3600" b="1" dirty="0">
              <a:latin typeface="ArialMT"/>
            </a:endParaRPr>
          </a:p>
          <a:p>
            <a:endParaRPr lang="fr-FR" sz="3600" b="1" dirty="0">
              <a:latin typeface="ArialMT"/>
            </a:endParaRPr>
          </a:p>
          <a:p>
            <a:r>
              <a:rPr lang="fr-FR" sz="3600" b="1" dirty="0">
                <a:solidFill>
                  <a:srgbClr val="00B0F0"/>
                </a:solidFill>
                <a:latin typeface="ArialMT"/>
              </a:rPr>
              <a:t>Supervision de la sécurité par l’Etat</a:t>
            </a:r>
            <a:endParaRPr lang="fr-FR" sz="3600" dirty="0">
              <a:solidFill>
                <a:srgbClr val="00B0F0"/>
              </a:solidFill>
              <a:latin typeface="ArialMT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21AC67F-D956-A454-4E26-35366AC5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111" y="23682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457200"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GLOSSAIRE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1BBE5680-1BED-842F-A801-9583BB47395D}"/>
              </a:ext>
            </a:extLst>
          </p:cNvPr>
          <p:cNvGrpSpPr/>
          <p:nvPr/>
        </p:nvGrpSpPr>
        <p:grpSpPr>
          <a:xfrm>
            <a:off x="6820072" y="1174477"/>
            <a:ext cx="5400600" cy="3764834"/>
            <a:chOff x="6791400" y="1513966"/>
            <a:chExt cx="5400600" cy="3764834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56857021-EA48-59C0-4198-01E916FF590A}"/>
                </a:ext>
              </a:extLst>
            </p:cNvPr>
            <p:cNvSpPr/>
            <p:nvPr/>
          </p:nvSpPr>
          <p:spPr>
            <a:xfrm>
              <a:off x="7464152" y="1513966"/>
              <a:ext cx="3096344" cy="3085856"/>
            </a:xfrm>
            <a:custGeom>
              <a:avLst/>
              <a:gdLst/>
              <a:ahLst/>
              <a:cxnLst/>
              <a:rect l="l" t="t" r="r" b="b"/>
              <a:pathLst>
                <a:path w="4360053" h="4114800">
                  <a:moveTo>
                    <a:pt x="0" y="0"/>
                  </a:moveTo>
                  <a:lnTo>
                    <a:pt x="4360053" y="0"/>
                  </a:lnTo>
                  <a:lnTo>
                    <a:pt x="4360053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72660651-380D-EA22-211D-D7C55E2F57E1}"/>
                </a:ext>
              </a:extLst>
            </p:cNvPr>
            <p:cNvSpPr txBox="1"/>
            <p:nvPr/>
          </p:nvSpPr>
          <p:spPr>
            <a:xfrm>
              <a:off x="6791400" y="4632469"/>
              <a:ext cx="5400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600" b="1" dirty="0">
                  <a:latin typeface="ArialMT"/>
                </a:rPr>
                <a:t>Audits et inspections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E3CE3184-237A-C67F-05A0-682E35F7EF05}"/>
              </a:ext>
            </a:extLst>
          </p:cNvPr>
          <p:cNvGrpSpPr/>
          <p:nvPr/>
        </p:nvGrpSpPr>
        <p:grpSpPr>
          <a:xfrm>
            <a:off x="2215679" y="4968660"/>
            <a:ext cx="9943210" cy="1507654"/>
            <a:chOff x="2215679" y="4968660"/>
            <a:chExt cx="9943210" cy="1507654"/>
          </a:xfrm>
        </p:grpSpPr>
        <p:sp>
          <p:nvSpPr>
            <p:cNvPr id="16" name="Freeform 2">
              <a:extLst>
                <a:ext uri="{FF2B5EF4-FFF2-40B4-BE49-F238E27FC236}">
                  <a16:creationId xmlns:a16="http://schemas.microsoft.com/office/drawing/2014/main" id="{F3BB98B1-9FA6-C928-9EA8-9D0CC13D6E59}"/>
                </a:ext>
              </a:extLst>
            </p:cNvPr>
            <p:cNvSpPr/>
            <p:nvPr/>
          </p:nvSpPr>
          <p:spPr>
            <a:xfrm>
              <a:off x="2215679" y="4968660"/>
              <a:ext cx="1470910" cy="1507654"/>
            </a:xfrm>
            <a:custGeom>
              <a:avLst/>
              <a:gdLst/>
              <a:ahLst/>
              <a:cxnLst/>
              <a:rect l="l" t="t" r="r" b="b"/>
              <a:pathLst>
                <a:path w="4166886" h="4114800">
                  <a:moveTo>
                    <a:pt x="0" y="0"/>
                  </a:moveTo>
                  <a:lnTo>
                    <a:pt x="4166886" y="0"/>
                  </a:lnTo>
                  <a:lnTo>
                    <a:pt x="4166886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522EB721-4FBC-A221-0C7D-251B8E6FAEFC}"/>
                </a:ext>
              </a:extLst>
            </p:cNvPr>
            <p:cNvSpPr txBox="1"/>
            <p:nvPr/>
          </p:nvSpPr>
          <p:spPr>
            <a:xfrm>
              <a:off x="4121376" y="5122323"/>
              <a:ext cx="8037513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3600" b="1" dirty="0">
                  <a:latin typeface="ArialMT"/>
                </a:rPr>
                <a:t>surveillance</a:t>
              </a:r>
              <a:r>
                <a:rPr lang="fr-FR" dirty="0"/>
                <a:t> </a:t>
              </a:r>
              <a:r>
                <a:rPr lang="fr-FR" sz="3600" b="1" dirty="0">
                  <a:latin typeface="ArialMT"/>
                </a:rPr>
                <a:t>continue</a:t>
              </a:r>
              <a:r>
                <a:rPr lang="fr-FR" dirty="0"/>
                <a:t>, </a:t>
              </a:r>
              <a:r>
                <a:rPr lang="fr-FR" sz="3600" b="1" dirty="0">
                  <a:latin typeface="ArialMT"/>
                </a:rPr>
                <a:t>approbation, certification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109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2780928"/>
            <a:ext cx="12192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028700" lvl="1" indent="-571500" algn="ctr">
              <a:buAutoNum type="romanUcPeriod"/>
            </a:pPr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PRESENTATION DE L’ANNEXE 19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303912" y="560408"/>
            <a:ext cx="1931862" cy="1845270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683166"/>
            <a:ext cx="12192000" cy="850106"/>
          </a:xfr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l"/>
            <a:r>
              <a:rPr lang="fr-FR" sz="3600" b="1" dirty="0">
                <a:solidFill>
                  <a:srgbClr val="0070C0"/>
                </a:solidFill>
                <a:latin typeface="ArialMT"/>
              </a:rPr>
              <a:t>Besoin d’une annexe relative à la gestion de la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25298"/>
              </p:ext>
            </p:extLst>
          </p:nvPr>
        </p:nvGraphicFramePr>
        <p:xfrm>
          <a:off x="0" y="2275129"/>
          <a:ext cx="12191998" cy="387096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07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0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ArialMT"/>
                        </a:rPr>
                        <a:t>Description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ArialMT"/>
                        </a:rPr>
                        <a:t>Annexes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800" dirty="0">
                          <a:latin typeface="ArialMT"/>
                        </a:rPr>
                        <a:t>Date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SSP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Anne</a:t>
                      </a:r>
                      <a:r>
                        <a:rPr lang="fr-FR" sz="2800" baseline="0" dirty="0">
                          <a:latin typeface="ArialMT"/>
                        </a:rPr>
                        <a:t>xes 1, 6, 8, 11, 14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A partir de 2009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SMS pour</a:t>
                      </a:r>
                      <a:r>
                        <a:rPr lang="fr-FR" sz="2800" baseline="0" dirty="0">
                          <a:latin typeface="ArialMT"/>
                        </a:rPr>
                        <a:t> fournisseurs de services ATS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Annexe 11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2006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SMS pour exploitant d’aéronef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Annexe 6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2007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SMS pour exploitant d’aérodrome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Annexe 14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>
                          <a:latin typeface="ArialMT"/>
                        </a:rPr>
                        <a:t>2006</a:t>
                      </a:r>
                      <a:endParaRPr lang="en-US" sz="2800" dirty="0">
                        <a:latin typeface="ArialM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ZoneTexte 4"/>
          <p:cNvSpPr txBox="1"/>
          <p:nvPr/>
        </p:nvSpPr>
        <p:spPr>
          <a:xfrm>
            <a:off x="-1" y="1345038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Bien avant la première édition de l’annexe 19, des </a:t>
            </a:r>
            <a:r>
              <a:rPr lang="fr-FR" sz="2800" dirty="0" err="1">
                <a:latin typeface="ArialMT"/>
              </a:rPr>
              <a:t>SARPs</a:t>
            </a:r>
            <a:r>
              <a:rPr lang="fr-FR" sz="2800" dirty="0">
                <a:latin typeface="ArialMT"/>
              </a:rPr>
              <a:t> relatives  à la gestion de sécurité ont été édictées</a:t>
            </a:r>
            <a:endParaRPr lang="en-US" sz="2800" dirty="0">
              <a:latin typeface="ArialMT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2966471A-8059-4549-A72A-A1A5EAAE290E}"/>
              </a:ext>
            </a:extLst>
          </p:cNvPr>
          <p:cNvSpPr txBox="1">
            <a:spLocks/>
          </p:cNvSpPr>
          <p:nvPr/>
        </p:nvSpPr>
        <p:spPr>
          <a:xfrm>
            <a:off x="0" y="-7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 algn="ctr">
              <a:buFontTx/>
              <a:buAutoNum type="romanUcPeriod"/>
            </a:pPr>
            <a:r>
              <a:rPr lang="fr-FR" sz="3600" b="1" kern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PRESENTATION DE L’ANNEXE 19</a:t>
            </a:r>
            <a:endParaRPr lang="fr-FR" sz="3600" b="1" kern="0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F5A5FDA-45EB-45A3-8E92-802120DF7616}"/>
              </a:ext>
            </a:extLst>
          </p:cNvPr>
          <p:cNvSpPr txBox="1"/>
          <p:nvPr/>
        </p:nvSpPr>
        <p:spPr>
          <a:xfrm>
            <a:off x="900584" y="6071783"/>
            <a:ext cx="10681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MT"/>
              </a:rPr>
              <a:t>Dispositions </a:t>
            </a:r>
            <a:r>
              <a:rPr lang="fr-FR" sz="2800" b="1" dirty="0">
                <a:latin typeface="ArialMT"/>
              </a:rPr>
              <a:t>identiques éparpillées </a:t>
            </a:r>
            <a:r>
              <a:rPr lang="fr-FR" sz="2800" dirty="0">
                <a:latin typeface="ArialMT"/>
              </a:rPr>
              <a:t>dans plusieurs annexes</a:t>
            </a:r>
          </a:p>
        </p:txBody>
      </p:sp>
    </p:spTree>
    <p:extLst>
      <p:ext uri="{BB962C8B-B14F-4D97-AF65-F5344CB8AC3E}">
        <p14:creationId xmlns:p14="http://schemas.microsoft.com/office/powerpoint/2010/main" val="398883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141911" y="1446845"/>
            <a:ext cx="11880669" cy="1754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ArialMT"/>
              </a:rPr>
              <a:t>Première édition : </a:t>
            </a:r>
            <a:r>
              <a:rPr lang="fr-FR" sz="3600" dirty="0">
                <a:latin typeface="ArialMT"/>
              </a:rPr>
              <a:t>2013</a:t>
            </a:r>
          </a:p>
          <a:p>
            <a:r>
              <a:rPr lang="fr-FR" sz="3600" b="1" dirty="0">
                <a:latin typeface="ArialMT"/>
              </a:rPr>
              <a:t>Deuxième édition : </a:t>
            </a:r>
            <a:r>
              <a:rPr lang="fr-FR" sz="3600" dirty="0">
                <a:latin typeface="ArialMT"/>
              </a:rPr>
              <a:t>Juillet 2016, en vigueur à partir de 07 novembre 2019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141911" y="838453"/>
            <a:ext cx="3887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Editions</a:t>
            </a:r>
          </a:p>
        </p:txBody>
      </p:sp>
      <p:pic>
        <p:nvPicPr>
          <p:cNvPr id="10" name="Image 9">
            <a:hlinkClick r:id="rId3" action="ppaction://hlinkfile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800" y="2840291"/>
            <a:ext cx="4111561" cy="37570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Organigramme : Bande perforée 10"/>
          <p:cNvSpPr/>
          <p:nvPr/>
        </p:nvSpPr>
        <p:spPr>
          <a:xfrm>
            <a:off x="1127448" y="3645024"/>
            <a:ext cx="2952328" cy="2016224"/>
          </a:xfrm>
          <a:prstGeom prst="flowChartPunchedTap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800" dirty="0">
                <a:latin typeface="ArialMT"/>
              </a:rPr>
              <a:t>Ce cours se réfère à la 2</a:t>
            </a:r>
            <a:r>
              <a:rPr lang="fr-FR" sz="2800" baseline="30000" dirty="0">
                <a:latin typeface="ArialMT"/>
              </a:rPr>
              <a:t>ème</a:t>
            </a:r>
            <a:r>
              <a:rPr lang="fr-FR" sz="2800" dirty="0">
                <a:latin typeface="ArialMT"/>
              </a:rPr>
              <a:t> édition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5FB0823-F386-2B8B-F592-96B11ABD5F01}"/>
              </a:ext>
            </a:extLst>
          </p:cNvPr>
          <p:cNvSpPr txBox="1">
            <a:spLocks/>
          </p:cNvSpPr>
          <p:nvPr/>
        </p:nvSpPr>
        <p:spPr>
          <a:xfrm>
            <a:off x="0" y="-7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 algn="ctr">
              <a:buFontTx/>
              <a:buAutoNum type="romanUcPeriod"/>
            </a:pPr>
            <a:r>
              <a:rPr lang="fr-FR" sz="3600" b="1" kern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PRESENTATION DE L’ANNEXE 19</a:t>
            </a:r>
            <a:endParaRPr lang="fr-FR" sz="3600" b="1" kern="0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83399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0" y="1484784"/>
            <a:ext cx="12191999" cy="138499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Les </a:t>
            </a:r>
            <a:r>
              <a:rPr lang="fr-FR" sz="2800" dirty="0" err="1">
                <a:latin typeface="ArialMT"/>
              </a:rPr>
              <a:t>SARPs</a:t>
            </a:r>
            <a:r>
              <a:rPr lang="fr-FR" sz="2800" dirty="0">
                <a:latin typeface="ArialMT"/>
              </a:rPr>
              <a:t> de l’annexe 19 s’appliquent aux fonctions de gestion de la sécurité qui concernent ou appuient directement la sécurité de l’exploitation des aéronefs.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9806" y="836712"/>
            <a:ext cx="29438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Applicabilité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5790" y="3708680"/>
            <a:ext cx="5248122" cy="2647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fr-FR" sz="2800" dirty="0">
                <a:latin typeface="ArialMT"/>
              </a:rPr>
              <a:t>Les dispositions qui  s’adressent aux </a:t>
            </a:r>
            <a:r>
              <a:rPr lang="fr-FR" sz="2800" b="1" dirty="0">
                <a:solidFill>
                  <a:srgbClr val="FF0000"/>
                </a:solidFill>
                <a:latin typeface="ArialMT"/>
              </a:rPr>
              <a:t>États</a:t>
            </a:r>
            <a:r>
              <a:rPr lang="fr-FR" sz="2800" dirty="0">
                <a:latin typeface="ArialMT"/>
              </a:rPr>
              <a:t> figurent dans le Chapitre 3 et se rapportent à un programme national de sécurité </a:t>
            </a:r>
            <a:r>
              <a:rPr lang="fr-FR" sz="2800" dirty="0">
                <a:latin typeface="ArialMT"/>
                <a:hlinkClick r:id="rId3" action="ppaction://hlinkfile"/>
              </a:rPr>
              <a:t>(SSP)</a:t>
            </a:r>
            <a:endParaRPr lang="fr-FR" sz="2800" dirty="0">
              <a:latin typeface="ArialM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96000" y="3708679"/>
            <a:ext cx="6048671" cy="26476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fr-FR" sz="2800" dirty="0">
                <a:latin typeface="ArialMT"/>
              </a:rPr>
              <a:t>Les dispositions qui s’adressent aux </a:t>
            </a:r>
            <a:r>
              <a:rPr lang="fr-FR" sz="2800" b="1" dirty="0">
                <a:solidFill>
                  <a:srgbClr val="FF0000"/>
                </a:solidFill>
                <a:latin typeface="ArialMT"/>
              </a:rPr>
              <a:t>ANSP et aux exploitants </a:t>
            </a:r>
            <a:r>
              <a:rPr lang="fr-FR" sz="2800" dirty="0">
                <a:latin typeface="ArialMT"/>
              </a:rPr>
              <a:t>(Aérodrome, Transporteurs aériens….) figurent dans le Chapitre 4 et se rapportent au système de gestion de la sécurité (</a:t>
            </a:r>
            <a:r>
              <a:rPr lang="fr-FR" sz="2800" dirty="0">
                <a:latin typeface="ArialMT"/>
                <a:hlinkClick r:id="rId4" action="ppaction://hlinkfile"/>
              </a:rPr>
              <a:t>SMS</a:t>
            </a:r>
            <a:r>
              <a:rPr lang="fr-FR" sz="2800" dirty="0">
                <a:latin typeface="ArialMT"/>
              </a:rPr>
              <a:t>).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6C1181BE-07F4-5EEE-410F-EF9571A790E8}"/>
              </a:ext>
            </a:extLst>
          </p:cNvPr>
          <p:cNvSpPr txBox="1">
            <a:spLocks/>
          </p:cNvSpPr>
          <p:nvPr/>
        </p:nvSpPr>
        <p:spPr>
          <a:xfrm>
            <a:off x="0" y="-771"/>
            <a:ext cx="12192000" cy="8501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28700" lvl="1" indent="-571500" algn="ctr">
              <a:buFontTx/>
              <a:buAutoNum type="romanUcPeriod"/>
            </a:pPr>
            <a:r>
              <a:rPr lang="fr-FR" sz="3600" b="1" kern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PRESENTATION DE L’ANNEXE 19</a:t>
            </a:r>
            <a:endParaRPr lang="fr-FR" sz="3600" b="1" kern="0" dirty="0">
              <a:solidFill>
                <a:schemeClr val="accent6">
                  <a:lumMod val="7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349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allAtOnce" animBg="1"/>
      <p:bldP spid="3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119336" y="2780929"/>
            <a:ext cx="1188132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460282" y="836712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53335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1713312" y="1059214"/>
            <a:ext cx="9400698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ArialMT"/>
              </a:rPr>
              <a:t>Programme National de Sécurité </a:t>
            </a:r>
          </a:p>
          <a:p>
            <a:pPr algn="just"/>
            <a:r>
              <a:rPr lang="fr-FR" sz="3200" dirty="0">
                <a:latin typeface="ArialMT"/>
              </a:rPr>
              <a:t>Ensemble intégré de règlements et d’activités qui visent à améliorer la sécurité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191344" y="1059215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SSP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22" y="2678675"/>
            <a:ext cx="12192000" cy="36829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3200" b="1" dirty="0">
                <a:latin typeface="ArialMT"/>
              </a:rPr>
              <a:t>Le SSP est un </a:t>
            </a:r>
            <a:r>
              <a:rPr lang="fr-FR" sz="3200" b="1" dirty="0">
                <a:solidFill>
                  <a:srgbClr val="FF0000"/>
                </a:solidFill>
                <a:latin typeface="ArialMT"/>
              </a:rPr>
              <a:t>système  </a:t>
            </a:r>
            <a:r>
              <a:rPr lang="fr-FR" sz="3200" b="1" dirty="0">
                <a:latin typeface="ArialMT"/>
              </a:rPr>
              <a:t>pour la gestion de la sécurité par l’Etat.</a:t>
            </a:r>
          </a:p>
          <a:p>
            <a:r>
              <a:rPr lang="fr-FR" sz="3200" b="1" dirty="0">
                <a:latin typeface="ArialMT"/>
              </a:rPr>
              <a:t>Il comprend :</a:t>
            </a:r>
          </a:p>
          <a:p>
            <a:pPr marL="342900" indent="-342900">
              <a:buFontTx/>
              <a:buChar char="-"/>
            </a:pPr>
            <a:r>
              <a:rPr lang="fr-FR" sz="3200" dirty="0">
                <a:latin typeface="ArialMT"/>
              </a:rPr>
              <a:t>La définition des responsabilités de l’Etat en ce qui concerne la mise en œuvre et la maintenance du SSP;</a:t>
            </a:r>
          </a:p>
          <a:p>
            <a:pPr marL="342900" indent="-342900">
              <a:buFontTx/>
              <a:buChar char="-"/>
            </a:pPr>
            <a:endParaRPr lang="fr-FR" sz="3200" dirty="0">
              <a:latin typeface="ArialMT"/>
            </a:endParaRPr>
          </a:p>
          <a:p>
            <a:pPr marL="342900" indent="-342900">
              <a:buFontTx/>
              <a:buChar char="-"/>
            </a:pPr>
            <a:r>
              <a:rPr lang="fr-FR" sz="3200" dirty="0">
                <a:latin typeface="ArialMT"/>
              </a:rPr>
              <a:t>L’établissement du cadre législatif de l’aviation civile;</a:t>
            </a:r>
          </a:p>
          <a:p>
            <a:pPr marL="342900" indent="-342900">
              <a:buFontTx/>
              <a:buChar char="-"/>
            </a:pPr>
            <a:endParaRPr lang="fr-FR" sz="3200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23048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87FF-8588-25D5-5503-5C26C6C3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21163E-4331-8C89-F43F-06508FC9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DFCC6B-5A77-194F-92CD-4436D3CAB8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A6F0B1-D68C-7C65-D947-CF109CB7A288}"/>
              </a:ext>
            </a:extLst>
          </p:cNvPr>
          <p:cNvSpPr txBox="1"/>
          <p:nvPr/>
        </p:nvSpPr>
        <p:spPr>
          <a:xfrm>
            <a:off x="1713312" y="1059214"/>
            <a:ext cx="9400698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3200" b="1" dirty="0">
                <a:latin typeface="ArialMT"/>
              </a:rPr>
              <a:t>Programme National de Sécurité </a:t>
            </a:r>
          </a:p>
          <a:p>
            <a:pPr algn="just"/>
            <a:r>
              <a:rPr lang="fr-FR" sz="3200" dirty="0">
                <a:latin typeface="ArialMT"/>
              </a:rPr>
              <a:t>Ensemble intégré de règlements et d’activités qui visent à améliorer la sécurité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FB69707-B94D-B5E9-8A4C-1395095AE3F7}"/>
              </a:ext>
            </a:extLst>
          </p:cNvPr>
          <p:cNvSpPr txBox="1"/>
          <p:nvPr/>
        </p:nvSpPr>
        <p:spPr>
          <a:xfrm>
            <a:off x="191344" y="1059215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SSP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085A50-8937-6D97-0FD0-D1CDCD11A691}"/>
              </a:ext>
            </a:extLst>
          </p:cNvPr>
          <p:cNvSpPr/>
          <p:nvPr/>
        </p:nvSpPr>
        <p:spPr>
          <a:xfrm>
            <a:off x="0" y="2636912"/>
            <a:ext cx="12192000" cy="36829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3200" b="1" dirty="0">
                <a:latin typeface="ArialMT"/>
              </a:rPr>
              <a:t>Le SSP est un </a:t>
            </a:r>
            <a:r>
              <a:rPr lang="fr-FR" sz="3200" b="1" dirty="0">
                <a:solidFill>
                  <a:srgbClr val="FF0000"/>
                </a:solidFill>
                <a:latin typeface="ArialMT"/>
              </a:rPr>
              <a:t>système  </a:t>
            </a:r>
            <a:r>
              <a:rPr lang="fr-FR" sz="3200" b="1" dirty="0">
                <a:latin typeface="ArialMT"/>
              </a:rPr>
              <a:t>pour la gestion de la sécurité par l’Etat.</a:t>
            </a:r>
          </a:p>
          <a:p>
            <a:r>
              <a:rPr lang="fr-FR" sz="3200" b="1" dirty="0">
                <a:latin typeface="ArialMT"/>
              </a:rPr>
              <a:t>Il comprend :</a:t>
            </a:r>
          </a:p>
          <a:p>
            <a:pPr marL="342900" indent="-342900">
              <a:buFontTx/>
              <a:buChar char="-"/>
            </a:pPr>
            <a:r>
              <a:rPr lang="fr-FR" sz="3200" dirty="0">
                <a:latin typeface="ArialMT"/>
              </a:rPr>
              <a:t>L’établissement des exigences pour les SMS des exploitants ;</a:t>
            </a:r>
          </a:p>
          <a:p>
            <a:pPr marL="342900" indent="-342900">
              <a:buFontTx/>
              <a:buChar char="-"/>
            </a:pPr>
            <a:r>
              <a:rPr lang="fr-FR" sz="3200" dirty="0">
                <a:latin typeface="ArialMT"/>
              </a:rPr>
              <a:t>L’établissement des mécanismes pour assurer une surveillance effective et un système de collecte et de traitement des données de sécurité efficace</a:t>
            </a:r>
          </a:p>
        </p:txBody>
      </p:sp>
    </p:spTree>
    <p:extLst>
      <p:ext uri="{BB962C8B-B14F-4D97-AF65-F5344CB8AC3E}">
        <p14:creationId xmlns:p14="http://schemas.microsoft.com/office/powerpoint/2010/main" val="4068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119336" y="1047362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SARP portant sur le SSP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4943872" y="4245511"/>
            <a:ext cx="5364597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ArialMT"/>
              </a:rPr>
              <a:t>Norme 3.1, annexe19, 2</a:t>
            </a:r>
            <a:r>
              <a:rPr lang="fr-FR" sz="2400" baseline="30000" dirty="0">
                <a:latin typeface="ArialMT"/>
              </a:rPr>
              <a:t>ème</a:t>
            </a:r>
            <a:r>
              <a:rPr lang="fr-FR" sz="2400" dirty="0">
                <a:latin typeface="ArialMT"/>
              </a:rPr>
              <a:t> édition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52" y="2204864"/>
            <a:ext cx="8424937" cy="187964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7B69D021-3E9C-E29D-F1BB-DDC60A585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376495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335360" y="1901150"/>
            <a:ext cx="11521280" cy="22467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2800" dirty="0">
                <a:solidFill>
                  <a:srgbClr val="00B0F0"/>
                </a:solidFill>
                <a:latin typeface="ArialMT"/>
              </a:rPr>
              <a:t>Le chapitre 3 de l’annexe 19 </a:t>
            </a:r>
            <a:r>
              <a:rPr lang="fr-FR" sz="2800" dirty="0">
                <a:latin typeface="ArialMT"/>
              </a:rPr>
              <a:t>contient toutes les SARP relatives à la responsabilité des Etats dans la gestion de la sécurité,</a:t>
            </a:r>
          </a:p>
          <a:p>
            <a:pPr algn="just"/>
            <a:r>
              <a:rPr lang="fr-FR" sz="2800" dirty="0">
                <a:latin typeface="ArialMT"/>
              </a:rPr>
              <a:t>Ces SARP spécifient les interactions entre les éléments du SSP et les éléments cruciaux </a:t>
            </a:r>
            <a:r>
              <a:rPr lang="fr-FR" sz="2800" b="1" dirty="0">
                <a:latin typeface="ArialMT"/>
              </a:rPr>
              <a:t>(CE) </a:t>
            </a:r>
            <a:r>
              <a:rPr lang="fr-FR" sz="2800" dirty="0">
                <a:latin typeface="ArialMT"/>
              </a:rPr>
              <a:t>du système de supervision de la Sécurité de l’Etat.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-24680" y="1004359"/>
            <a:ext cx="7267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SARP portant sur le SSP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35360" y="4636130"/>
            <a:ext cx="1152128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tx1"/>
                </a:solidFill>
                <a:latin typeface="ArialMT"/>
              </a:rPr>
              <a:t>L’importance des </a:t>
            </a:r>
            <a:r>
              <a:rPr lang="fr-FR" sz="2800" b="1" dirty="0">
                <a:solidFill>
                  <a:schemeClr val="tx1"/>
                </a:solidFill>
                <a:latin typeface="ArialMT"/>
              </a:rPr>
              <a:t>CE</a:t>
            </a:r>
            <a:r>
              <a:rPr lang="fr-FR" sz="2800" dirty="0">
                <a:solidFill>
                  <a:schemeClr val="tx1"/>
                </a:solidFill>
                <a:latin typeface="ArialMT"/>
              </a:rPr>
              <a:t> comme fondement du SSP est soulignée </a:t>
            </a:r>
            <a:r>
              <a:rPr lang="fr-FR" sz="2800" dirty="0">
                <a:solidFill>
                  <a:srgbClr val="00B0F0"/>
                </a:solidFill>
                <a:latin typeface="ArialMT"/>
              </a:rPr>
              <a:t>à L’appendice I. de l’annexe 19</a:t>
            </a:r>
            <a:endParaRPr lang="fr-FR" sz="2800" dirty="0">
              <a:latin typeface="ArialMT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81DF7C8-4A73-0483-0908-1FD464FD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35301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9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335360" y="1840087"/>
            <a:ext cx="11593288" cy="452431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rgbClr val="00B0F0"/>
                </a:solidFill>
                <a:latin typeface="ArialMT"/>
              </a:rPr>
              <a:t>CHAPITRE 3. Responsabilités de l’État en matière de gestion de la sécurité</a:t>
            </a:r>
          </a:p>
          <a:p>
            <a:pPr marL="801688" indent="-350838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Programme national de sécurité (PNS) </a:t>
            </a:r>
          </a:p>
          <a:p>
            <a:pPr marL="801688" indent="-350838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Politique, objectifs et ressources de l’État en matière de sécurité </a:t>
            </a:r>
          </a:p>
          <a:p>
            <a:pPr marL="801688" indent="-350838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Gestion des risques de sécurité par l’État </a:t>
            </a:r>
          </a:p>
          <a:p>
            <a:pPr marL="801688" indent="-350838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Assurance de la sécurité par l’État </a:t>
            </a:r>
          </a:p>
          <a:p>
            <a:pPr marL="801688" indent="-350838">
              <a:buFont typeface="Wingdings" panose="05000000000000000000" pitchFamily="2" charset="2"/>
              <a:buChar char="ü"/>
            </a:pPr>
            <a:r>
              <a:rPr lang="fr-FR" sz="3600" dirty="0">
                <a:latin typeface="ArialMT"/>
              </a:rPr>
              <a:t>Promotion de la sécurité par l’État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0" y="1126485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SARP portant sur le SSP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4E4846B-DF82-B281-10B3-366A010E7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253874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0" y="4471328"/>
            <a:ext cx="1219200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Les éléments cruciaux d’un système de supervision de la sécurité englobent tout l’éventail des activités de l’aviation civile. 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479376" y="1047362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SARP portant sur le SSP :</a:t>
            </a:r>
          </a:p>
        </p:txBody>
      </p:sp>
      <p:sp>
        <p:nvSpPr>
          <p:cNvPr id="3" name="Rectangle 2"/>
          <p:cNvSpPr/>
          <p:nvPr/>
        </p:nvSpPr>
        <p:spPr>
          <a:xfrm>
            <a:off x="6786071" y="1047362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ArialMT"/>
              </a:rPr>
              <a:t>ELEMENTS CRUCIAUX</a:t>
            </a:r>
          </a:p>
        </p:txBody>
      </p:sp>
      <p:cxnSp>
        <p:nvCxnSpPr>
          <p:cNvPr id="8" name="Connecteur droit 7"/>
          <p:cNvCxnSpPr/>
          <p:nvPr/>
        </p:nvCxnSpPr>
        <p:spPr>
          <a:xfrm>
            <a:off x="4511824" y="1700808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0" y="1847641"/>
            <a:ext cx="121920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dirty="0">
                <a:latin typeface="ArialMT"/>
              </a:rPr>
              <a:t>Les éléments Cruciaux (EC) sont un ensembles des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8 éléments</a:t>
            </a:r>
            <a:r>
              <a:rPr lang="fr-FR" sz="2800" dirty="0">
                <a:latin typeface="ArialMT"/>
              </a:rPr>
              <a:t> définis par l’OACI dont la mise en œuvre effective donne une indication de la capacité d’un État à assurer la supervision de la sécurité. </a:t>
            </a:r>
          </a:p>
          <a:p>
            <a:pPr algn="r"/>
            <a:r>
              <a:rPr lang="fr-FR" sz="2800" b="1" dirty="0">
                <a:solidFill>
                  <a:srgbClr val="002060"/>
                </a:solidFill>
                <a:latin typeface="ArialMT"/>
              </a:rPr>
              <a:t>(Voir Doc 9734 Partie A)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CCF6A311-B6DB-8C37-2964-9B001B04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32064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7FA7-055D-F859-9FA8-36E54B97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2807D4-2ECA-BF98-C618-FFF7214AA8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84A62-C573-2B5F-803E-6CE505F2145D}"/>
              </a:ext>
            </a:extLst>
          </p:cNvPr>
          <p:cNvSpPr/>
          <p:nvPr/>
        </p:nvSpPr>
        <p:spPr>
          <a:xfrm>
            <a:off x="0" y="998531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ELEMENTS CRUCIAUX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A86E51-14A8-4CB7-788E-DFA88FF7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3DF663-829D-574C-F3AA-52E896AC410D}"/>
              </a:ext>
            </a:extLst>
          </p:cNvPr>
          <p:cNvSpPr/>
          <p:nvPr/>
        </p:nvSpPr>
        <p:spPr>
          <a:xfrm>
            <a:off x="312912" y="2143119"/>
            <a:ext cx="2592288" cy="1080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Législation aéronautique de base (EC-1)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3A744F-096A-6DAF-F751-BBB3BB3DE17A}"/>
              </a:ext>
            </a:extLst>
          </p:cNvPr>
          <p:cNvSpPr/>
          <p:nvPr/>
        </p:nvSpPr>
        <p:spPr>
          <a:xfrm>
            <a:off x="4367808" y="2143119"/>
            <a:ext cx="2736304" cy="1080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Règlements d’exploitation spécifiques (EC-2)</a:t>
            </a:r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838B0-AEBE-DA46-BD72-0BF9E57EEBEF}"/>
              </a:ext>
            </a:extLst>
          </p:cNvPr>
          <p:cNvSpPr/>
          <p:nvPr/>
        </p:nvSpPr>
        <p:spPr>
          <a:xfrm>
            <a:off x="2037581" y="3429000"/>
            <a:ext cx="2592288" cy="1080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/>
              <a:t>Système et fonctions de l’État (EC-3)</a:t>
            </a: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59442-F072-A0AB-6C8D-66361CA62B57}"/>
              </a:ext>
            </a:extLst>
          </p:cNvPr>
          <p:cNvSpPr/>
          <p:nvPr/>
        </p:nvSpPr>
        <p:spPr>
          <a:xfrm>
            <a:off x="6600058" y="3501008"/>
            <a:ext cx="2736304" cy="1080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/>
              <a:t>Personnel technique qualifié (EC-4)</a:t>
            </a:r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A8A3EB-78C3-E068-4827-099E249CB394}"/>
              </a:ext>
            </a:extLst>
          </p:cNvPr>
          <p:cNvSpPr/>
          <p:nvPr/>
        </p:nvSpPr>
        <p:spPr>
          <a:xfrm>
            <a:off x="8940080" y="2043786"/>
            <a:ext cx="2939008" cy="133510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Indications techniques, outillage et fourniture</a:t>
            </a:r>
          </a:p>
          <a:p>
            <a:pPr algn="ctr"/>
            <a:r>
              <a:rPr lang="fr-FR" b="1" dirty="0"/>
              <a:t>de renseignements critiques pour la sécurité (EC-5)</a:t>
            </a:r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A35A894-D898-26E8-E409-D0CBA2DFAB79}"/>
              </a:ext>
            </a:extLst>
          </p:cNvPr>
          <p:cNvSpPr txBox="1"/>
          <p:nvPr/>
        </p:nvSpPr>
        <p:spPr>
          <a:xfrm>
            <a:off x="0" y="1575224"/>
            <a:ext cx="12191999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ArialMT"/>
              </a:rPr>
              <a:t>MISE EN PLACE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80B919A-B4E1-92C2-7C4B-003265390BDD}"/>
              </a:ext>
            </a:extLst>
          </p:cNvPr>
          <p:cNvSpPr txBox="1"/>
          <p:nvPr/>
        </p:nvSpPr>
        <p:spPr>
          <a:xfrm>
            <a:off x="-1" y="4653136"/>
            <a:ext cx="12191999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ArialMT"/>
              </a:rPr>
              <a:t>APPLICATION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F1626A-1231-2806-72AB-AAD7B3F22EE8}"/>
              </a:ext>
            </a:extLst>
          </p:cNvPr>
          <p:cNvSpPr/>
          <p:nvPr/>
        </p:nvSpPr>
        <p:spPr>
          <a:xfrm>
            <a:off x="1020414" y="5229200"/>
            <a:ext cx="3131368" cy="13351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/>
              <a:t>Obligations en matière de délivrance de licences,</a:t>
            </a:r>
          </a:p>
          <a:p>
            <a:r>
              <a:rPr lang="fr-FR" b="1"/>
              <a:t>de certification, d’autorisation et/ou d’approbation (EC-6)</a:t>
            </a:r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16B222-9B6C-9266-CEC2-1D676858FBDA}"/>
              </a:ext>
            </a:extLst>
          </p:cNvPr>
          <p:cNvSpPr/>
          <p:nvPr/>
        </p:nvSpPr>
        <p:spPr>
          <a:xfrm>
            <a:off x="8221216" y="5229200"/>
            <a:ext cx="3131368" cy="13351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/>
              <a:t>Résolution des problèmes de sécurité (EC-8)</a:t>
            </a:r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E7B34A-283F-CF1E-DACE-EB5B91D13D28}"/>
              </a:ext>
            </a:extLst>
          </p:cNvPr>
          <p:cNvSpPr/>
          <p:nvPr/>
        </p:nvSpPr>
        <p:spPr>
          <a:xfrm>
            <a:off x="4597104" y="5229200"/>
            <a:ext cx="3131368" cy="133510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/>
              <a:t>Obligations de surveillance (EC-7)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119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4943872" y="1930622"/>
            <a:ext cx="6120680" cy="416267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623392" y="104736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SARP portant sur le SSP 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912" y="2080176"/>
            <a:ext cx="2592288" cy="108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Législation aéronautique de base (EC-1)</a:t>
            </a:r>
            <a:endParaRPr lang="fr-FR" dirty="0"/>
          </a:p>
        </p:txBody>
      </p:sp>
      <p:sp>
        <p:nvSpPr>
          <p:cNvPr id="8" name="Rectangle 7"/>
          <p:cNvSpPr/>
          <p:nvPr/>
        </p:nvSpPr>
        <p:spPr>
          <a:xfrm>
            <a:off x="7968208" y="2098950"/>
            <a:ext cx="2736304" cy="108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Règlements d’exploitation spécifiques (EC-2)</a:t>
            </a:r>
            <a:endParaRPr lang="fr-FR" dirty="0"/>
          </a:p>
        </p:txBody>
      </p:sp>
      <p:sp>
        <p:nvSpPr>
          <p:cNvPr id="9" name="Rectangle 8"/>
          <p:cNvSpPr/>
          <p:nvPr/>
        </p:nvSpPr>
        <p:spPr>
          <a:xfrm>
            <a:off x="5303912" y="3417464"/>
            <a:ext cx="2592288" cy="108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/>
              <a:t>Système et fonctions de l’État (EC-3)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7962564" y="3417464"/>
            <a:ext cx="2736304" cy="10801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/>
              <a:t>Personnel technique qualifié (EC-4)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839416" y="2708920"/>
            <a:ext cx="3947120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400" b="1" dirty="0">
                <a:solidFill>
                  <a:srgbClr val="00B0F0"/>
                </a:solidFill>
                <a:latin typeface="ArialMT"/>
              </a:rPr>
              <a:t>SSP</a:t>
            </a:r>
          </a:p>
          <a:p>
            <a:pPr algn="ctr"/>
            <a:r>
              <a:rPr lang="fr-FR" sz="2400" b="1" dirty="0">
                <a:solidFill>
                  <a:srgbClr val="00B0F0"/>
                </a:solidFill>
                <a:latin typeface="ArialMT"/>
              </a:rPr>
              <a:t>COMPOSANT 1</a:t>
            </a:r>
          </a:p>
          <a:p>
            <a:pPr algn="ctr"/>
            <a:endParaRPr lang="fr-FR" sz="2400" b="1" dirty="0">
              <a:latin typeface="ArialMT"/>
            </a:endParaRPr>
          </a:p>
          <a:p>
            <a:pPr algn="ctr"/>
            <a:r>
              <a:rPr lang="fr-FR" sz="2400" b="1" dirty="0">
                <a:latin typeface="ArialMT"/>
              </a:rPr>
              <a:t>Politique, objectifs et ressources de l’État en matière de sécurité</a:t>
            </a:r>
            <a:endParaRPr lang="fr-FR" sz="2400" dirty="0">
              <a:latin typeface="ArialM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00056" y="4686182"/>
            <a:ext cx="2939008" cy="1335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Indications techniques, outillage et fourniture</a:t>
            </a:r>
          </a:p>
          <a:p>
            <a:pPr algn="ctr"/>
            <a:r>
              <a:rPr lang="fr-FR" b="1" dirty="0"/>
              <a:t>de renseignements critiques pour la sécurité (EC-5)</a:t>
            </a:r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7176120" y="108378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ArialMT"/>
              </a:rPr>
              <a:t>ELEMENTS CRUCIAUX</a:t>
            </a:r>
          </a:p>
        </p:txBody>
      </p:sp>
      <p:cxnSp>
        <p:nvCxnSpPr>
          <p:cNvPr id="13" name="Connecteur droit 12"/>
          <p:cNvCxnSpPr/>
          <p:nvPr/>
        </p:nvCxnSpPr>
        <p:spPr>
          <a:xfrm>
            <a:off x="4511824" y="1700808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re 1">
            <a:extLst>
              <a:ext uri="{FF2B5EF4-FFF2-40B4-BE49-F238E27FC236}">
                <a16:creationId xmlns:a16="http://schemas.microsoft.com/office/drawing/2014/main" id="{CDB84353-4236-3282-6A4C-284CCFF8B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92011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8" grpId="0" animBg="1"/>
      <p:bldP spid="9" grpId="0" animBg="1"/>
      <p:bldP spid="10" grpId="0" animBg="1"/>
      <p:bldP spid="7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6456040" y="2146648"/>
            <a:ext cx="3960440" cy="394664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983432" y="3212976"/>
            <a:ext cx="5112568" cy="230425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SSP</a:t>
            </a:r>
          </a:p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COMPOSANT 2</a:t>
            </a:r>
          </a:p>
          <a:p>
            <a:pPr algn="ctr"/>
            <a:endParaRPr lang="fr-FR" sz="2800" b="1" dirty="0">
              <a:latin typeface="ArialMT"/>
            </a:endParaRPr>
          </a:p>
          <a:p>
            <a:pPr algn="ctr"/>
            <a:r>
              <a:rPr lang="fr-FR" sz="2800" b="1" dirty="0">
                <a:latin typeface="ArialMT"/>
              </a:rPr>
              <a:t>Gestion des risques de sécurité par l’État</a:t>
            </a:r>
            <a:endParaRPr lang="fr-FR" sz="2800" dirty="0">
              <a:latin typeface="ArialM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3064" y="2572779"/>
            <a:ext cx="3131368" cy="1335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/>
              <a:t>Obligations en matière de délivrance de licences,</a:t>
            </a:r>
          </a:p>
          <a:p>
            <a:r>
              <a:rPr lang="fr-FR" b="1"/>
              <a:t>de certification, d’autorisation et/ou d’approbation (EC-6)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6925072" y="4182127"/>
            <a:ext cx="3131368" cy="1335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1"/>
              <a:t>Résolution des problèmes de sécurité (EC-8)</a:t>
            </a:r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64B30747-97CB-226C-7D96-C98A416C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4F6F5C6-1630-5C51-4C3E-06D1A236AAC6}"/>
              </a:ext>
            </a:extLst>
          </p:cNvPr>
          <p:cNvSpPr txBox="1"/>
          <p:nvPr/>
        </p:nvSpPr>
        <p:spPr>
          <a:xfrm>
            <a:off x="623392" y="104736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SARP portant sur le SSP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B8CF23-D9A9-3F93-D9C6-9D71CEEE98F1}"/>
              </a:ext>
            </a:extLst>
          </p:cNvPr>
          <p:cNvSpPr/>
          <p:nvPr/>
        </p:nvSpPr>
        <p:spPr>
          <a:xfrm>
            <a:off x="7176120" y="108378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ArialMT"/>
              </a:rPr>
              <a:t>ELEMENTS CRUCIAUX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76C34E5-2963-836C-FC71-D338002D3F7D}"/>
              </a:ext>
            </a:extLst>
          </p:cNvPr>
          <p:cNvCxnSpPr/>
          <p:nvPr/>
        </p:nvCxnSpPr>
        <p:spPr>
          <a:xfrm>
            <a:off x="4511824" y="1700808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44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6456040" y="3068960"/>
            <a:ext cx="3960440" cy="171254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466056" y="2636911"/>
            <a:ext cx="5112568" cy="25202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SSP</a:t>
            </a:r>
          </a:p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COMPOSANT 3</a:t>
            </a:r>
          </a:p>
          <a:p>
            <a:pPr algn="ctr"/>
            <a:endParaRPr lang="fr-FR" sz="2800" b="1" dirty="0">
              <a:latin typeface="ArialMT"/>
            </a:endParaRPr>
          </a:p>
          <a:p>
            <a:pPr algn="ctr"/>
            <a:r>
              <a:rPr lang="fr-FR" sz="2800" b="1" dirty="0">
                <a:latin typeface="ArialMT"/>
              </a:rPr>
              <a:t>Assurance de la sécurité par l’État</a:t>
            </a:r>
            <a:endParaRPr lang="fr-FR" sz="2800" dirty="0">
              <a:latin typeface="Arial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44072" y="3257679"/>
            <a:ext cx="3131368" cy="1335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ArialMT"/>
              </a:rPr>
              <a:t>Obligations de surveillance (EC-7)</a:t>
            </a:r>
            <a:endParaRPr lang="fr-FR" sz="2000" dirty="0">
              <a:latin typeface="ArialMT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37B14A9-9D23-C554-3A41-D699F3521D12}"/>
              </a:ext>
            </a:extLst>
          </p:cNvPr>
          <p:cNvSpPr txBox="1"/>
          <p:nvPr/>
        </p:nvSpPr>
        <p:spPr>
          <a:xfrm>
            <a:off x="623392" y="104736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SARP portant sur le SSP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549F38-E527-B96F-903E-81A6E17EE239}"/>
              </a:ext>
            </a:extLst>
          </p:cNvPr>
          <p:cNvSpPr/>
          <p:nvPr/>
        </p:nvSpPr>
        <p:spPr>
          <a:xfrm>
            <a:off x="7176120" y="108378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ArialMT"/>
              </a:rPr>
              <a:t>ELEMENTS CRUCIAUX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1D58638-489E-0450-B562-1029CBA62B80}"/>
              </a:ext>
            </a:extLst>
          </p:cNvPr>
          <p:cNvCxnSpPr/>
          <p:nvPr/>
        </p:nvCxnSpPr>
        <p:spPr>
          <a:xfrm>
            <a:off x="4511824" y="1700808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re 1">
            <a:extLst>
              <a:ext uri="{FF2B5EF4-FFF2-40B4-BE49-F238E27FC236}">
                <a16:creationId xmlns:a16="http://schemas.microsoft.com/office/drawing/2014/main" id="{418672FD-7659-E52D-3E69-344C2466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</p:spTree>
    <p:extLst>
      <p:ext uri="{BB962C8B-B14F-4D97-AF65-F5344CB8AC3E}">
        <p14:creationId xmlns:p14="http://schemas.microsoft.com/office/powerpoint/2010/main" val="182859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6023992" y="3012597"/>
            <a:ext cx="3960440" cy="200057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983432" y="2636912"/>
            <a:ext cx="4955232" cy="25202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SSP</a:t>
            </a:r>
          </a:p>
          <a:p>
            <a:pPr algn="ctr"/>
            <a:r>
              <a:rPr lang="fr-FR" sz="2800" b="1" dirty="0">
                <a:solidFill>
                  <a:srgbClr val="00B0F0"/>
                </a:solidFill>
                <a:latin typeface="ArialMT"/>
              </a:rPr>
              <a:t>COMPOSANT 4</a:t>
            </a:r>
          </a:p>
          <a:p>
            <a:pPr algn="ctr"/>
            <a:endParaRPr lang="fr-FR" sz="2800" b="1" dirty="0">
              <a:latin typeface="ArialMT"/>
            </a:endParaRPr>
          </a:p>
          <a:p>
            <a:pPr algn="ctr"/>
            <a:r>
              <a:rPr lang="fr-FR" sz="2800" b="1" dirty="0">
                <a:latin typeface="ArialMT"/>
              </a:rPr>
              <a:t>Promotion de la sécurité par l’État</a:t>
            </a:r>
            <a:endParaRPr lang="fr-FR" sz="2800" dirty="0">
              <a:latin typeface="ArialM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2024" y="3201316"/>
            <a:ext cx="3456384" cy="15238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/>
              <a:t>Communications internes et externes et diffusion d’information sur la sécurité (Concerne la promotion des 8 EC)</a:t>
            </a:r>
            <a:endParaRPr lang="fr-FR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724EEF29-2D41-A260-7A93-DC95B57D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385"/>
            <a:ext cx="12192000" cy="108659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II. RESPONSABILITES DE L’ETAT EN MATIERE DE GESTION DE LA SECURITE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4C4C756-4988-089C-24D6-DDF2DE74DF36}"/>
              </a:ext>
            </a:extLst>
          </p:cNvPr>
          <p:cNvSpPr txBox="1"/>
          <p:nvPr/>
        </p:nvSpPr>
        <p:spPr>
          <a:xfrm>
            <a:off x="623392" y="1047362"/>
            <a:ext cx="5112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SARP portant sur le SSP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39674-5819-B3B4-E763-2FDABEDFA033}"/>
              </a:ext>
            </a:extLst>
          </p:cNvPr>
          <p:cNvSpPr/>
          <p:nvPr/>
        </p:nvSpPr>
        <p:spPr>
          <a:xfrm>
            <a:off x="7176120" y="1083784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b="1" dirty="0">
                <a:latin typeface="ArialMT"/>
              </a:rPr>
              <a:t>ELEMENTS CRUCIAUX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8ABB728-6643-EEC8-2974-3F07ABC87B72}"/>
              </a:ext>
            </a:extLst>
          </p:cNvPr>
          <p:cNvCxnSpPr/>
          <p:nvPr/>
        </p:nvCxnSpPr>
        <p:spPr>
          <a:xfrm>
            <a:off x="4511824" y="1700808"/>
            <a:ext cx="30243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927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119336" y="2780929"/>
            <a:ext cx="1195332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460282" y="836712"/>
            <a:ext cx="1271436" cy="1214446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89976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5460"/>
            <a:ext cx="12192000" cy="111928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24</a:t>
            </a:fld>
            <a:endParaRPr lang="fr-BE"/>
          </a:p>
        </p:txBody>
      </p:sp>
      <p:sp>
        <p:nvSpPr>
          <p:cNvPr id="7" name="ZoneTexte 6"/>
          <p:cNvSpPr txBox="1"/>
          <p:nvPr/>
        </p:nvSpPr>
        <p:spPr>
          <a:xfrm>
            <a:off x="-17512" y="2064492"/>
            <a:ext cx="12192000" cy="25545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200" b="1" dirty="0">
                <a:latin typeface="ArialMT"/>
              </a:rPr>
              <a:t>SYSTÈME DE GESTION DE LA SECURITE</a:t>
            </a:r>
          </a:p>
          <a:p>
            <a:pPr algn="just"/>
            <a:r>
              <a:rPr lang="fr-FR" sz="3200" dirty="0">
                <a:latin typeface="ArialMT"/>
              </a:rPr>
              <a:t>Approche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systématique </a:t>
            </a:r>
            <a:r>
              <a:rPr lang="fr-FR" sz="3200" dirty="0">
                <a:latin typeface="ArialMT"/>
              </a:rPr>
              <a:t>de la gestion de la sécurité, comprenant les structures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organisationnelles</a:t>
            </a:r>
            <a:r>
              <a:rPr lang="fr-FR" sz="3200" dirty="0">
                <a:latin typeface="ArialMT"/>
              </a:rPr>
              <a:t>, l’obligation de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rendre compte</a:t>
            </a:r>
            <a:r>
              <a:rPr lang="fr-FR" sz="3200" dirty="0">
                <a:latin typeface="ArialMT"/>
              </a:rPr>
              <a:t>, les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responsabilités</a:t>
            </a:r>
            <a:r>
              <a:rPr lang="fr-FR" sz="3200" dirty="0">
                <a:latin typeface="ArialMT"/>
              </a:rPr>
              <a:t>, les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politiques</a:t>
            </a:r>
            <a:r>
              <a:rPr lang="fr-FR" sz="3200" dirty="0">
                <a:latin typeface="ArialMT"/>
              </a:rPr>
              <a:t> et les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procédures</a:t>
            </a:r>
            <a:r>
              <a:rPr lang="fr-FR" sz="3200" dirty="0">
                <a:latin typeface="ArialMT"/>
              </a:rPr>
              <a:t> nécessaires. </a:t>
            </a:r>
          </a:p>
          <a:p>
            <a:pPr algn="r"/>
            <a:r>
              <a:rPr lang="fr-FR" sz="3200" dirty="0">
                <a:solidFill>
                  <a:srgbClr val="0070C0"/>
                </a:solidFill>
                <a:latin typeface="ArialMT"/>
              </a:rPr>
              <a:t>(C/F Annexe 19, 2</a:t>
            </a:r>
            <a:r>
              <a:rPr lang="fr-FR" sz="3200" baseline="30000" dirty="0">
                <a:solidFill>
                  <a:srgbClr val="0070C0"/>
                </a:solidFill>
                <a:latin typeface="ArialMT"/>
              </a:rPr>
              <a:t>ème</a:t>
            </a:r>
            <a:r>
              <a:rPr lang="fr-FR" sz="3200" dirty="0">
                <a:solidFill>
                  <a:srgbClr val="0070C0"/>
                </a:solidFill>
                <a:latin typeface="ArialMT"/>
              </a:rPr>
              <a:t> édition)</a:t>
            </a:r>
            <a:endParaRPr lang="fr-FR" sz="3200" b="1" dirty="0">
              <a:solidFill>
                <a:srgbClr val="0070C0"/>
              </a:solidFill>
              <a:latin typeface="ArialMT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-17512" y="1309392"/>
            <a:ext cx="1159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 : SAFETY MANAGEMENT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1464" y="5002627"/>
            <a:ext cx="9649072" cy="11626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just"/>
            <a:r>
              <a:rPr lang="fr-FR" sz="3200" dirty="0">
                <a:latin typeface="ArialMT"/>
              </a:rPr>
              <a:t>Les </a:t>
            </a:r>
            <a:r>
              <a:rPr lang="fr-FR" sz="3200" dirty="0" err="1">
                <a:latin typeface="ArialMT"/>
              </a:rPr>
              <a:t>SARPs</a:t>
            </a:r>
            <a:r>
              <a:rPr lang="fr-FR" sz="3200" dirty="0">
                <a:latin typeface="ArialMT"/>
              </a:rPr>
              <a:t>  de l’annexe 19 relatives au SMS sont contenues dans </a:t>
            </a:r>
            <a:r>
              <a:rPr lang="fr-FR" sz="3200" dirty="0">
                <a:solidFill>
                  <a:srgbClr val="0070C0"/>
                </a:solidFill>
                <a:latin typeface="ArialMT"/>
              </a:rPr>
              <a:t>le chapitre 4 et l’appendice 2</a:t>
            </a:r>
          </a:p>
        </p:txBody>
      </p:sp>
    </p:spTree>
    <p:extLst>
      <p:ext uri="{BB962C8B-B14F-4D97-AF65-F5344CB8AC3E}">
        <p14:creationId xmlns:p14="http://schemas.microsoft.com/office/powerpoint/2010/main" val="380841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25</a:t>
            </a:fld>
            <a:endParaRPr lang="fr-BE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516" y="2408430"/>
            <a:ext cx="8712968" cy="19334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ZoneTexte 8"/>
          <p:cNvSpPr txBox="1"/>
          <p:nvPr/>
        </p:nvSpPr>
        <p:spPr>
          <a:xfrm>
            <a:off x="6096000" y="4355812"/>
            <a:ext cx="4356484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MT"/>
              </a:rPr>
              <a:t>Norme 4.1.1, annexe19, 2</a:t>
            </a:r>
            <a:r>
              <a:rPr lang="fr-FR" sz="2000" baseline="30000" dirty="0">
                <a:latin typeface="ArialMT"/>
              </a:rPr>
              <a:t>ème</a:t>
            </a:r>
            <a:r>
              <a:rPr lang="fr-FR" sz="2000" dirty="0">
                <a:latin typeface="ArialMT"/>
              </a:rPr>
              <a:t> édition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CF04E3F-43A0-95D8-C34B-FFC9F2A0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60"/>
            <a:ext cx="12192000" cy="111928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515198-9122-0363-7B87-33BA8255E048}"/>
              </a:ext>
            </a:extLst>
          </p:cNvPr>
          <p:cNvSpPr txBox="1"/>
          <p:nvPr/>
        </p:nvSpPr>
        <p:spPr>
          <a:xfrm>
            <a:off x="-17512" y="1309392"/>
            <a:ext cx="1159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 : SAFETY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00509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26</a:t>
            </a:fld>
            <a:endParaRPr lang="fr-BE"/>
          </a:p>
        </p:txBody>
      </p:sp>
      <p:sp>
        <p:nvSpPr>
          <p:cNvPr id="6" name="Rectangle 5"/>
          <p:cNvSpPr/>
          <p:nvPr/>
        </p:nvSpPr>
        <p:spPr>
          <a:xfrm>
            <a:off x="-17512" y="1986977"/>
            <a:ext cx="12209512" cy="420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3200" dirty="0">
                <a:solidFill>
                  <a:srgbClr val="7030A0"/>
                </a:solidFill>
                <a:latin typeface="ArialMT"/>
              </a:rPr>
              <a:t>Les </a:t>
            </a:r>
            <a:r>
              <a:rPr lang="fr-FR" sz="3200" dirty="0" err="1">
                <a:solidFill>
                  <a:srgbClr val="7030A0"/>
                </a:solidFill>
                <a:latin typeface="ArialMT"/>
              </a:rPr>
              <a:t>SARPs</a:t>
            </a:r>
            <a:r>
              <a:rPr lang="fr-FR" sz="3200" dirty="0">
                <a:solidFill>
                  <a:srgbClr val="7030A0"/>
                </a:solidFill>
                <a:latin typeface="ArialMT"/>
              </a:rPr>
              <a:t> de l’annexe 19, exigent la mise en œuvre du SMS aux organismes suivants 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Organisme de formation agréé exposé à des risques de sécurité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liés à l’utilisation d’aéronefs,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Exploitant certifié d’avions ou d’hélicoptères,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Organisme de maintenance agréé d’aéronefs,</a:t>
            </a:r>
          </a:p>
          <a:p>
            <a:r>
              <a:rPr lang="fr-FR" sz="3200" dirty="0">
                <a:latin typeface="ArialMT"/>
              </a:rPr>
              <a:t>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E8CE9BE3-5C65-0DB4-D2AA-A1223E490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60"/>
            <a:ext cx="12192000" cy="111928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82BA26-54BB-7120-22C4-A968312D75B4}"/>
              </a:ext>
            </a:extLst>
          </p:cNvPr>
          <p:cNvSpPr txBox="1"/>
          <p:nvPr/>
        </p:nvSpPr>
        <p:spPr>
          <a:xfrm>
            <a:off x="-17512" y="1309392"/>
            <a:ext cx="1159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 : SAFETY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73229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20BB9-B2C5-6B64-AB05-6DF51771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B4DA80-3F10-C4A2-81F2-A97BE032CB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27</a:t>
            </a:fld>
            <a:endParaRPr lang="fr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B628D-0E13-5206-C8B0-7B39E9DB6924}"/>
              </a:ext>
            </a:extLst>
          </p:cNvPr>
          <p:cNvSpPr/>
          <p:nvPr/>
        </p:nvSpPr>
        <p:spPr>
          <a:xfrm>
            <a:off x="-17512" y="1986977"/>
            <a:ext cx="12209512" cy="42051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3200" dirty="0">
                <a:solidFill>
                  <a:srgbClr val="7030A0"/>
                </a:solidFill>
                <a:latin typeface="ArialMT"/>
              </a:rPr>
              <a:t>Les </a:t>
            </a:r>
            <a:r>
              <a:rPr lang="fr-FR" sz="3200" dirty="0" err="1">
                <a:solidFill>
                  <a:srgbClr val="7030A0"/>
                </a:solidFill>
                <a:latin typeface="ArialMT"/>
              </a:rPr>
              <a:t>SARPs</a:t>
            </a:r>
            <a:r>
              <a:rPr lang="fr-FR" sz="3200" dirty="0">
                <a:solidFill>
                  <a:srgbClr val="7030A0"/>
                </a:solidFill>
                <a:latin typeface="ArialMT"/>
              </a:rPr>
              <a:t> de l’annexe 19, exigent la mise en œuvre du SMS aux organismes suivants :</a:t>
            </a:r>
          </a:p>
          <a:p>
            <a:endParaRPr lang="fr-FR" sz="3200" dirty="0">
              <a:latin typeface="Arial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Organisme responsable de la conception ou de construction d’aéronefs, de moteurs ou d’hélices,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Prestataire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de services ATS</a:t>
            </a:r>
            <a:r>
              <a:rPr lang="fr-FR" sz="3200" dirty="0">
                <a:latin typeface="ArialMT"/>
              </a:rPr>
              <a:t>, conformément à l’Annexe 11,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Exploitant d’aérodrome certifié, conformément à l’Annexe 14, Volume I.</a:t>
            </a:r>
          </a:p>
          <a:p>
            <a:r>
              <a:rPr lang="fr-FR" sz="3200" dirty="0">
                <a:latin typeface="ArialMT"/>
              </a:rPr>
              <a:t>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9165FAC-03FC-F27B-81C7-4CF496231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60"/>
            <a:ext cx="12192000" cy="111928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B8A0455-B92F-AF64-684C-99DB5077E79D}"/>
              </a:ext>
            </a:extLst>
          </p:cNvPr>
          <p:cNvSpPr txBox="1"/>
          <p:nvPr/>
        </p:nvSpPr>
        <p:spPr>
          <a:xfrm>
            <a:off x="-17512" y="1309392"/>
            <a:ext cx="1159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 : SAFETY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76378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28</a:t>
            </a:fld>
            <a:endParaRPr lang="fr-BE"/>
          </a:p>
        </p:txBody>
      </p:sp>
      <p:sp>
        <p:nvSpPr>
          <p:cNvPr id="10" name="Rectangle 9"/>
          <p:cNvSpPr/>
          <p:nvPr/>
        </p:nvSpPr>
        <p:spPr>
          <a:xfrm>
            <a:off x="10294" y="2355746"/>
            <a:ext cx="12181706" cy="25465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fr-FR" sz="3600" dirty="0">
                <a:latin typeface="ArialMT"/>
              </a:rPr>
              <a:t>Les domaines aéronautiques non pris en compte par l’annexe 19, mais qui ont le potentiel </a:t>
            </a:r>
            <a:r>
              <a:rPr lang="fr-FR" sz="3600" dirty="0">
                <a:solidFill>
                  <a:srgbClr val="FF0000"/>
                </a:solidFill>
                <a:latin typeface="ArialMT"/>
              </a:rPr>
              <a:t>d’introduire des dangers sur la sécurité des aéronefs</a:t>
            </a:r>
            <a:r>
              <a:rPr lang="fr-FR" sz="3600" dirty="0">
                <a:latin typeface="ArialMT"/>
              </a:rPr>
              <a:t> seront traités comme interface par les fournisseurs de services cités plus haut.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641698D1-E966-BA65-EBA4-BD7BE72F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60"/>
            <a:ext cx="12192000" cy="111928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III. RESPONSABILITES DES ANSP ET EXPLOITANTS EN MATIERE DE GESTION DE LA SECURITE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4AEF1D4-00B0-A3CB-ADB2-221E7B38805E}"/>
              </a:ext>
            </a:extLst>
          </p:cNvPr>
          <p:cNvSpPr txBox="1"/>
          <p:nvPr/>
        </p:nvSpPr>
        <p:spPr>
          <a:xfrm>
            <a:off x="-17512" y="1309392"/>
            <a:ext cx="11599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SMS : SAFETY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0449061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/>
          <p:cNvSpPr txBox="1"/>
          <p:nvPr/>
        </p:nvSpPr>
        <p:spPr>
          <a:xfrm>
            <a:off x="0" y="2780929"/>
            <a:ext cx="12192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</a:t>
            </a:r>
          </a:p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INFORMATIONS DE SÉCURITÉ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5022057" y="548680"/>
            <a:ext cx="2147886" cy="2051611"/>
            <a:chOff x="4887" y="343"/>
            <a:chExt cx="960" cy="832"/>
          </a:xfrm>
        </p:grpSpPr>
        <p:sp>
          <p:nvSpPr>
            <p:cNvPr id="5" name="Freeform 5"/>
            <p:cNvSpPr>
              <a:spLocks noChangeAspect="1"/>
            </p:cNvSpPr>
            <p:nvPr/>
          </p:nvSpPr>
          <p:spPr bwMode="auto">
            <a:xfrm>
              <a:off x="4914" y="356"/>
              <a:ext cx="923" cy="785"/>
            </a:xfrm>
            <a:custGeom>
              <a:avLst/>
              <a:gdLst>
                <a:gd name="T0" fmla="*/ 26 w 2769"/>
                <a:gd name="T1" fmla="*/ 5 h 2355"/>
                <a:gd name="T2" fmla="*/ 24 w 2769"/>
                <a:gd name="T3" fmla="*/ 11 h 2355"/>
                <a:gd name="T4" fmla="*/ 3 w 2769"/>
                <a:gd name="T5" fmla="*/ 14 h 2355"/>
                <a:gd name="T6" fmla="*/ 0 w 2769"/>
                <a:gd name="T7" fmla="*/ 20 h 2355"/>
                <a:gd name="T8" fmla="*/ 11 w 2769"/>
                <a:gd name="T9" fmla="*/ 85 h 2355"/>
                <a:gd name="T10" fmla="*/ 22 w 2769"/>
                <a:gd name="T11" fmla="*/ 87 h 2355"/>
                <a:gd name="T12" fmla="*/ 65 w 2769"/>
                <a:gd name="T13" fmla="*/ 74 h 2355"/>
                <a:gd name="T14" fmla="*/ 66 w 2769"/>
                <a:gd name="T15" fmla="*/ 71 h 2355"/>
                <a:gd name="T16" fmla="*/ 66 w 2769"/>
                <a:gd name="T17" fmla="*/ 55 h 2355"/>
                <a:gd name="T18" fmla="*/ 103 w 2769"/>
                <a:gd name="T19" fmla="*/ 40 h 2355"/>
                <a:gd name="T20" fmla="*/ 98 w 2769"/>
                <a:gd name="T21" fmla="*/ 29 h 2355"/>
                <a:gd name="T22" fmla="*/ 88 w 2769"/>
                <a:gd name="T23" fmla="*/ 29 h 2355"/>
                <a:gd name="T24" fmla="*/ 64 w 2769"/>
                <a:gd name="T25" fmla="*/ 45 h 2355"/>
                <a:gd name="T26" fmla="*/ 62 w 2769"/>
                <a:gd name="T27" fmla="*/ 8 h 2355"/>
                <a:gd name="T28" fmla="*/ 49 w 2769"/>
                <a:gd name="T29" fmla="*/ 8 h 2355"/>
                <a:gd name="T30" fmla="*/ 38 w 2769"/>
                <a:gd name="T31" fmla="*/ 9 h 2355"/>
                <a:gd name="T32" fmla="*/ 37 w 2769"/>
                <a:gd name="T33" fmla="*/ 3 h 2355"/>
                <a:gd name="T34" fmla="*/ 31 w 2769"/>
                <a:gd name="T35" fmla="*/ 0 h 2355"/>
                <a:gd name="T36" fmla="*/ 26 w 2769"/>
                <a:gd name="T37" fmla="*/ 5 h 2355"/>
                <a:gd name="T38" fmla="*/ 26 w 2769"/>
                <a:gd name="T39" fmla="*/ 5 h 235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769" h="2355">
                  <a:moveTo>
                    <a:pt x="697" y="148"/>
                  </a:moveTo>
                  <a:lnTo>
                    <a:pt x="656" y="295"/>
                  </a:lnTo>
                  <a:lnTo>
                    <a:pt x="74" y="380"/>
                  </a:lnTo>
                  <a:lnTo>
                    <a:pt x="0" y="550"/>
                  </a:lnTo>
                  <a:lnTo>
                    <a:pt x="298" y="2293"/>
                  </a:lnTo>
                  <a:lnTo>
                    <a:pt x="603" y="2355"/>
                  </a:lnTo>
                  <a:lnTo>
                    <a:pt x="1767" y="1999"/>
                  </a:lnTo>
                  <a:lnTo>
                    <a:pt x="1788" y="1925"/>
                  </a:lnTo>
                  <a:lnTo>
                    <a:pt x="1774" y="1495"/>
                  </a:lnTo>
                  <a:lnTo>
                    <a:pt x="2769" y="1070"/>
                  </a:lnTo>
                  <a:lnTo>
                    <a:pt x="2635" y="782"/>
                  </a:lnTo>
                  <a:lnTo>
                    <a:pt x="2384" y="793"/>
                  </a:lnTo>
                  <a:lnTo>
                    <a:pt x="1734" y="1207"/>
                  </a:lnTo>
                  <a:lnTo>
                    <a:pt x="1679" y="211"/>
                  </a:lnTo>
                  <a:lnTo>
                    <a:pt x="1314" y="222"/>
                  </a:lnTo>
                  <a:lnTo>
                    <a:pt x="1030" y="244"/>
                  </a:lnTo>
                  <a:lnTo>
                    <a:pt x="995" y="86"/>
                  </a:lnTo>
                  <a:lnTo>
                    <a:pt x="825" y="0"/>
                  </a:lnTo>
                  <a:lnTo>
                    <a:pt x="697" y="1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Freeform 6"/>
            <p:cNvSpPr>
              <a:spLocks noChangeAspect="1"/>
            </p:cNvSpPr>
            <p:nvPr/>
          </p:nvSpPr>
          <p:spPr bwMode="auto">
            <a:xfrm>
              <a:off x="4960" y="453"/>
              <a:ext cx="543" cy="722"/>
            </a:xfrm>
            <a:custGeom>
              <a:avLst/>
              <a:gdLst>
                <a:gd name="T0" fmla="*/ 12 w 1631"/>
                <a:gd name="T1" fmla="*/ 3 h 2168"/>
                <a:gd name="T2" fmla="*/ 0 w 1631"/>
                <a:gd name="T3" fmla="*/ 7 h 2168"/>
                <a:gd name="T4" fmla="*/ 8 w 1631"/>
                <a:gd name="T5" fmla="*/ 78 h 2168"/>
                <a:gd name="T6" fmla="*/ 16 w 1631"/>
                <a:gd name="T7" fmla="*/ 80 h 2168"/>
                <a:gd name="T8" fmla="*/ 60 w 1631"/>
                <a:gd name="T9" fmla="*/ 68 h 2168"/>
                <a:gd name="T10" fmla="*/ 56 w 1631"/>
                <a:gd name="T11" fmla="*/ 0 h 2168"/>
                <a:gd name="T12" fmla="*/ 46 w 1631"/>
                <a:gd name="T13" fmla="*/ 0 h 2168"/>
                <a:gd name="T14" fmla="*/ 46 w 1631"/>
                <a:gd name="T15" fmla="*/ 7 h 2168"/>
                <a:gd name="T16" fmla="*/ 52 w 1631"/>
                <a:gd name="T17" fmla="*/ 8 h 2168"/>
                <a:gd name="T18" fmla="*/ 56 w 1631"/>
                <a:gd name="T19" fmla="*/ 59 h 2168"/>
                <a:gd name="T20" fmla="*/ 12 w 1631"/>
                <a:gd name="T21" fmla="*/ 70 h 2168"/>
                <a:gd name="T22" fmla="*/ 3 w 1631"/>
                <a:gd name="T23" fmla="*/ 9 h 2168"/>
                <a:gd name="T24" fmla="*/ 11 w 1631"/>
                <a:gd name="T25" fmla="*/ 7 h 2168"/>
                <a:gd name="T26" fmla="*/ 12 w 1631"/>
                <a:gd name="T27" fmla="*/ 3 h 2168"/>
                <a:gd name="T28" fmla="*/ 12 w 1631"/>
                <a:gd name="T29" fmla="*/ 3 h 21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31" h="2168">
                  <a:moveTo>
                    <a:pt x="331" y="74"/>
                  </a:moveTo>
                  <a:lnTo>
                    <a:pt x="0" y="192"/>
                  </a:lnTo>
                  <a:lnTo>
                    <a:pt x="217" y="2116"/>
                  </a:lnTo>
                  <a:lnTo>
                    <a:pt x="439" y="2168"/>
                  </a:lnTo>
                  <a:lnTo>
                    <a:pt x="1631" y="1834"/>
                  </a:lnTo>
                  <a:lnTo>
                    <a:pt x="1530" y="11"/>
                  </a:lnTo>
                  <a:lnTo>
                    <a:pt x="1252" y="0"/>
                  </a:lnTo>
                  <a:lnTo>
                    <a:pt x="1245" y="187"/>
                  </a:lnTo>
                  <a:lnTo>
                    <a:pt x="1414" y="221"/>
                  </a:lnTo>
                  <a:lnTo>
                    <a:pt x="1523" y="1590"/>
                  </a:lnTo>
                  <a:lnTo>
                    <a:pt x="324" y="1907"/>
                  </a:lnTo>
                  <a:lnTo>
                    <a:pt x="93" y="243"/>
                  </a:lnTo>
                  <a:lnTo>
                    <a:pt x="305" y="192"/>
                  </a:lnTo>
                  <a:lnTo>
                    <a:pt x="331" y="74"/>
                  </a:lnTo>
                  <a:close/>
                </a:path>
              </a:pathLst>
            </a:custGeom>
            <a:solidFill>
              <a:srgbClr val="E896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>
              <a:spLocks noChangeAspect="1"/>
            </p:cNvSpPr>
            <p:nvPr/>
          </p:nvSpPr>
          <p:spPr bwMode="auto">
            <a:xfrm>
              <a:off x="5070" y="375"/>
              <a:ext cx="298" cy="196"/>
            </a:xfrm>
            <a:custGeom>
              <a:avLst/>
              <a:gdLst>
                <a:gd name="T0" fmla="*/ 15 w 894"/>
                <a:gd name="T1" fmla="*/ 0 h 588"/>
                <a:gd name="T2" fmla="*/ 10 w 894"/>
                <a:gd name="T3" fmla="*/ 4 h 588"/>
                <a:gd name="T4" fmla="*/ 10 w 894"/>
                <a:gd name="T5" fmla="*/ 12 h 588"/>
                <a:gd name="T6" fmla="*/ 0 w 894"/>
                <a:gd name="T7" fmla="*/ 20 h 588"/>
                <a:gd name="T8" fmla="*/ 1 w 894"/>
                <a:gd name="T9" fmla="*/ 22 h 588"/>
                <a:gd name="T10" fmla="*/ 33 w 894"/>
                <a:gd name="T11" fmla="*/ 17 h 588"/>
                <a:gd name="T12" fmla="*/ 33 w 894"/>
                <a:gd name="T13" fmla="*/ 11 h 588"/>
                <a:gd name="T14" fmla="*/ 20 w 894"/>
                <a:gd name="T15" fmla="*/ 10 h 588"/>
                <a:gd name="T16" fmla="*/ 15 w 894"/>
                <a:gd name="T17" fmla="*/ 0 h 588"/>
                <a:gd name="T18" fmla="*/ 15 w 894"/>
                <a:gd name="T19" fmla="*/ 0 h 5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94" h="588">
                  <a:moveTo>
                    <a:pt x="399" y="0"/>
                  </a:moveTo>
                  <a:lnTo>
                    <a:pt x="270" y="107"/>
                  </a:lnTo>
                  <a:lnTo>
                    <a:pt x="265" y="334"/>
                  </a:lnTo>
                  <a:lnTo>
                    <a:pt x="0" y="537"/>
                  </a:lnTo>
                  <a:lnTo>
                    <a:pt x="27" y="588"/>
                  </a:lnTo>
                  <a:lnTo>
                    <a:pt x="894" y="453"/>
                  </a:lnTo>
                  <a:lnTo>
                    <a:pt x="894" y="288"/>
                  </a:lnTo>
                  <a:lnTo>
                    <a:pt x="549" y="272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Freeform 8"/>
            <p:cNvSpPr>
              <a:spLocks noChangeAspect="1"/>
            </p:cNvSpPr>
            <p:nvPr/>
          </p:nvSpPr>
          <p:spPr bwMode="auto">
            <a:xfrm>
              <a:off x="5684" y="630"/>
              <a:ext cx="147" cy="143"/>
            </a:xfrm>
            <a:custGeom>
              <a:avLst/>
              <a:gdLst>
                <a:gd name="T0" fmla="*/ 10 w 440"/>
                <a:gd name="T1" fmla="*/ 0 h 430"/>
                <a:gd name="T2" fmla="*/ 0 w 440"/>
                <a:gd name="T3" fmla="*/ 1 h 430"/>
                <a:gd name="T4" fmla="*/ 1 w 440"/>
                <a:gd name="T5" fmla="*/ 9 h 430"/>
                <a:gd name="T6" fmla="*/ 10 w 440"/>
                <a:gd name="T7" fmla="*/ 16 h 430"/>
                <a:gd name="T8" fmla="*/ 16 w 440"/>
                <a:gd name="T9" fmla="*/ 14 h 430"/>
                <a:gd name="T10" fmla="*/ 10 w 440"/>
                <a:gd name="T11" fmla="*/ 0 h 430"/>
                <a:gd name="T12" fmla="*/ 10 w 440"/>
                <a:gd name="T13" fmla="*/ 0 h 43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40" h="430">
                  <a:moveTo>
                    <a:pt x="264" y="0"/>
                  </a:moveTo>
                  <a:lnTo>
                    <a:pt x="0" y="28"/>
                  </a:lnTo>
                  <a:lnTo>
                    <a:pt x="14" y="243"/>
                  </a:lnTo>
                  <a:lnTo>
                    <a:pt x="264" y="430"/>
                  </a:lnTo>
                  <a:lnTo>
                    <a:pt x="440" y="368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E8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Freeform 9"/>
            <p:cNvSpPr>
              <a:spLocks noChangeAspect="1"/>
            </p:cNvSpPr>
            <p:nvPr/>
          </p:nvSpPr>
          <p:spPr bwMode="auto">
            <a:xfrm>
              <a:off x="5587" y="685"/>
              <a:ext cx="147" cy="134"/>
            </a:xfrm>
            <a:custGeom>
              <a:avLst/>
              <a:gdLst>
                <a:gd name="T0" fmla="*/ 0 w 440"/>
                <a:gd name="T1" fmla="*/ 4 h 402"/>
                <a:gd name="T2" fmla="*/ 4 w 440"/>
                <a:gd name="T3" fmla="*/ 4 h 402"/>
                <a:gd name="T4" fmla="*/ 5 w 440"/>
                <a:gd name="T5" fmla="*/ 0 h 402"/>
                <a:gd name="T6" fmla="*/ 10 w 440"/>
                <a:gd name="T7" fmla="*/ 0 h 402"/>
                <a:gd name="T8" fmla="*/ 16 w 440"/>
                <a:gd name="T9" fmla="*/ 12 h 402"/>
                <a:gd name="T10" fmla="*/ 9 w 440"/>
                <a:gd name="T11" fmla="*/ 13 h 402"/>
                <a:gd name="T12" fmla="*/ 7 w 440"/>
                <a:gd name="T13" fmla="*/ 15 h 402"/>
                <a:gd name="T14" fmla="*/ 0 w 440"/>
                <a:gd name="T15" fmla="*/ 4 h 402"/>
                <a:gd name="T16" fmla="*/ 0 w 440"/>
                <a:gd name="T17" fmla="*/ 4 h 40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40" h="402">
                  <a:moveTo>
                    <a:pt x="0" y="102"/>
                  </a:moveTo>
                  <a:lnTo>
                    <a:pt x="102" y="113"/>
                  </a:lnTo>
                  <a:lnTo>
                    <a:pt x="128" y="11"/>
                  </a:lnTo>
                  <a:lnTo>
                    <a:pt x="264" y="0"/>
                  </a:lnTo>
                  <a:lnTo>
                    <a:pt x="440" y="317"/>
                  </a:lnTo>
                  <a:lnTo>
                    <a:pt x="245" y="339"/>
                  </a:lnTo>
                  <a:lnTo>
                    <a:pt x="197" y="4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DBDB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>
              <a:spLocks noChangeAspect="1"/>
            </p:cNvSpPr>
            <p:nvPr/>
          </p:nvSpPr>
          <p:spPr bwMode="auto">
            <a:xfrm>
              <a:off x="5393" y="722"/>
              <a:ext cx="264" cy="183"/>
            </a:xfrm>
            <a:custGeom>
              <a:avLst/>
              <a:gdLst>
                <a:gd name="T0" fmla="*/ 0 w 792"/>
                <a:gd name="T1" fmla="*/ 12 h 549"/>
                <a:gd name="T2" fmla="*/ 21 w 792"/>
                <a:gd name="T3" fmla="*/ 0 h 549"/>
                <a:gd name="T4" fmla="*/ 29 w 792"/>
                <a:gd name="T5" fmla="*/ 11 h 549"/>
                <a:gd name="T6" fmla="*/ 5 w 792"/>
                <a:gd name="T7" fmla="*/ 20 h 549"/>
                <a:gd name="T8" fmla="*/ 0 w 792"/>
                <a:gd name="T9" fmla="*/ 12 h 549"/>
                <a:gd name="T10" fmla="*/ 0 w 792"/>
                <a:gd name="T11" fmla="*/ 12 h 5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2" h="549">
                  <a:moveTo>
                    <a:pt x="0" y="333"/>
                  </a:moveTo>
                  <a:lnTo>
                    <a:pt x="562" y="0"/>
                  </a:lnTo>
                  <a:lnTo>
                    <a:pt x="792" y="305"/>
                  </a:lnTo>
                  <a:lnTo>
                    <a:pt x="142" y="549"/>
                  </a:lnTo>
                  <a:lnTo>
                    <a:pt x="0" y="333"/>
                  </a:lnTo>
                  <a:close/>
                </a:path>
              </a:pathLst>
            </a:custGeom>
            <a:solidFill>
              <a:srgbClr val="FFB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Freeform 11"/>
            <p:cNvSpPr>
              <a:spLocks noChangeAspect="1"/>
            </p:cNvSpPr>
            <p:nvPr/>
          </p:nvSpPr>
          <p:spPr bwMode="auto">
            <a:xfrm>
              <a:off x="5160" y="577"/>
              <a:ext cx="231" cy="71"/>
            </a:xfrm>
            <a:custGeom>
              <a:avLst/>
              <a:gdLst>
                <a:gd name="T0" fmla="*/ 3 w 692"/>
                <a:gd name="T1" fmla="*/ 4 h 213"/>
                <a:gd name="T2" fmla="*/ 5 w 692"/>
                <a:gd name="T3" fmla="*/ 6 h 213"/>
                <a:gd name="T4" fmla="*/ 9 w 692"/>
                <a:gd name="T5" fmla="*/ 3 h 213"/>
                <a:gd name="T6" fmla="*/ 11 w 692"/>
                <a:gd name="T7" fmla="*/ 4 h 213"/>
                <a:gd name="T8" fmla="*/ 15 w 692"/>
                <a:gd name="T9" fmla="*/ 1 h 213"/>
                <a:gd name="T10" fmla="*/ 19 w 692"/>
                <a:gd name="T11" fmla="*/ 3 h 213"/>
                <a:gd name="T12" fmla="*/ 22 w 692"/>
                <a:gd name="T13" fmla="*/ 0 h 213"/>
                <a:gd name="T14" fmla="*/ 26 w 692"/>
                <a:gd name="T15" fmla="*/ 2 h 213"/>
                <a:gd name="T16" fmla="*/ 20 w 692"/>
                <a:gd name="T17" fmla="*/ 5 h 213"/>
                <a:gd name="T18" fmla="*/ 16 w 692"/>
                <a:gd name="T19" fmla="*/ 3 h 213"/>
                <a:gd name="T20" fmla="*/ 11 w 692"/>
                <a:gd name="T21" fmla="*/ 6 h 213"/>
                <a:gd name="T22" fmla="*/ 8 w 692"/>
                <a:gd name="T23" fmla="*/ 6 h 213"/>
                <a:gd name="T24" fmla="*/ 3 w 692"/>
                <a:gd name="T25" fmla="*/ 8 h 213"/>
                <a:gd name="T26" fmla="*/ 0 w 692"/>
                <a:gd name="T27" fmla="*/ 6 h 213"/>
                <a:gd name="T28" fmla="*/ 3 w 692"/>
                <a:gd name="T29" fmla="*/ 4 h 213"/>
                <a:gd name="T30" fmla="*/ 3 w 692"/>
                <a:gd name="T31" fmla="*/ 4 h 21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92" h="213">
                  <a:moveTo>
                    <a:pt x="83" y="112"/>
                  </a:moveTo>
                  <a:lnTo>
                    <a:pt x="123" y="163"/>
                  </a:lnTo>
                  <a:lnTo>
                    <a:pt x="231" y="84"/>
                  </a:lnTo>
                  <a:lnTo>
                    <a:pt x="293" y="118"/>
                  </a:lnTo>
                  <a:lnTo>
                    <a:pt x="415" y="28"/>
                  </a:lnTo>
                  <a:lnTo>
                    <a:pt x="503" y="78"/>
                  </a:lnTo>
                  <a:lnTo>
                    <a:pt x="603" y="0"/>
                  </a:lnTo>
                  <a:lnTo>
                    <a:pt x="692" y="56"/>
                  </a:lnTo>
                  <a:lnTo>
                    <a:pt x="529" y="141"/>
                  </a:lnTo>
                  <a:lnTo>
                    <a:pt x="427" y="84"/>
                  </a:lnTo>
                  <a:lnTo>
                    <a:pt x="293" y="169"/>
                  </a:lnTo>
                  <a:lnTo>
                    <a:pt x="217" y="152"/>
                  </a:lnTo>
                  <a:lnTo>
                    <a:pt x="83" y="213"/>
                  </a:lnTo>
                  <a:lnTo>
                    <a:pt x="0" y="175"/>
                  </a:lnTo>
                  <a:lnTo>
                    <a:pt x="83" y="11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Freeform 12"/>
            <p:cNvSpPr>
              <a:spLocks noChangeAspect="1"/>
            </p:cNvSpPr>
            <p:nvPr/>
          </p:nvSpPr>
          <p:spPr bwMode="auto">
            <a:xfrm>
              <a:off x="5182" y="685"/>
              <a:ext cx="216" cy="67"/>
            </a:xfrm>
            <a:custGeom>
              <a:avLst/>
              <a:gdLst>
                <a:gd name="T0" fmla="*/ 3 w 649"/>
                <a:gd name="T1" fmla="*/ 4 h 202"/>
                <a:gd name="T2" fmla="*/ 4 w 649"/>
                <a:gd name="T3" fmla="*/ 6 h 202"/>
                <a:gd name="T4" fmla="*/ 8 w 649"/>
                <a:gd name="T5" fmla="*/ 3 h 202"/>
                <a:gd name="T6" fmla="*/ 10 w 649"/>
                <a:gd name="T7" fmla="*/ 4 h 202"/>
                <a:gd name="T8" fmla="*/ 14 w 649"/>
                <a:gd name="T9" fmla="*/ 1 h 202"/>
                <a:gd name="T10" fmla="*/ 17 w 649"/>
                <a:gd name="T11" fmla="*/ 3 h 202"/>
                <a:gd name="T12" fmla="*/ 21 w 649"/>
                <a:gd name="T13" fmla="*/ 0 h 202"/>
                <a:gd name="T14" fmla="*/ 24 w 649"/>
                <a:gd name="T15" fmla="*/ 2 h 202"/>
                <a:gd name="T16" fmla="*/ 18 w 649"/>
                <a:gd name="T17" fmla="*/ 5 h 202"/>
                <a:gd name="T18" fmla="*/ 15 w 649"/>
                <a:gd name="T19" fmla="*/ 3 h 202"/>
                <a:gd name="T20" fmla="*/ 10 w 649"/>
                <a:gd name="T21" fmla="*/ 6 h 202"/>
                <a:gd name="T22" fmla="*/ 8 w 649"/>
                <a:gd name="T23" fmla="*/ 5 h 202"/>
                <a:gd name="T24" fmla="*/ 3 w 649"/>
                <a:gd name="T25" fmla="*/ 7 h 202"/>
                <a:gd name="T26" fmla="*/ 0 w 649"/>
                <a:gd name="T27" fmla="*/ 6 h 202"/>
                <a:gd name="T28" fmla="*/ 3 w 649"/>
                <a:gd name="T29" fmla="*/ 4 h 202"/>
                <a:gd name="T30" fmla="*/ 3 w 649"/>
                <a:gd name="T31" fmla="*/ 4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49" h="202">
                  <a:moveTo>
                    <a:pt x="77" y="107"/>
                  </a:moveTo>
                  <a:lnTo>
                    <a:pt x="114" y="154"/>
                  </a:lnTo>
                  <a:lnTo>
                    <a:pt x="217" y="81"/>
                  </a:lnTo>
                  <a:lnTo>
                    <a:pt x="274" y="112"/>
                  </a:lnTo>
                  <a:lnTo>
                    <a:pt x="387" y="27"/>
                  </a:lnTo>
                  <a:lnTo>
                    <a:pt x="470" y="75"/>
                  </a:lnTo>
                  <a:lnTo>
                    <a:pt x="566" y="0"/>
                  </a:lnTo>
                  <a:lnTo>
                    <a:pt x="649" y="54"/>
                  </a:lnTo>
                  <a:lnTo>
                    <a:pt x="496" y="133"/>
                  </a:lnTo>
                  <a:lnTo>
                    <a:pt x="400" y="81"/>
                  </a:lnTo>
                  <a:lnTo>
                    <a:pt x="274" y="160"/>
                  </a:lnTo>
                  <a:lnTo>
                    <a:pt x="204" y="144"/>
                  </a:lnTo>
                  <a:lnTo>
                    <a:pt x="77" y="202"/>
                  </a:lnTo>
                  <a:lnTo>
                    <a:pt x="0" y="165"/>
                  </a:lnTo>
                  <a:lnTo>
                    <a:pt x="77" y="107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>
              <a:spLocks noChangeAspect="1"/>
            </p:cNvSpPr>
            <p:nvPr/>
          </p:nvSpPr>
          <p:spPr bwMode="auto">
            <a:xfrm>
              <a:off x="5203" y="793"/>
              <a:ext cx="202" cy="63"/>
            </a:xfrm>
            <a:custGeom>
              <a:avLst/>
              <a:gdLst>
                <a:gd name="T0" fmla="*/ 3 w 606"/>
                <a:gd name="T1" fmla="*/ 4 h 189"/>
                <a:gd name="T2" fmla="*/ 4 w 606"/>
                <a:gd name="T3" fmla="*/ 5 h 189"/>
                <a:gd name="T4" fmla="*/ 7 w 606"/>
                <a:gd name="T5" fmla="*/ 3 h 189"/>
                <a:gd name="T6" fmla="*/ 9 w 606"/>
                <a:gd name="T7" fmla="*/ 4 h 189"/>
                <a:gd name="T8" fmla="*/ 13 w 606"/>
                <a:gd name="T9" fmla="*/ 1 h 189"/>
                <a:gd name="T10" fmla="*/ 16 w 606"/>
                <a:gd name="T11" fmla="*/ 3 h 189"/>
                <a:gd name="T12" fmla="*/ 20 w 606"/>
                <a:gd name="T13" fmla="*/ 0 h 189"/>
                <a:gd name="T14" fmla="*/ 22 w 606"/>
                <a:gd name="T15" fmla="*/ 2 h 189"/>
                <a:gd name="T16" fmla="*/ 17 w 606"/>
                <a:gd name="T17" fmla="*/ 5 h 189"/>
                <a:gd name="T18" fmla="*/ 14 w 606"/>
                <a:gd name="T19" fmla="*/ 3 h 189"/>
                <a:gd name="T20" fmla="*/ 9 w 606"/>
                <a:gd name="T21" fmla="*/ 6 h 189"/>
                <a:gd name="T22" fmla="*/ 7 w 606"/>
                <a:gd name="T23" fmla="*/ 5 h 189"/>
                <a:gd name="T24" fmla="*/ 3 w 606"/>
                <a:gd name="T25" fmla="*/ 7 h 189"/>
                <a:gd name="T26" fmla="*/ 0 w 606"/>
                <a:gd name="T27" fmla="*/ 6 h 189"/>
                <a:gd name="T28" fmla="*/ 3 w 606"/>
                <a:gd name="T29" fmla="*/ 4 h 189"/>
                <a:gd name="T30" fmla="*/ 3 w 606"/>
                <a:gd name="T31" fmla="*/ 4 h 1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06" h="189">
                  <a:moveTo>
                    <a:pt x="71" y="99"/>
                  </a:moveTo>
                  <a:lnTo>
                    <a:pt x="108" y="144"/>
                  </a:lnTo>
                  <a:lnTo>
                    <a:pt x="202" y="75"/>
                  </a:lnTo>
                  <a:lnTo>
                    <a:pt x="256" y="104"/>
                  </a:lnTo>
                  <a:lnTo>
                    <a:pt x="362" y="24"/>
                  </a:lnTo>
                  <a:lnTo>
                    <a:pt x="439" y="70"/>
                  </a:lnTo>
                  <a:lnTo>
                    <a:pt x="529" y="0"/>
                  </a:lnTo>
                  <a:lnTo>
                    <a:pt x="606" y="50"/>
                  </a:lnTo>
                  <a:lnTo>
                    <a:pt x="463" y="124"/>
                  </a:lnTo>
                  <a:lnTo>
                    <a:pt x="375" y="75"/>
                  </a:lnTo>
                  <a:lnTo>
                    <a:pt x="256" y="149"/>
                  </a:lnTo>
                  <a:lnTo>
                    <a:pt x="190" y="134"/>
                  </a:lnTo>
                  <a:lnTo>
                    <a:pt x="71" y="189"/>
                  </a:lnTo>
                  <a:lnTo>
                    <a:pt x="0" y="154"/>
                  </a:lnTo>
                  <a:lnTo>
                    <a:pt x="71" y="99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>
              <a:spLocks noChangeAspect="1"/>
            </p:cNvSpPr>
            <p:nvPr/>
          </p:nvSpPr>
          <p:spPr bwMode="auto">
            <a:xfrm>
              <a:off x="5224" y="902"/>
              <a:ext cx="188" cy="58"/>
            </a:xfrm>
            <a:custGeom>
              <a:avLst/>
              <a:gdLst>
                <a:gd name="T0" fmla="*/ 2 w 564"/>
                <a:gd name="T1" fmla="*/ 3 h 175"/>
                <a:gd name="T2" fmla="*/ 4 w 564"/>
                <a:gd name="T3" fmla="*/ 5 h 175"/>
                <a:gd name="T4" fmla="*/ 7 w 564"/>
                <a:gd name="T5" fmla="*/ 3 h 175"/>
                <a:gd name="T6" fmla="*/ 9 w 564"/>
                <a:gd name="T7" fmla="*/ 4 h 175"/>
                <a:gd name="T8" fmla="*/ 13 w 564"/>
                <a:gd name="T9" fmla="*/ 1 h 175"/>
                <a:gd name="T10" fmla="*/ 15 w 564"/>
                <a:gd name="T11" fmla="*/ 2 h 175"/>
                <a:gd name="T12" fmla="*/ 18 w 564"/>
                <a:gd name="T13" fmla="*/ 0 h 175"/>
                <a:gd name="T14" fmla="*/ 21 w 564"/>
                <a:gd name="T15" fmla="*/ 2 h 175"/>
                <a:gd name="T16" fmla="*/ 16 w 564"/>
                <a:gd name="T17" fmla="*/ 4 h 175"/>
                <a:gd name="T18" fmla="*/ 13 w 564"/>
                <a:gd name="T19" fmla="*/ 3 h 175"/>
                <a:gd name="T20" fmla="*/ 9 w 564"/>
                <a:gd name="T21" fmla="*/ 5 h 175"/>
                <a:gd name="T22" fmla="*/ 7 w 564"/>
                <a:gd name="T23" fmla="*/ 5 h 175"/>
                <a:gd name="T24" fmla="*/ 2 w 564"/>
                <a:gd name="T25" fmla="*/ 6 h 175"/>
                <a:gd name="T26" fmla="*/ 0 w 564"/>
                <a:gd name="T27" fmla="*/ 5 h 175"/>
                <a:gd name="T28" fmla="*/ 2 w 564"/>
                <a:gd name="T29" fmla="*/ 3 h 175"/>
                <a:gd name="T30" fmla="*/ 2 w 564"/>
                <a:gd name="T31" fmla="*/ 3 h 17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64" h="175">
                  <a:moveTo>
                    <a:pt x="66" y="92"/>
                  </a:moveTo>
                  <a:lnTo>
                    <a:pt x="100" y="134"/>
                  </a:lnTo>
                  <a:lnTo>
                    <a:pt x="188" y="69"/>
                  </a:lnTo>
                  <a:lnTo>
                    <a:pt x="238" y="97"/>
                  </a:lnTo>
                  <a:lnTo>
                    <a:pt x="338" y="23"/>
                  </a:lnTo>
                  <a:lnTo>
                    <a:pt x="409" y="64"/>
                  </a:lnTo>
                  <a:lnTo>
                    <a:pt x="492" y="0"/>
                  </a:lnTo>
                  <a:lnTo>
                    <a:pt x="564" y="46"/>
                  </a:lnTo>
                  <a:lnTo>
                    <a:pt x="431" y="115"/>
                  </a:lnTo>
                  <a:lnTo>
                    <a:pt x="349" y="69"/>
                  </a:lnTo>
                  <a:lnTo>
                    <a:pt x="238" y="139"/>
                  </a:lnTo>
                  <a:lnTo>
                    <a:pt x="177" y="125"/>
                  </a:lnTo>
                  <a:lnTo>
                    <a:pt x="66" y="175"/>
                  </a:lnTo>
                  <a:lnTo>
                    <a:pt x="0" y="143"/>
                  </a:lnTo>
                  <a:lnTo>
                    <a:pt x="66" y="92"/>
                  </a:lnTo>
                  <a:close/>
                </a:path>
              </a:pathLst>
            </a:custGeom>
            <a:solidFill>
              <a:srgbClr val="D1BA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Freeform 15"/>
            <p:cNvSpPr>
              <a:spLocks noChangeAspect="1"/>
            </p:cNvSpPr>
            <p:nvPr/>
          </p:nvSpPr>
          <p:spPr bwMode="auto">
            <a:xfrm>
              <a:off x="5355" y="854"/>
              <a:ext cx="72" cy="61"/>
            </a:xfrm>
            <a:custGeom>
              <a:avLst/>
              <a:gdLst>
                <a:gd name="T0" fmla="*/ 4 w 217"/>
                <a:gd name="T1" fmla="*/ 0 h 181"/>
                <a:gd name="T2" fmla="*/ 0 w 217"/>
                <a:gd name="T3" fmla="*/ 7 h 181"/>
                <a:gd name="T4" fmla="*/ 8 w 217"/>
                <a:gd name="T5" fmla="*/ 6 h 181"/>
                <a:gd name="T6" fmla="*/ 4 w 217"/>
                <a:gd name="T7" fmla="*/ 0 h 181"/>
                <a:gd name="T8" fmla="*/ 4 w 21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7" h="181">
                  <a:moveTo>
                    <a:pt x="115" y="0"/>
                  </a:moveTo>
                  <a:lnTo>
                    <a:pt x="0" y="181"/>
                  </a:lnTo>
                  <a:lnTo>
                    <a:pt x="217" y="159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>
              <a:spLocks noChangeAspect="1"/>
            </p:cNvSpPr>
            <p:nvPr/>
          </p:nvSpPr>
          <p:spPr bwMode="auto">
            <a:xfrm>
              <a:off x="5621" y="886"/>
              <a:ext cx="129" cy="21"/>
            </a:xfrm>
            <a:custGeom>
              <a:avLst/>
              <a:gdLst>
                <a:gd name="T0" fmla="*/ 0 w 386"/>
                <a:gd name="T1" fmla="*/ 2 h 63"/>
                <a:gd name="T2" fmla="*/ 14 w 386"/>
                <a:gd name="T3" fmla="*/ 0 h 63"/>
                <a:gd name="T4" fmla="*/ 11 w 386"/>
                <a:gd name="T5" fmla="*/ 2 h 63"/>
                <a:gd name="T6" fmla="*/ 0 w 386"/>
                <a:gd name="T7" fmla="*/ 2 h 63"/>
                <a:gd name="T8" fmla="*/ 0 w 386"/>
                <a:gd name="T9" fmla="*/ 2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6" h="63">
                  <a:moveTo>
                    <a:pt x="0" y="63"/>
                  </a:moveTo>
                  <a:lnTo>
                    <a:pt x="386" y="0"/>
                  </a:lnTo>
                  <a:lnTo>
                    <a:pt x="298" y="5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Freeform 17"/>
            <p:cNvSpPr>
              <a:spLocks noChangeAspect="1"/>
            </p:cNvSpPr>
            <p:nvPr/>
          </p:nvSpPr>
          <p:spPr bwMode="auto">
            <a:xfrm>
              <a:off x="5034" y="543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6"/>
                  </a:moveTo>
                  <a:lnTo>
                    <a:pt x="127" y="364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4" y="306"/>
                  </a:lnTo>
                  <a:lnTo>
                    <a:pt x="95" y="204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Freeform 18"/>
            <p:cNvSpPr>
              <a:spLocks noChangeAspect="1"/>
            </p:cNvSpPr>
            <p:nvPr/>
          </p:nvSpPr>
          <p:spPr bwMode="auto">
            <a:xfrm>
              <a:off x="5051" y="652"/>
              <a:ext cx="192" cy="147"/>
            </a:xfrm>
            <a:custGeom>
              <a:avLst/>
              <a:gdLst>
                <a:gd name="T0" fmla="*/ 0 w 575"/>
                <a:gd name="T1" fmla="*/ 13 h 441"/>
                <a:gd name="T2" fmla="*/ 5 w 575"/>
                <a:gd name="T3" fmla="*/ 13 h 441"/>
                <a:gd name="T4" fmla="*/ 10 w 575"/>
                <a:gd name="T5" fmla="*/ 16 h 441"/>
                <a:gd name="T6" fmla="*/ 14 w 575"/>
                <a:gd name="T7" fmla="*/ 8 h 441"/>
                <a:gd name="T8" fmla="*/ 21 w 575"/>
                <a:gd name="T9" fmla="*/ 0 h 441"/>
                <a:gd name="T10" fmla="*/ 12 w 575"/>
                <a:gd name="T11" fmla="*/ 6 h 441"/>
                <a:gd name="T12" fmla="*/ 8 w 575"/>
                <a:gd name="T13" fmla="*/ 11 h 441"/>
                <a:gd name="T14" fmla="*/ 4 w 575"/>
                <a:gd name="T15" fmla="*/ 8 h 441"/>
                <a:gd name="T16" fmla="*/ 0 w 575"/>
                <a:gd name="T17" fmla="*/ 13 h 441"/>
                <a:gd name="T18" fmla="*/ 0 w 575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1">
                  <a:moveTo>
                    <a:pt x="0" y="346"/>
                  </a:moveTo>
                  <a:lnTo>
                    <a:pt x="128" y="364"/>
                  </a:lnTo>
                  <a:lnTo>
                    <a:pt x="265" y="441"/>
                  </a:lnTo>
                  <a:lnTo>
                    <a:pt x="366" y="221"/>
                  </a:lnTo>
                  <a:lnTo>
                    <a:pt x="575" y="0"/>
                  </a:lnTo>
                  <a:lnTo>
                    <a:pt x="311" y="153"/>
                  </a:lnTo>
                  <a:lnTo>
                    <a:pt x="203" y="306"/>
                  </a:lnTo>
                  <a:lnTo>
                    <a:pt x="95" y="203"/>
                  </a:lnTo>
                  <a:lnTo>
                    <a:pt x="0" y="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>
              <a:spLocks noChangeAspect="1"/>
            </p:cNvSpPr>
            <p:nvPr/>
          </p:nvSpPr>
          <p:spPr bwMode="auto">
            <a:xfrm>
              <a:off x="5069" y="761"/>
              <a:ext cx="192" cy="147"/>
            </a:xfrm>
            <a:custGeom>
              <a:avLst/>
              <a:gdLst>
                <a:gd name="T0" fmla="*/ 0 w 577"/>
                <a:gd name="T1" fmla="*/ 13 h 441"/>
                <a:gd name="T2" fmla="*/ 5 w 577"/>
                <a:gd name="T3" fmla="*/ 13 h 441"/>
                <a:gd name="T4" fmla="*/ 10 w 577"/>
                <a:gd name="T5" fmla="*/ 16 h 441"/>
                <a:gd name="T6" fmla="*/ 14 w 577"/>
                <a:gd name="T7" fmla="*/ 8 h 441"/>
                <a:gd name="T8" fmla="*/ 21 w 577"/>
                <a:gd name="T9" fmla="*/ 0 h 441"/>
                <a:gd name="T10" fmla="*/ 12 w 577"/>
                <a:gd name="T11" fmla="*/ 6 h 441"/>
                <a:gd name="T12" fmla="*/ 8 w 577"/>
                <a:gd name="T13" fmla="*/ 11 h 441"/>
                <a:gd name="T14" fmla="*/ 4 w 577"/>
                <a:gd name="T15" fmla="*/ 8 h 441"/>
                <a:gd name="T16" fmla="*/ 0 w 577"/>
                <a:gd name="T17" fmla="*/ 13 h 441"/>
                <a:gd name="T18" fmla="*/ 0 w 577"/>
                <a:gd name="T19" fmla="*/ 13 h 4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7" h="441">
                  <a:moveTo>
                    <a:pt x="0" y="345"/>
                  </a:moveTo>
                  <a:lnTo>
                    <a:pt x="127" y="363"/>
                  </a:lnTo>
                  <a:lnTo>
                    <a:pt x="265" y="441"/>
                  </a:lnTo>
                  <a:lnTo>
                    <a:pt x="367" y="221"/>
                  </a:lnTo>
                  <a:lnTo>
                    <a:pt x="577" y="0"/>
                  </a:lnTo>
                  <a:lnTo>
                    <a:pt x="312" y="153"/>
                  </a:lnTo>
                  <a:lnTo>
                    <a:pt x="203" y="305"/>
                  </a:lnTo>
                  <a:lnTo>
                    <a:pt x="95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>
              <a:spLocks noChangeAspect="1"/>
            </p:cNvSpPr>
            <p:nvPr/>
          </p:nvSpPr>
          <p:spPr bwMode="auto">
            <a:xfrm>
              <a:off x="5086" y="870"/>
              <a:ext cx="192" cy="147"/>
            </a:xfrm>
            <a:custGeom>
              <a:avLst/>
              <a:gdLst>
                <a:gd name="T0" fmla="*/ 0 w 575"/>
                <a:gd name="T1" fmla="*/ 13 h 440"/>
                <a:gd name="T2" fmla="*/ 5 w 575"/>
                <a:gd name="T3" fmla="*/ 13 h 440"/>
                <a:gd name="T4" fmla="*/ 10 w 575"/>
                <a:gd name="T5" fmla="*/ 16 h 440"/>
                <a:gd name="T6" fmla="*/ 14 w 575"/>
                <a:gd name="T7" fmla="*/ 8 h 440"/>
                <a:gd name="T8" fmla="*/ 21 w 575"/>
                <a:gd name="T9" fmla="*/ 0 h 440"/>
                <a:gd name="T10" fmla="*/ 12 w 575"/>
                <a:gd name="T11" fmla="*/ 6 h 440"/>
                <a:gd name="T12" fmla="*/ 8 w 575"/>
                <a:gd name="T13" fmla="*/ 11 h 440"/>
                <a:gd name="T14" fmla="*/ 3 w 575"/>
                <a:gd name="T15" fmla="*/ 8 h 440"/>
                <a:gd name="T16" fmla="*/ 0 w 575"/>
                <a:gd name="T17" fmla="*/ 13 h 440"/>
                <a:gd name="T18" fmla="*/ 0 w 575"/>
                <a:gd name="T19" fmla="*/ 13 h 4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5" h="440">
                  <a:moveTo>
                    <a:pt x="0" y="345"/>
                  </a:moveTo>
                  <a:lnTo>
                    <a:pt x="128" y="363"/>
                  </a:lnTo>
                  <a:lnTo>
                    <a:pt x="263" y="440"/>
                  </a:lnTo>
                  <a:lnTo>
                    <a:pt x="365" y="221"/>
                  </a:lnTo>
                  <a:lnTo>
                    <a:pt x="575" y="0"/>
                  </a:lnTo>
                  <a:lnTo>
                    <a:pt x="311" y="152"/>
                  </a:lnTo>
                  <a:lnTo>
                    <a:pt x="203" y="305"/>
                  </a:lnTo>
                  <a:lnTo>
                    <a:pt x="94" y="203"/>
                  </a:lnTo>
                  <a:lnTo>
                    <a:pt x="0" y="34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" name="Freeform 21"/>
            <p:cNvSpPr>
              <a:spLocks noChangeAspect="1"/>
            </p:cNvSpPr>
            <p:nvPr/>
          </p:nvSpPr>
          <p:spPr bwMode="auto">
            <a:xfrm>
              <a:off x="5059" y="343"/>
              <a:ext cx="329" cy="221"/>
            </a:xfrm>
            <a:custGeom>
              <a:avLst/>
              <a:gdLst>
                <a:gd name="T0" fmla="*/ 1 w 988"/>
                <a:gd name="T1" fmla="*/ 19 h 661"/>
                <a:gd name="T2" fmla="*/ 0 w 988"/>
                <a:gd name="T3" fmla="*/ 25 h 661"/>
                <a:gd name="T4" fmla="*/ 37 w 988"/>
                <a:gd name="T5" fmla="*/ 19 h 661"/>
                <a:gd name="T6" fmla="*/ 34 w 988"/>
                <a:gd name="T7" fmla="*/ 11 h 661"/>
                <a:gd name="T8" fmla="*/ 24 w 988"/>
                <a:gd name="T9" fmla="*/ 11 h 661"/>
                <a:gd name="T10" fmla="*/ 22 w 988"/>
                <a:gd name="T11" fmla="*/ 4 h 661"/>
                <a:gd name="T12" fmla="*/ 16 w 988"/>
                <a:gd name="T13" fmla="*/ 0 h 661"/>
                <a:gd name="T14" fmla="*/ 11 w 988"/>
                <a:gd name="T15" fmla="*/ 3 h 661"/>
                <a:gd name="T16" fmla="*/ 9 w 988"/>
                <a:gd name="T17" fmla="*/ 7 h 661"/>
                <a:gd name="T18" fmla="*/ 16 w 988"/>
                <a:gd name="T19" fmla="*/ 3 h 661"/>
                <a:gd name="T20" fmla="*/ 20 w 988"/>
                <a:gd name="T21" fmla="*/ 6 h 661"/>
                <a:gd name="T22" fmla="*/ 20 w 988"/>
                <a:gd name="T23" fmla="*/ 13 h 661"/>
                <a:gd name="T24" fmla="*/ 32 w 988"/>
                <a:gd name="T25" fmla="*/ 14 h 661"/>
                <a:gd name="T26" fmla="*/ 2 w 988"/>
                <a:gd name="T27" fmla="*/ 23 h 661"/>
                <a:gd name="T28" fmla="*/ 7 w 988"/>
                <a:gd name="T29" fmla="*/ 17 h 661"/>
                <a:gd name="T30" fmla="*/ 13 w 988"/>
                <a:gd name="T31" fmla="*/ 14 h 661"/>
                <a:gd name="T32" fmla="*/ 2 w 988"/>
                <a:gd name="T33" fmla="*/ 16 h 661"/>
                <a:gd name="T34" fmla="*/ 1 w 988"/>
                <a:gd name="T35" fmla="*/ 19 h 661"/>
                <a:gd name="T36" fmla="*/ 1 w 988"/>
                <a:gd name="T37" fmla="*/ 19 h 66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88" h="661">
                  <a:moveTo>
                    <a:pt x="19" y="497"/>
                  </a:moveTo>
                  <a:lnTo>
                    <a:pt x="0" y="661"/>
                  </a:lnTo>
                  <a:lnTo>
                    <a:pt x="988" y="503"/>
                  </a:lnTo>
                  <a:lnTo>
                    <a:pt x="906" y="299"/>
                  </a:lnTo>
                  <a:lnTo>
                    <a:pt x="642" y="305"/>
                  </a:lnTo>
                  <a:lnTo>
                    <a:pt x="608" y="101"/>
                  </a:lnTo>
                  <a:lnTo>
                    <a:pt x="439" y="0"/>
                  </a:lnTo>
                  <a:lnTo>
                    <a:pt x="303" y="68"/>
                  </a:lnTo>
                  <a:lnTo>
                    <a:pt x="250" y="197"/>
                  </a:lnTo>
                  <a:lnTo>
                    <a:pt x="419" y="84"/>
                  </a:lnTo>
                  <a:lnTo>
                    <a:pt x="541" y="163"/>
                  </a:lnTo>
                  <a:lnTo>
                    <a:pt x="541" y="356"/>
                  </a:lnTo>
                  <a:lnTo>
                    <a:pt x="866" y="372"/>
                  </a:lnTo>
                  <a:lnTo>
                    <a:pt x="67" y="616"/>
                  </a:lnTo>
                  <a:lnTo>
                    <a:pt x="196" y="446"/>
                  </a:lnTo>
                  <a:lnTo>
                    <a:pt x="358" y="372"/>
                  </a:lnTo>
                  <a:lnTo>
                    <a:pt x="46" y="424"/>
                  </a:lnTo>
                  <a:lnTo>
                    <a:pt x="19" y="4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>
              <a:spLocks noChangeAspect="1"/>
            </p:cNvSpPr>
            <p:nvPr/>
          </p:nvSpPr>
          <p:spPr bwMode="auto">
            <a:xfrm>
              <a:off x="5172" y="402"/>
              <a:ext cx="36" cy="49"/>
            </a:xfrm>
            <a:custGeom>
              <a:avLst/>
              <a:gdLst>
                <a:gd name="T0" fmla="*/ 4 w 108"/>
                <a:gd name="T1" fmla="*/ 0 h 147"/>
                <a:gd name="T2" fmla="*/ 0 w 108"/>
                <a:gd name="T3" fmla="*/ 2 h 147"/>
                <a:gd name="T4" fmla="*/ 0 w 108"/>
                <a:gd name="T5" fmla="*/ 5 h 147"/>
                <a:gd name="T6" fmla="*/ 4 w 108"/>
                <a:gd name="T7" fmla="*/ 5 h 147"/>
                <a:gd name="T8" fmla="*/ 4 w 108"/>
                <a:gd name="T9" fmla="*/ 0 h 147"/>
                <a:gd name="T10" fmla="*/ 4 w 108"/>
                <a:gd name="T11" fmla="*/ 0 h 1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147">
                  <a:moveTo>
                    <a:pt x="108" y="0"/>
                  </a:moveTo>
                  <a:lnTo>
                    <a:pt x="0" y="50"/>
                  </a:lnTo>
                  <a:lnTo>
                    <a:pt x="13" y="147"/>
                  </a:lnTo>
                  <a:lnTo>
                    <a:pt x="108" y="141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>
              <a:spLocks noChangeAspect="1"/>
            </p:cNvSpPr>
            <p:nvPr/>
          </p:nvSpPr>
          <p:spPr bwMode="auto">
            <a:xfrm>
              <a:off x="5328" y="601"/>
              <a:ext cx="519" cy="312"/>
            </a:xfrm>
            <a:custGeom>
              <a:avLst/>
              <a:gdLst>
                <a:gd name="T0" fmla="*/ 27 w 1557"/>
                <a:gd name="T1" fmla="*/ 12 h 934"/>
                <a:gd name="T2" fmla="*/ 4 w 1557"/>
                <a:gd name="T3" fmla="*/ 25 h 934"/>
                <a:gd name="T4" fmla="*/ 0 w 1557"/>
                <a:gd name="T5" fmla="*/ 35 h 934"/>
                <a:gd name="T6" fmla="*/ 11 w 1557"/>
                <a:gd name="T7" fmla="*/ 33 h 934"/>
                <a:gd name="T8" fmla="*/ 37 w 1557"/>
                <a:gd name="T9" fmla="*/ 22 h 934"/>
                <a:gd name="T10" fmla="*/ 41 w 1557"/>
                <a:gd name="T11" fmla="*/ 22 h 934"/>
                <a:gd name="T12" fmla="*/ 42 w 1557"/>
                <a:gd name="T13" fmla="*/ 20 h 934"/>
                <a:gd name="T14" fmla="*/ 45 w 1557"/>
                <a:gd name="T15" fmla="*/ 21 h 934"/>
                <a:gd name="T16" fmla="*/ 46 w 1557"/>
                <a:gd name="T17" fmla="*/ 18 h 934"/>
                <a:gd name="T18" fmla="*/ 48 w 1557"/>
                <a:gd name="T19" fmla="*/ 18 h 934"/>
                <a:gd name="T20" fmla="*/ 58 w 1557"/>
                <a:gd name="T21" fmla="*/ 15 h 934"/>
                <a:gd name="T22" fmla="*/ 58 w 1557"/>
                <a:gd name="T23" fmla="*/ 8 h 934"/>
                <a:gd name="T24" fmla="*/ 52 w 1557"/>
                <a:gd name="T25" fmla="*/ 1 h 934"/>
                <a:gd name="T26" fmla="*/ 42 w 1557"/>
                <a:gd name="T27" fmla="*/ 0 h 934"/>
                <a:gd name="T28" fmla="*/ 34 w 1557"/>
                <a:gd name="T29" fmla="*/ 8 h 934"/>
                <a:gd name="T30" fmla="*/ 42 w 1557"/>
                <a:gd name="T31" fmla="*/ 4 h 934"/>
                <a:gd name="T32" fmla="*/ 45 w 1557"/>
                <a:gd name="T33" fmla="*/ 8 h 934"/>
                <a:gd name="T34" fmla="*/ 47 w 1557"/>
                <a:gd name="T35" fmla="*/ 3 h 934"/>
                <a:gd name="T36" fmla="*/ 53 w 1557"/>
                <a:gd name="T37" fmla="*/ 5 h 934"/>
                <a:gd name="T38" fmla="*/ 54 w 1557"/>
                <a:gd name="T39" fmla="*/ 10 h 934"/>
                <a:gd name="T40" fmla="*/ 50 w 1557"/>
                <a:gd name="T41" fmla="*/ 15 h 934"/>
                <a:gd name="T42" fmla="*/ 44 w 1557"/>
                <a:gd name="T43" fmla="*/ 15 h 934"/>
                <a:gd name="T44" fmla="*/ 39 w 1557"/>
                <a:gd name="T45" fmla="*/ 9 h 934"/>
                <a:gd name="T46" fmla="*/ 41 w 1557"/>
                <a:gd name="T47" fmla="*/ 17 h 934"/>
                <a:gd name="T48" fmla="*/ 36 w 1557"/>
                <a:gd name="T49" fmla="*/ 15 h 934"/>
                <a:gd name="T50" fmla="*/ 36 w 1557"/>
                <a:gd name="T51" fmla="*/ 18 h 934"/>
                <a:gd name="T52" fmla="*/ 30 w 1557"/>
                <a:gd name="T53" fmla="*/ 17 h 934"/>
                <a:gd name="T54" fmla="*/ 32 w 1557"/>
                <a:gd name="T55" fmla="*/ 20 h 934"/>
                <a:gd name="T56" fmla="*/ 8 w 1557"/>
                <a:gd name="T57" fmla="*/ 31 h 934"/>
                <a:gd name="T58" fmla="*/ 4 w 1557"/>
                <a:gd name="T59" fmla="*/ 32 h 934"/>
                <a:gd name="T60" fmla="*/ 6 w 1557"/>
                <a:gd name="T61" fmla="*/ 27 h 934"/>
                <a:gd name="T62" fmla="*/ 27 w 1557"/>
                <a:gd name="T63" fmla="*/ 12 h 934"/>
                <a:gd name="T64" fmla="*/ 27 w 1557"/>
                <a:gd name="T65" fmla="*/ 12 h 93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57" h="934">
                  <a:moveTo>
                    <a:pt x="730" y="324"/>
                  </a:moveTo>
                  <a:lnTo>
                    <a:pt x="121" y="680"/>
                  </a:lnTo>
                  <a:lnTo>
                    <a:pt x="0" y="934"/>
                  </a:lnTo>
                  <a:lnTo>
                    <a:pt x="303" y="883"/>
                  </a:lnTo>
                  <a:lnTo>
                    <a:pt x="1002" y="600"/>
                  </a:lnTo>
                  <a:lnTo>
                    <a:pt x="1102" y="595"/>
                  </a:lnTo>
                  <a:lnTo>
                    <a:pt x="1123" y="527"/>
                  </a:lnTo>
                  <a:lnTo>
                    <a:pt x="1225" y="555"/>
                  </a:lnTo>
                  <a:lnTo>
                    <a:pt x="1252" y="481"/>
                  </a:lnTo>
                  <a:lnTo>
                    <a:pt x="1307" y="481"/>
                  </a:lnTo>
                  <a:lnTo>
                    <a:pt x="1557" y="391"/>
                  </a:lnTo>
                  <a:lnTo>
                    <a:pt x="1557" y="227"/>
                  </a:lnTo>
                  <a:lnTo>
                    <a:pt x="1402" y="24"/>
                  </a:lnTo>
                  <a:lnTo>
                    <a:pt x="1144" y="0"/>
                  </a:lnTo>
                  <a:lnTo>
                    <a:pt x="913" y="210"/>
                  </a:lnTo>
                  <a:lnTo>
                    <a:pt x="1144" y="109"/>
                  </a:lnTo>
                  <a:lnTo>
                    <a:pt x="1211" y="216"/>
                  </a:lnTo>
                  <a:lnTo>
                    <a:pt x="1279" y="85"/>
                  </a:lnTo>
                  <a:lnTo>
                    <a:pt x="1421" y="131"/>
                  </a:lnTo>
                  <a:lnTo>
                    <a:pt x="1462" y="278"/>
                  </a:lnTo>
                  <a:lnTo>
                    <a:pt x="1347" y="397"/>
                  </a:lnTo>
                  <a:lnTo>
                    <a:pt x="1197" y="397"/>
                  </a:lnTo>
                  <a:lnTo>
                    <a:pt x="1042" y="255"/>
                  </a:lnTo>
                  <a:lnTo>
                    <a:pt x="1102" y="447"/>
                  </a:lnTo>
                  <a:lnTo>
                    <a:pt x="981" y="408"/>
                  </a:lnTo>
                  <a:lnTo>
                    <a:pt x="981" y="481"/>
                  </a:lnTo>
                  <a:lnTo>
                    <a:pt x="818" y="453"/>
                  </a:lnTo>
                  <a:lnTo>
                    <a:pt x="873" y="550"/>
                  </a:lnTo>
                  <a:lnTo>
                    <a:pt x="229" y="839"/>
                  </a:lnTo>
                  <a:lnTo>
                    <a:pt x="121" y="861"/>
                  </a:lnTo>
                  <a:lnTo>
                    <a:pt x="175" y="720"/>
                  </a:lnTo>
                  <a:lnTo>
                    <a:pt x="730" y="3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Freeform 24"/>
            <p:cNvSpPr>
              <a:spLocks noChangeAspect="1"/>
            </p:cNvSpPr>
            <p:nvPr/>
          </p:nvSpPr>
          <p:spPr bwMode="auto">
            <a:xfrm>
              <a:off x="5382" y="737"/>
              <a:ext cx="225" cy="142"/>
            </a:xfrm>
            <a:custGeom>
              <a:avLst/>
              <a:gdLst>
                <a:gd name="T0" fmla="*/ 25 w 677"/>
                <a:gd name="T1" fmla="*/ 4 h 425"/>
                <a:gd name="T2" fmla="*/ 3 w 677"/>
                <a:gd name="T3" fmla="*/ 16 h 425"/>
                <a:gd name="T4" fmla="*/ 1 w 677"/>
                <a:gd name="T5" fmla="*/ 14 h 425"/>
                <a:gd name="T6" fmla="*/ 0 w 677"/>
                <a:gd name="T7" fmla="*/ 11 h 425"/>
                <a:gd name="T8" fmla="*/ 21 w 677"/>
                <a:gd name="T9" fmla="*/ 0 h 425"/>
                <a:gd name="T10" fmla="*/ 3 w 677"/>
                <a:gd name="T11" fmla="*/ 13 h 425"/>
                <a:gd name="T12" fmla="*/ 25 w 677"/>
                <a:gd name="T13" fmla="*/ 4 h 425"/>
                <a:gd name="T14" fmla="*/ 25 w 677"/>
                <a:gd name="T15" fmla="*/ 4 h 4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77" h="425">
                  <a:moveTo>
                    <a:pt x="677" y="103"/>
                  </a:moveTo>
                  <a:lnTo>
                    <a:pt x="81" y="425"/>
                  </a:lnTo>
                  <a:lnTo>
                    <a:pt x="27" y="373"/>
                  </a:lnTo>
                  <a:lnTo>
                    <a:pt x="0" y="300"/>
                  </a:lnTo>
                  <a:lnTo>
                    <a:pt x="561" y="0"/>
                  </a:lnTo>
                  <a:lnTo>
                    <a:pt x="74" y="351"/>
                  </a:lnTo>
                  <a:lnTo>
                    <a:pt x="677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>
              <a:spLocks noChangeAspect="1"/>
            </p:cNvSpPr>
            <p:nvPr/>
          </p:nvSpPr>
          <p:spPr bwMode="auto">
            <a:xfrm>
              <a:off x="5357" y="420"/>
              <a:ext cx="156" cy="340"/>
            </a:xfrm>
            <a:custGeom>
              <a:avLst/>
              <a:gdLst>
                <a:gd name="T0" fmla="*/ 0 w 467"/>
                <a:gd name="T1" fmla="*/ 1 h 1020"/>
                <a:gd name="T2" fmla="*/ 13 w 467"/>
                <a:gd name="T3" fmla="*/ 0 h 1020"/>
                <a:gd name="T4" fmla="*/ 17 w 467"/>
                <a:gd name="T5" fmla="*/ 3 h 1020"/>
                <a:gd name="T6" fmla="*/ 17 w 467"/>
                <a:gd name="T7" fmla="*/ 36 h 1020"/>
                <a:gd name="T8" fmla="*/ 14 w 467"/>
                <a:gd name="T9" fmla="*/ 38 h 1020"/>
                <a:gd name="T10" fmla="*/ 11 w 467"/>
                <a:gd name="T11" fmla="*/ 2 h 1020"/>
                <a:gd name="T12" fmla="*/ 0 w 467"/>
                <a:gd name="T13" fmla="*/ 1 h 1020"/>
                <a:gd name="T14" fmla="*/ 0 w 467"/>
                <a:gd name="T15" fmla="*/ 1 h 10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7" h="1020">
                  <a:moveTo>
                    <a:pt x="0" y="29"/>
                  </a:moveTo>
                  <a:lnTo>
                    <a:pt x="351" y="0"/>
                  </a:lnTo>
                  <a:lnTo>
                    <a:pt x="453" y="91"/>
                  </a:lnTo>
                  <a:lnTo>
                    <a:pt x="467" y="985"/>
                  </a:lnTo>
                  <a:lnTo>
                    <a:pt x="385" y="1020"/>
                  </a:lnTo>
                  <a:lnTo>
                    <a:pt x="303" y="57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>
              <a:spLocks noChangeAspect="1"/>
            </p:cNvSpPr>
            <p:nvPr/>
          </p:nvSpPr>
          <p:spPr bwMode="auto">
            <a:xfrm>
              <a:off x="4887" y="460"/>
              <a:ext cx="630" cy="694"/>
            </a:xfrm>
            <a:custGeom>
              <a:avLst/>
              <a:gdLst>
                <a:gd name="T0" fmla="*/ 70 w 1889"/>
                <a:gd name="T1" fmla="*/ 43 h 2083"/>
                <a:gd name="T2" fmla="*/ 70 w 1889"/>
                <a:gd name="T3" fmla="*/ 61 h 2083"/>
                <a:gd name="T4" fmla="*/ 68 w 1889"/>
                <a:gd name="T5" fmla="*/ 65 h 2083"/>
                <a:gd name="T6" fmla="*/ 23 w 1889"/>
                <a:gd name="T7" fmla="*/ 77 h 2083"/>
                <a:gd name="T8" fmla="*/ 13 w 1889"/>
                <a:gd name="T9" fmla="*/ 74 h 2083"/>
                <a:gd name="T10" fmla="*/ 0 w 1889"/>
                <a:gd name="T11" fmla="*/ 8 h 2083"/>
                <a:gd name="T12" fmla="*/ 4 w 1889"/>
                <a:gd name="T13" fmla="*/ 2 h 2083"/>
                <a:gd name="T14" fmla="*/ 23 w 1889"/>
                <a:gd name="T15" fmla="*/ 0 h 2083"/>
                <a:gd name="T16" fmla="*/ 7 w 1889"/>
                <a:gd name="T17" fmla="*/ 6 h 2083"/>
                <a:gd name="T18" fmla="*/ 15 w 1889"/>
                <a:gd name="T19" fmla="*/ 73 h 2083"/>
                <a:gd name="T20" fmla="*/ 26 w 1889"/>
                <a:gd name="T21" fmla="*/ 75 h 2083"/>
                <a:gd name="T22" fmla="*/ 69 w 1889"/>
                <a:gd name="T23" fmla="*/ 60 h 2083"/>
                <a:gd name="T24" fmla="*/ 68 w 1889"/>
                <a:gd name="T25" fmla="*/ 45 h 2083"/>
                <a:gd name="T26" fmla="*/ 70 w 1889"/>
                <a:gd name="T27" fmla="*/ 43 h 2083"/>
                <a:gd name="T28" fmla="*/ 70 w 1889"/>
                <a:gd name="T29" fmla="*/ 43 h 208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89" h="2083">
                  <a:moveTo>
                    <a:pt x="1882" y="1172"/>
                  </a:moveTo>
                  <a:lnTo>
                    <a:pt x="1889" y="1647"/>
                  </a:lnTo>
                  <a:lnTo>
                    <a:pt x="1848" y="1766"/>
                  </a:lnTo>
                  <a:lnTo>
                    <a:pt x="615" y="2083"/>
                  </a:lnTo>
                  <a:lnTo>
                    <a:pt x="351" y="1993"/>
                  </a:lnTo>
                  <a:lnTo>
                    <a:pt x="0" y="227"/>
                  </a:lnTo>
                  <a:lnTo>
                    <a:pt x="108" y="56"/>
                  </a:lnTo>
                  <a:lnTo>
                    <a:pt x="622" y="0"/>
                  </a:lnTo>
                  <a:lnTo>
                    <a:pt x="189" y="153"/>
                  </a:lnTo>
                  <a:lnTo>
                    <a:pt x="406" y="1969"/>
                  </a:lnTo>
                  <a:lnTo>
                    <a:pt x="704" y="2021"/>
                  </a:lnTo>
                  <a:lnTo>
                    <a:pt x="1855" y="1631"/>
                  </a:lnTo>
                  <a:lnTo>
                    <a:pt x="1822" y="1223"/>
                  </a:lnTo>
                  <a:lnTo>
                    <a:pt x="1882" y="117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>
              <a:spLocks noChangeAspect="1"/>
            </p:cNvSpPr>
            <p:nvPr/>
          </p:nvSpPr>
          <p:spPr bwMode="auto">
            <a:xfrm>
              <a:off x="5007" y="539"/>
              <a:ext cx="458" cy="532"/>
            </a:xfrm>
            <a:custGeom>
              <a:avLst/>
              <a:gdLst>
                <a:gd name="T0" fmla="*/ 5 w 1375"/>
                <a:gd name="T1" fmla="*/ 0 h 1596"/>
                <a:gd name="T2" fmla="*/ 0 w 1375"/>
                <a:gd name="T3" fmla="*/ 1 h 1596"/>
                <a:gd name="T4" fmla="*/ 7 w 1375"/>
                <a:gd name="T5" fmla="*/ 59 h 1596"/>
                <a:gd name="T6" fmla="*/ 51 w 1375"/>
                <a:gd name="T7" fmla="*/ 47 h 1596"/>
                <a:gd name="T8" fmla="*/ 50 w 1375"/>
                <a:gd name="T9" fmla="*/ 37 h 1596"/>
                <a:gd name="T10" fmla="*/ 48 w 1375"/>
                <a:gd name="T11" fmla="*/ 39 h 1596"/>
                <a:gd name="T12" fmla="*/ 49 w 1375"/>
                <a:gd name="T13" fmla="*/ 45 h 1596"/>
                <a:gd name="T14" fmla="*/ 9 w 1375"/>
                <a:gd name="T15" fmla="*/ 55 h 1596"/>
                <a:gd name="T16" fmla="*/ 2 w 1375"/>
                <a:gd name="T17" fmla="*/ 3 h 1596"/>
                <a:gd name="T18" fmla="*/ 5 w 1375"/>
                <a:gd name="T19" fmla="*/ 0 h 1596"/>
                <a:gd name="T20" fmla="*/ 5 w 1375"/>
                <a:gd name="T21" fmla="*/ 0 h 15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75" h="1596">
                  <a:moveTo>
                    <a:pt x="122" y="0"/>
                  </a:moveTo>
                  <a:lnTo>
                    <a:pt x="0" y="23"/>
                  </a:lnTo>
                  <a:lnTo>
                    <a:pt x="190" y="1596"/>
                  </a:lnTo>
                  <a:lnTo>
                    <a:pt x="1375" y="1279"/>
                  </a:lnTo>
                  <a:lnTo>
                    <a:pt x="1347" y="1001"/>
                  </a:lnTo>
                  <a:lnTo>
                    <a:pt x="1301" y="1041"/>
                  </a:lnTo>
                  <a:lnTo>
                    <a:pt x="1314" y="1216"/>
                  </a:lnTo>
                  <a:lnTo>
                    <a:pt x="250" y="1483"/>
                  </a:lnTo>
                  <a:lnTo>
                    <a:pt x="41" y="68"/>
                  </a:lnTo>
                  <a:lnTo>
                    <a:pt x="1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>
              <a:spLocks noChangeAspect="1"/>
            </p:cNvSpPr>
            <p:nvPr/>
          </p:nvSpPr>
          <p:spPr bwMode="auto">
            <a:xfrm>
              <a:off x="5379" y="487"/>
              <a:ext cx="68" cy="305"/>
            </a:xfrm>
            <a:custGeom>
              <a:avLst/>
              <a:gdLst>
                <a:gd name="T0" fmla="*/ 0 w 203"/>
                <a:gd name="T1" fmla="*/ 1 h 916"/>
                <a:gd name="T2" fmla="*/ 4 w 203"/>
                <a:gd name="T3" fmla="*/ 0 h 916"/>
                <a:gd name="T4" fmla="*/ 8 w 203"/>
                <a:gd name="T5" fmla="*/ 33 h 916"/>
                <a:gd name="T6" fmla="*/ 6 w 203"/>
                <a:gd name="T7" fmla="*/ 34 h 916"/>
                <a:gd name="T8" fmla="*/ 3 w 203"/>
                <a:gd name="T9" fmla="*/ 3 h 916"/>
                <a:gd name="T10" fmla="*/ 0 w 203"/>
                <a:gd name="T11" fmla="*/ 1 h 916"/>
                <a:gd name="T12" fmla="*/ 0 w 203"/>
                <a:gd name="T13" fmla="*/ 1 h 9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3" h="916">
                  <a:moveTo>
                    <a:pt x="0" y="16"/>
                  </a:moveTo>
                  <a:lnTo>
                    <a:pt x="101" y="0"/>
                  </a:lnTo>
                  <a:lnTo>
                    <a:pt x="203" y="899"/>
                  </a:lnTo>
                  <a:lnTo>
                    <a:pt x="148" y="916"/>
                  </a:lnTo>
                  <a:lnTo>
                    <a:pt x="81" y="9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>
              <a:spLocks noChangeAspect="1"/>
            </p:cNvSpPr>
            <p:nvPr/>
          </p:nvSpPr>
          <p:spPr bwMode="auto">
            <a:xfrm>
              <a:off x="5533" y="543"/>
              <a:ext cx="174" cy="132"/>
            </a:xfrm>
            <a:custGeom>
              <a:avLst/>
              <a:gdLst>
                <a:gd name="T0" fmla="*/ 0 w 522"/>
                <a:gd name="T1" fmla="*/ 15 h 396"/>
                <a:gd name="T2" fmla="*/ 13 w 522"/>
                <a:gd name="T3" fmla="*/ 5 h 396"/>
                <a:gd name="T4" fmla="*/ 19 w 522"/>
                <a:gd name="T5" fmla="*/ 3 h 396"/>
                <a:gd name="T6" fmla="*/ 15 w 522"/>
                <a:gd name="T7" fmla="*/ 0 h 396"/>
                <a:gd name="T8" fmla="*/ 0 w 522"/>
                <a:gd name="T9" fmla="*/ 12 h 396"/>
                <a:gd name="T10" fmla="*/ 0 w 522"/>
                <a:gd name="T11" fmla="*/ 15 h 396"/>
                <a:gd name="T12" fmla="*/ 0 w 522"/>
                <a:gd name="T13" fmla="*/ 15 h 3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22" h="396">
                  <a:moveTo>
                    <a:pt x="0" y="396"/>
                  </a:moveTo>
                  <a:lnTo>
                    <a:pt x="353" y="125"/>
                  </a:lnTo>
                  <a:lnTo>
                    <a:pt x="522" y="68"/>
                  </a:lnTo>
                  <a:lnTo>
                    <a:pt x="401" y="0"/>
                  </a:lnTo>
                  <a:lnTo>
                    <a:pt x="7" y="322"/>
                  </a:lnTo>
                  <a:lnTo>
                    <a:pt x="0" y="39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>
              <a:spLocks noChangeAspect="1"/>
            </p:cNvSpPr>
            <p:nvPr/>
          </p:nvSpPr>
          <p:spPr bwMode="auto">
            <a:xfrm>
              <a:off x="5544" y="536"/>
              <a:ext cx="66" cy="64"/>
            </a:xfrm>
            <a:custGeom>
              <a:avLst/>
              <a:gdLst>
                <a:gd name="T0" fmla="*/ 0 w 197"/>
                <a:gd name="T1" fmla="*/ 7 h 192"/>
                <a:gd name="T2" fmla="*/ 7 w 197"/>
                <a:gd name="T3" fmla="*/ 0 h 192"/>
                <a:gd name="T4" fmla="*/ 5 w 197"/>
                <a:gd name="T5" fmla="*/ 0 h 192"/>
                <a:gd name="T6" fmla="*/ 0 w 197"/>
                <a:gd name="T7" fmla="*/ 7 h 192"/>
                <a:gd name="T8" fmla="*/ 0 w 197"/>
                <a:gd name="T9" fmla="*/ 7 h 1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7" h="192">
                  <a:moveTo>
                    <a:pt x="0" y="192"/>
                  </a:moveTo>
                  <a:lnTo>
                    <a:pt x="197" y="11"/>
                  </a:lnTo>
                  <a:lnTo>
                    <a:pt x="13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>
              <a:spLocks noChangeAspect="1"/>
            </p:cNvSpPr>
            <p:nvPr/>
          </p:nvSpPr>
          <p:spPr bwMode="auto">
            <a:xfrm>
              <a:off x="5598" y="805"/>
              <a:ext cx="226" cy="77"/>
            </a:xfrm>
            <a:custGeom>
              <a:avLst/>
              <a:gdLst>
                <a:gd name="T0" fmla="*/ 0 w 679"/>
                <a:gd name="T1" fmla="*/ 8 h 231"/>
                <a:gd name="T2" fmla="*/ 25 w 679"/>
                <a:gd name="T3" fmla="*/ 0 h 231"/>
                <a:gd name="T4" fmla="*/ 20 w 679"/>
                <a:gd name="T5" fmla="*/ 3 h 231"/>
                <a:gd name="T6" fmla="*/ 2 w 679"/>
                <a:gd name="T7" fmla="*/ 9 h 231"/>
                <a:gd name="T8" fmla="*/ 0 w 679"/>
                <a:gd name="T9" fmla="*/ 8 h 231"/>
                <a:gd name="T10" fmla="*/ 0 w 679"/>
                <a:gd name="T11" fmla="*/ 8 h 2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79" h="231">
                  <a:moveTo>
                    <a:pt x="0" y="227"/>
                  </a:moveTo>
                  <a:lnTo>
                    <a:pt x="679" y="0"/>
                  </a:lnTo>
                  <a:lnTo>
                    <a:pt x="550" y="84"/>
                  </a:lnTo>
                  <a:lnTo>
                    <a:pt x="55" y="231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" name="Espace réservé du numéro de diapositive 3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9160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30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119336" y="1220559"/>
            <a:ext cx="12054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SDCPS : </a:t>
            </a:r>
            <a:r>
              <a:rPr lang="en-US" sz="3600" b="1" dirty="0">
                <a:solidFill>
                  <a:srgbClr val="0070C0"/>
                </a:solidFill>
                <a:latin typeface="ArialMT"/>
              </a:rPr>
              <a:t>Safety Data Collection and Processing Systems </a:t>
            </a:r>
            <a:endParaRPr lang="fr-FR" sz="3600" b="1" dirty="0">
              <a:solidFill>
                <a:srgbClr val="0070C0"/>
              </a:solidFill>
              <a:latin typeface="ArialMT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464152" y="3429000"/>
            <a:ext cx="3708412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Norme 5.1, annexe19, 2</a:t>
            </a:r>
            <a:r>
              <a:rPr lang="fr-FR" baseline="30000" dirty="0"/>
              <a:t>ème</a:t>
            </a:r>
            <a:r>
              <a:rPr lang="fr-FR" dirty="0"/>
              <a:t> édition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1844824"/>
            <a:ext cx="8748972" cy="155184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-18002" y="3861048"/>
            <a:ext cx="9888270" cy="2677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800" dirty="0">
                <a:latin typeface="ArialMT"/>
              </a:rPr>
              <a:t>Le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SDCPS</a:t>
            </a:r>
            <a:r>
              <a:rPr lang="fr-FR" sz="2800" dirty="0">
                <a:latin typeface="ArialMT"/>
              </a:rPr>
              <a:t> inclut :</a:t>
            </a:r>
          </a:p>
          <a:p>
            <a:pPr marL="342900" indent="-342900">
              <a:buFontTx/>
              <a:buChar char="-"/>
            </a:pPr>
            <a:r>
              <a:rPr lang="fr-FR" sz="2800" dirty="0">
                <a:latin typeface="ArialMT"/>
              </a:rPr>
              <a:t>les systèmes de traitement et de compte rendu d’événement de sécurité,</a:t>
            </a:r>
          </a:p>
          <a:p>
            <a:pPr marL="342900" indent="-342900">
              <a:buFontTx/>
              <a:buChar char="-"/>
            </a:pPr>
            <a:r>
              <a:rPr lang="fr-FR" sz="2800" dirty="0">
                <a:latin typeface="ArialMT"/>
              </a:rPr>
              <a:t>les bases de données de sécurité (Classement, Stockage, sécurisation, accessibilité)</a:t>
            </a:r>
          </a:p>
          <a:p>
            <a:pPr marL="342900" indent="-342900">
              <a:buFontTx/>
              <a:buChar char="-"/>
            </a:pPr>
            <a:r>
              <a:rPr lang="fr-FR" sz="2800" dirty="0">
                <a:latin typeface="ArialMT"/>
              </a:rPr>
              <a:t>les mécanismes d’échange d’informations sur la sécurité</a:t>
            </a:r>
          </a:p>
        </p:txBody>
      </p:sp>
    </p:spTree>
    <p:extLst>
      <p:ext uri="{BB962C8B-B14F-4D97-AF65-F5344CB8AC3E}">
        <p14:creationId xmlns:p14="http://schemas.microsoft.com/office/powerpoint/2010/main" val="1254108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allAtOnce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31</a:t>
            </a:fld>
            <a:endParaRPr lang="fr-BE"/>
          </a:p>
        </p:txBody>
      </p:sp>
      <p:sp>
        <p:nvSpPr>
          <p:cNvPr id="7" name="Rectangle 6"/>
          <p:cNvSpPr/>
          <p:nvPr/>
        </p:nvSpPr>
        <p:spPr>
          <a:xfrm>
            <a:off x="-18002" y="2403593"/>
            <a:ext cx="12192000" cy="347367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les données et l’information issues d’enquêtes sur des accidents ou des incidents 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3200" dirty="0">
              <a:latin typeface="Arial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les données et les informations liées à des enquêtes en matière de sécurité effectuées par les autorités nationales ou par les prestataires de services aéronautiques ;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E1FA4CB-1A67-192D-5EF8-203C3675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EB2E767-A7B3-E360-D574-DCDF7D8085C9}"/>
              </a:ext>
            </a:extLst>
          </p:cNvPr>
          <p:cNvSpPr txBox="1"/>
          <p:nvPr/>
        </p:nvSpPr>
        <p:spPr>
          <a:xfrm>
            <a:off x="119336" y="1220559"/>
            <a:ext cx="12054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SDCPS : </a:t>
            </a:r>
            <a:r>
              <a:rPr lang="en-US" sz="3600" b="1" dirty="0">
                <a:solidFill>
                  <a:srgbClr val="0070C0"/>
                </a:solidFill>
                <a:latin typeface="ArialMT"/>
              </a:rPr>
              <a:t>Safety Data Collection and Processing Systems – </a:t>
            </a:r>
            <a:r>
              <a:rPr lang="fr-FR" sz="2800" b="1" noProof="0" dirty="0">
                <a:latin typeface="ArialMT"/>
              </a:rPr>
              <a:t>Il contient notamment </a:t>
            </a:r>
            <a:endParaRPr lang="fr-FR" sz="2800" b="1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02580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1D850-B89C-5C5E-B068-D5C99796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E04986E-D583-D9D7-3EDF-77A00227EBF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32</a:t>
            </a:fld>
            <a:endParaRPr lang="fr-B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F296B2-E4E9-1F98-A98A-8142802CFE39}"/>
              </a:ext>
            </a:extLst>
          </p:cNvPr>
          <p:cNvSpPr/>
          <p:nvPr/>
        </p:nvSpPr>
        <p:spPr>
          <a:xfrm>
            <a:off x="-18002" y="2403593"/>
            <a:ext cx="12192000" cy="41353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les systèmes de compte rendu obligatoire en matière de sécurité;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3200" dirty="0">
              <a:latin typeface="Arial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les systèmes de compte rendu volontaire en matière de sécurité;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fr-FR" sz="3200" dirty="0">
              <a:latin typeface="ArialMT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3200" dirty="0">
                <a:latin typeface="ArialMT"/>
              </a:rPr>
              <a:t>les systèmes de compte rendu par </a:t>
            </a:r>
            <a:r>
              <a:rPr lang="fr-FR" sz="3200" dirty="0" err="1">
                <a:latin typeface="ArialMT"/>
              </a:rPr>
              <a:t>autodivulgation</a:t>
            </a:r>
            <a:r>
              <a:rPr lang="fr-FR" sz="3200" dirty="0">
                <a:latin typeface="ArialMT"/>
              </a:rPr>
              <a:t>, y compris les systèmes de saisie automatique des données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43F24FA8-457C-F207-EF16-88B18F9C5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6C8BA33-0F1F-514B-D163-15BA87FEC7D1}"/>
              </a:ext>
            </a:extLst>
          </p:cNvPr>
          <p:cNvSpPr txBox="1"/>
          <p:nvPr/>
        </p:nvSpPr>
        <p:spPr>
          <a:xfrm>
            <a:off x="119336" y="1220559"/>
            <a:ext cx="120546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SDCPS : </a:t>
            </a:r>
            <a:r>
              <a:rPr lang="en-US" sz="3600" b="1" dirty="0">
                <a:solidFill>
                  <a:srgbClr val="0070C0"/>
                </a:solidFill>
                <a:latin typeface="ArialMT"/>
              </a:rPr>
              <a:t>Safety Data Collection and Processing Systems – </a:t>
            </a:r>
            <a:r>
              <a:rPr lang="fr-FR" sz="2800" b="1" noProof="0" dirty="0">
                <a:latin typeface="ArialMT"/>
              </a:rPr>
              <a:t>Il contient notamment </a:t>
            </a:r>
            <a:endParaRPr lang="fr-FR" sz="2800" b="1" dirty="0"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2395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33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0" y="1303538"/>
            <a:ext cx="9624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Système de compte rendu obligatoire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916832"/>
            <a:ext cx="12173998" cy="156966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FR" sz="3200" b="1" dirty="0">
                <a:latin typeface="ArialMT"/>
              </a:rPr>
              <a:t>5.1.2</a:t>
            </a:r>
            <a:r>
              <a:rPr lang="fr-FR" sz="3200" dirty="0">
                <a:latin typeface="ArialMT"/>
              </a:rPr>
              <a:t>  Les États mettront en place un système de compte rendu obligatoire en matière de sécurité qui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inclut</a:t>
            </a:r>
            <a:r>
              <a:rPr lang="fr-FR" sz="3200" dirty="0">
                <a:latin typeface="ArialMT"/>
              </a:rPr>
              <a:t> le compte rendu des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incidents.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0" y="3573016"/>
            <a:ext cx="1217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Système de compte rendu volontaire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-14536" y="4221088"/>
            <a:ext cx="12166780" cy="206210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3200" b="1" dirty="0">
                <a:latin typeface="ArialMT"/>
              </a:rPr>
              <a:t>5.1.3</a:t>
            </a:r>
            <a:r>
              <a:rPr lang="fr-FR" sz="3200" dirty="0">
                <a:latin typeface="ArialMT"/>
              </a:rPr>
              <a:t> Les États mettront en place un système de compte rendu volontaire en matière de sécurité pour collecter les données de sécurité et les informations de sécurité </a:t>
            </a:r>
            <a:r>
              <a:rPr lang="fr-FR" sz="3200" dirty="0">
                <a:solidFill>
                  <a:srgbClr val="FF0000"/>
                </a:solidFill>
                <a:latin typeface="ArialMT"/>
              </a:rPr>
              <a:t>qui ne sont pas recueillies par les systèmes</a:t>
            </a:r>
            <a:r>
              <a:rPr lang="fr-FR" sz="3200" dirty="0">
                <a:latin typeface="ArialMT"/>
              </a:rPr>
              <a:t> de compte rendu obligatoire…..</a:t>
            </a:r>
            <a:endParaRPr lang="fr-FR" sz="32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5B90027A-1649-CE92-C257-D87C9C64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99023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34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0" y="1294202"/>
            <a:ext cx="121739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Analyse des données et information sur la sécurité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026017"/>
            <a:ext cx="12072664" cy="138499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5.2.1</a:t>
            </a:r>
            <a:r>
              <a:rPr lang="fr-FR" sz="2800" dirty="0">
                <a:latin typeface="ArialMT"/>
              </a:rPr>
              <a:t>  Les États mettront en place et tiendront à jour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un processus d’analyse</a:t>
            </a:r>
            <a:r>
              <a:rPr lang="fr-FR" sz="2800" dirty="0">
                <a:latin typeface="ArialMT"/>
              </a:rPr>
              <a:t> des données de sécurité et des informations de sécurité provenant des SDCPS et des bases de données de sécurité connexes.</a:t>
            </a:r>
            <a:endParaRPr lang="fr-FR" sz="28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3933056"/>
            <a:ext cx="12192000" cy="2246769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Note 2</a:t>
            </a:r>
            <a:r>
              <a:rPr lang="fr-FR" sz="2800" dirty="0">
                <a:latin typeface="ArialMT"/>
              </a:rPr>
              <a:t>.— Le but de l’analyse des données de sécurité et des informations de sécurité effectuée par l’État est de déterminer les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dangers systémiques ou </a:t>
            </a:r>
            <a:r>
              <a:rPr lang="fr-FR" sz="2800" dirty="0" err="1">
                <a:solidFill>
                  <a:srgbClr val="FF0000"/>
                </a:solidFill>
                <a:latin typeface="ArialMT"/>
              </a:rPr>
              <a:t>trans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-sectoriels </a:t>
            </a:r>
            <a:r>
              <a:rPr lang="fr-FR" sz="2800" dirty="0">
                <a:latin typeface="ArialMT"/>
              </a:rPr>
              <a:t>qui pourraient ne pas avoir été relevés par les processus d’analyse des données de sécurité utilisés par les prestataires de services et les exploitants.</a:t>
            </a:r>
            <a:endParaRPr lang="fr-FR" sz="28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DEB301D2-6E66-F0AA-F0A0-6373128A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384016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35</a:t>
            </a:fld>
            <a:endParaRPr lang="fr-BE" dirty="0"/>
          </a:p>
        </p:txBody>
      </p:sp>
      <p:sp>
        <p:nvSpPr>
          <p:cNvPr id="5" name="ZoneTexte 4"/>
          <p:cNvSpPr txBox="1"/>
          <p:nvPr/>
        </p:nvSpPr>
        <p:spPr>
          <a:xfrm>
            <a:off x="8434" y="1316483"/>
            <a:ext cx="12040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Protection des données de sécurité et des informations de sécurité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8434" y="2831896"/>
            <a:ext cx="12165563" cy="95410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5.3.1</a:t>
            </a:r>
            <a:r>
              <a:rPr lang="fr-FR" sz="2800" dirty="0">
                <a:latin typeface="ArialMT"/>
              </a:rPr>
              <a:t>  Les États assureront la protection des données de sécurité saisies dans les systèmes de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compte rendu volontaire en matière de sécurité</a:t>
            </a:r>
            <a:r>
              <a:rPr lang="fr-FR" sz="2800" dirty="0">
                <a:latin typeface="ArialMT"/>
              </a:rPr>
              <a:t>…..</a:t>
            </a:r>
            <a:endParaRPr lang="fr-FR" sz="28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34" y="4656272"/>
            <a:ext cx="12191999" cy="138499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5.3.2 Recommandation.— </a:t>
            </a:r>
            <a:r>
              <a:rPr lang="fr-FR" sz="2800" dirty="0">
                <a:latin typeface="ArialMT"/>
              </a:rPr>
              <a:t>Il est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recommandé</a:t>
            </a:r>
            <a:r>
              <a:rPr lang="fr-FR" sz="2800" dirty="0">
                <a:latin typeface="ArialMT"/>
              </a:rPr>
              <a:t> que les États étendent la protection visée au § 5.3.1 aux données de sécurité saisies dans les systèmes de </a:t>
            </a:r>
            <a:r>
              <a:rPr lang="fr-FR" sz="2800" dirty="0">
                <a:solidFill>
                  <a:srgbClr val="FF0000"/>
                </a:solidFill>
                <a:latin typeface="ArialMT"/>
              </a:rPr>
              <a:t>compte rendu obligatoire </a:t>
            </a:r>
            <a:r>
              <a:rPr lang="fr-FR" sz="2800" dirty="0">
                <a:latin typeface="ArialMT"/>
              </a:rPr>
              <a:t>en matière de sécurité…..</a:t>
            </a:r>
            <a:endParaRPr lang="fr-FR" sz="2800" dirty="0">
              <a:solidFill>
                <a:srgbClr val="FF0000"/>
              </a:solidFill>
              <a:latin typeface="ArialMT"/>
            </a:endParaRP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A3CB847-079C-584F-B0EE-5117DFE5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259220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36</a:t>
            </a:fld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A21A81-BEF7-26C5-7D09-D9737811FE4C}"/>
              </a:ext>
            </a:extLst>
          </p:cNvPr>
          <p:cNvSpPr txBox="1"/>
          <p:nvPr/>
        </p:nvSpPr>
        <p:spPr>
          <a:xfrm>
            <a:off x="0" y="2624577"/>
            <a:ext cx="12192000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i="0" u="none" strike="noStrike" baseline="0" dirty="0">
                <a:latin typeface="ArialMT"/>
              </a:rPr>
              <a:t>Environnement favorisant la confiance (c/f</a:t>
            </a:r>
            <a:r>
              <a:rPr lang="fr-FR" sz="2800" b="1" i="0" u="none" strike="noStrike" dirty="0">
                <a:latin typeface="ArialMT"/>
              </a:rPr>
              <a:t> an19) </a:t>
            </a:r>
            <a:r>
              <a:rPr lang="fr-FR" sz="2800" b="1" i="0" u="none" strike="noStrike" baseline="0" dirty="0">
                <a:latin typeface="ArialMT"/>
              </a:rPr>
              <a:t>:</a:t>
            </a:r>
          </a:p>
          <a:p>
            <a:pPr algn="just"/>
            <a:r>
              <a:rPr lang="fr-FR" sz="2800" b="0" i="0" u="none" strike="noStrike" baseline="0" dirty="0">
                <a:latin typeface="ArialMT"/>
              </a:rPr>
              <a:t>«Environnement dans lequel les employés et le personnel d’exploitation </a:t>
            </a:r>
            <a:r>
              <a:rPr lang="fr-FR" sz="2800" b="1" i="0" u="none" strike="noStrike" baseline="0" dirty="0">
                <a:latin typeface="ArialMT"/>
              </a:rPr>
              <a:t>peuvent avoir confiance </a:t>
            </a:r>
            <a:r>
              <a:rPr lang="fr-FR" sz="2800" b="0" i="0" u="none" strike="noStrike" baseline="0" dirty="0">
                <a:latin typeface="ArialMT"/>
              </a:rPr>
              <a:t>qu’ils ne </a:t>
            </a:r>
            <a:r>
              <a:rPr lang="fr-FR" sz="2800" b="1" i="0" u="none" strike="noStrike" baseline="0" dirty="0">
                <a:latin typeface="ArialMT"/>
              </a:rPr>
              <a:t>seront pas sanctionnés </a:t>
            </a:r>
            <a:r>
              <a:rPr lang="fr-FR" sz="2800" b="0" i="0" u="none" strike="noStrike" baseline="0" dirty="0">
                <a:latin typeface="ArialMT"/>
              </a:rPr>
              <a:t>pour des actions ou omissions qui correspondent à leur formation et leur expérience »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4EA4BB1-7A72-CBCB-5F4B-1A128303BCA9}"/>
              </a:ext>
            </a:extLst>
          </p:cNvPr>
          <p:cNvSpPr txBox="1"/>
          <p:nvPr/>
        </p:nvSpPr>
        <p:spPr>
          <a:xfrm>
            <a:off x="8434" y="1316483"/>
            <a:ext cx="12040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Protection des données de sécurité et des informations de sécurité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A2B8C38E-07F2-AB62-E0A6-188268877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17A1C1-1306-3413-52D1-C7A0121F468E}"/>
              </a:ext>
            </a:extLst>
          </p:cNvPr>
          <p:cNvSpPr txBox="1"/>
          <p:nvPr/>
        </p:nvSpPr>
        <p:spPr>
          <a:xfrm>
            <a:off x="2239120" y="5209987"/>
            <a:ext cx="7920880" cy="10772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3200" dirty="0">
                <a:latin typeface="ArialMT"/>
              </a:rPr>
              <a:t>Indispensable pour l’efficacité du mécanisme des comptes rendus</a:t>
            </a:r>
          </a:p>
        </p:txBody>
      </p:sp>
    </p:spTree>
    <p:extLst>
      <p:ext uri="{BB962C8B-B14F-4D97-AF65-F5344CB8AC3E}">
        <p14:creationId xmlns:p14="http://schemas.microsoft.com/office/powerpoint/2010/main" val="251298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37</a:t>
            </a:fld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A21A81-BEF7-26C5-7D09-D9737811FE4C}"/>
              </a:ext>
            </a:extLst>
          </p:cNvPr>
          <p:cNvSpPr txBox="1"/>
          <p:nvPr/>
        </p:nvSpPr>
        <p:spPr>
          <a:xfrm>
            <a:off x="8434" y="2516812"/>
            <a:ext cx="12192000" cy="35394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fr-FR" sz="2800" b="1" dirty="0">
                <a:latin typeface="ArialMT"/>
              </a:rPr>
              <a:t>Conditions de protection des données de sécurité.</a:t>
            </a:r>
          </a:p>
          <a:p>
            <a:pPr algn="l"/>
            <a:endParaRPr lang="fr-FR" sz="2800" b="1" dirty="0">
              <a:latin typeface="ArialMT"/>
            </a:endParaRPr>
          </a:p>
          <a:p>
            <a:pPr algn="l"/>
            <a:r>
              <a:rPr lang="fr-FR" sz="2800" dirty="0">
                <a:latin typeface="ArialMT"/>
              </a:rPr>
              <a:t>Etudier </a:t>
            </a:r>
            <a:endParaRPr lang="fr-FR" sz="2800" b="0" i="0" u="none" strike="noStrike" baseline="0" dirty="0">
              <a:latin typeface="ArialMT"/>
            </a:endParaRPr>
          </a:p>
          <a:p>
            <a:pPr marL="457200" indent="-457200" algn="l">
              <a:buAutoNum type="alphaLcParenR"/>
            </a:pPr>
            <a:r>
              <a:rPr lang="fr-FR" sz="2800" b="0" i="0" u="none" strike="noStrike" baseline="0" dirty="0">
                <a:latin typeface="ArialMT"/>
              </a:rPr>
              <a:t>si les données ou les informations de sécurité sont couvertes par l’an19 ;</a:t>
            </a:r>
          </a:p>
          <a:p>
            <a:pPr marL="457200" indent="-457200" algn="l">
              <a:buAutoNum type="alphaLcParenR"/>
            </a:pPr>
            <a:endParaRPr lang="fr-FR" sz="2800" b="0" i="0" u="none" strike="noStrike" baseline="0" dirty="0">
              <a:latin typeface="ArialMT"/>
            </a:endParaRPr>
          </a:p>
          <a:p>
            <a:pPr algn="l"/>
            <a:r>
              <a:rPr lang="fr-FR" sz="2800" b="0" i="0" u="none" strike="noStrike" baseline="0" dirty="0">
                <a:latin typeface="ArialMT"/>
              </a:rPr>
              <a:t>b) s’il existe des circonstances dans lesquelles l’an 6 ou l’an 13 primerait ;</a:t>
            </a:r>
          </a:p>
          <a:p>
            <a:pPr algn="l"/>
            <a:endParaRPr lang="fr-FR" sz="2800" b="0" i="0" u="none" strike="noStrike" baseline="0" dirty="0">
              <a:latin typeface="ArialMT"/>
            </a:endParaRPr>
          </a:p>
          <a:p>
            <a:pPr algn="l"/>
            <a:r>
              <a:rPr lang="fr-FR" sz="2800" b="0" i="0" u="none" strike="noStrike" baseline="0" dirty="0">
                <a:latin typeface="ArialMT"/>
              </a:rPr>
              <a:t>c) si un des principes régissant les dérogations s’applique.</a:t>
            </a:r>
            <a:endParaRPr lang="fr-FR" sz="28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281478-A897-80E7-9834-2BBA63E16B5E}"/>
              </a:ext>
            </a:extLst>
          </p:cNvPr>
          <p:cNvSpPr txBox="1"/>
          <p:nvPr/>
        </p:nvSpPr>
        <p:spPr>
          <a:xfrm>
            <a:off x="8434" y="1316483"/>
            <a:ext cx="120406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Protection des données de sécurité et des informations de sécurité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2D5FE180-8E3D-B171-51C3-8298981A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100784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38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-17952" y="1331237"/>
            <a:ext cx="12191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  <a:latin typeface="ArialMT"/>
              </a:rPr>
              <a:t>Les trois principes de la protection des données de sécurité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A21A81-BEF7-26C5-7D09-D9737811FE4C}"/>
              </a:ext>
            </a:extLst>
          </p:cNvPr>
          <p:cNvSpPr txBox="1"/>
          <p:nvPr/>
        </p:nvSpPr>
        <p:spPr>
          <a:xfrm>
            <a:off x="209346" y="2053419"/>
            <a:ext cx="11737304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fr-FR" sz="2800" dirty="0">
                <a:latin typeface="ArialMT"/>
              </a:rPr>
              <a:t>Les informations de sécurité ne sont pas utilisées :</a:t>
            </a:r>
          </a:p>
          <a:p>
            <a:pPr algn="l"/>
            <a:endParaRPr lang="fr-FR" sz="2800" dirty="0">
              <a:latin typeface="ArialM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fr-FR" sz="2800" dirty="0">
                <a:latin typeface="ArialMT"/>
              </a:rPr>
              <a:t>En vue d’une action disciplinaire, civile, administrative ou pénale contre des employés, du personnel d’exploitation ou des organisations ;</a:t>
            </a:r>
          </a:p>
          <a:p>
            <a:pPr marL="457200" indent="-457200" algn="l">
              <a:buFont typeface="+mj-lt"/>
              <a:buAutoNum type="arabicPeriod"/>
            </a:pPr>
            <a:endParaRPr lang="fr-FR" sz="2800" dirty="0">
              <a:latin typeface="ArialM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fr-FR" sz="2800" dirty="0">
                <a:latin typeface="ArialMT"/>
              </a:rPr>
              <a:t>En vue d’une divulgation au public ;</a:t>
            </a:r>
          </a:p>
          <a:p>
            <a:pPr marL="457200" indent="-457200" algn="l">
              <a:buFont typeface="+mj-lt"/>
              <a:buAutoNum type="arabicPeriod"/>
            </a:pPr>
            <a:endParaRPr lang="fr-FR" sz="2800" dirty="0">
              <a:latin typeface="ArialMT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fr-FR" sz="2800" dirty="0">
                <a:latin typeface="ArialMT"/>
              </a:rPr>
              <a:t>Dans un but autre que le maintien ou l’amélioration de la sécurité,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F3FF5A6-83E8-919D-E839-3D3B88B7A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7419547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39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-35768" y="1177886"/>
            <a:ext cx="12173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  <a:latin typeface="ArialMT"/>
              </a:rPr>
              <a:t>Les dérogations aux principes de protection des données sur la sécurité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A21A81-BEF7-26C5-7D09-D9737811FE4C}"/>
              </a:ext>
            </a:extLst>
          </p:cNvPr>
          <p:cNvSpPr txBox="1"/>
          <p:nvPr/>
        </p:nvSpPr>
        <p:spPr>
          <a:xfrm>
            <a:off x="227348" y="2224644"/>
            <a:ext cx="11737304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fr-FR" sz="2800" dirty="0">
                <a:latin typeface="ArialMT"/>
              </a:rPr>
              <a:t>Acte ou omission considérés, d’après les lois nationales, comme un cas de négligence grave, une faute volontaire ou un acte criminel ;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800" dirty="0">
              <a:latin typeface="ArialM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800" dirty="0">
                <a:latin typeface="ArialMT"/>
              </a:rPr>
              <a:t>Nécessité d’accéder aux données de sécurité par l’administration appropriée de la justice et que les avantages de cet accès l’emportent sur les incidences défavorables;</a:t>
            </a:r>
          </a:p>
          <a:p>
            <a:pPr marL="457200" indent="-457200" algn="just">
              <a:buFont typeface="+mj-lt"/>
              <a:buAutoNum type="arabicPeriod"/>
            </a:pPr>
            <a:endParaRPr lang="fr-FR" sz="2800" dirty="0">
              <a:latin typeface="ArialMT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fr-FR" sz="2800" dirty="0">
                <a:latin typeface="ArialMT"/>
              </a:rPr>
              <a:t>Nécessité d’accéder aux données de sécurité pour maintenir ou améliorer la sécurité et que les avantages de cet accès l’emportent sur les incidences défavorables.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9350DA12-D103-B182-7BDF-3C5A6CCC0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9988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40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0" y="1254458"/>
            <a:ext cx="98178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Les dérogations aux principes de protection des données sur la sécurité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10954AD-4808-6015-C268-94F0A6834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322152"/>
            <a:ext cx="10050278" cy="4010585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7926196-BE43-4432-2855-0086AEBE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4183823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-14623"/>
            <a:ext cx="12192000" cy="56330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1" algn="ctr"/>
            <a:r>
              <a:rPr lang="fr-FR" sz="28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41</a:t>
            </a:fld>
            <a:endParaRPr lang="fr-BE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BB65944-FC29-535C-DB9F-7EF7B71A1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988840"/>
            <a:ext cx="9888330" cy="470160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51E6E4D-53F0-E46D-7CC7-1F9F52A47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16" y="662101"/>
            <a:ext cx="10069330" cy="150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576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42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-18002" y="1252782"/>
            <a:ext cx="10578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70C0"/>
                </a:solidFill>
                <a:latin typeface="ArialMT"/>
              </a:rPr>
              <a:t>Partage et échange d’informations de sécurité</a:t>
            </a:r>
          </a:p>
        </p:txBody>
      </p:sp>
      <p:sp>
        <p:nvSpPr>
          <p:cNvPr id="9" name="Rectangle 8"/>
          <p:cNvSpPr/>
          <p:nvPr/>
        </p:nvSpPr>
        <p:spPr>
          <a:xfrm>
            <a:off x="-18002" y="2126526"/>
            <a:ext cx="12192000" cy="138499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5.4.1</a:t>
            </a:r>
            <a:r>
              <a:rPr lang="fr-FR" sz="2800" dirty="0">
                <a:latin typeface="ArialMT"/>
              </a:rPr>
              <a:t> Si, en analysant les informations que contient son SDCPS, un État trouve des éléments touchant la sécurité qui peuvent </a:t>
            </a:r>
            <a:r>
              <a:rPr lang="fr-FR" sz="2800" b="1" dirty="0">
                <a:latin typeface="ArialMT"/>
              </a:rPr>
              <a:t>intéresser d’autres États,</a:t>
            </a:r>
            <a:r>
              <a:rPr lang="fr-FR" sz="2800" dirty="0">
                <a:latin typeface="ArialMT"/>
              </a:rPr>
              <a:t> </a:t>
            </a:r>
            <a:r>
              <a:rPr lang="fr-FR" sz="2800" b="1" dirty="0">
                <a:latin typeface="ArialMT"/>
              </a:rPr>
              <a:t>il leur communiquera </a:t>
            </a:r>
            <a:r>
              <a:rPr lang="fr-FR" sz="2800" dirty="0">
                <a:latin typeface="ArialMT"/>
              </a:rPr>
              <a:t>ces éléments dès que possible. 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01C4AD4-A162-8839-5F8C-6C2610DE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811F90-2C54-CC7C-C8B0-E8A1EDE33FF3}"/>
              </a:ext>
            </a:extLst>
          </p:cNvPr>
          <p:cNvSpPr txBox="1"/>
          <p:nvPr/>
        </p:nvSpPr>
        <p:spPr>
          <a:xfrm>
            <a:off x="2351584" y="4053548"/>
            <a:ext cx="82089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3200" dirty="0">
                <a:latin typeface="ArialMT"/>
              </a:rPr>
              <a:t>Les États appliqueront le niveau de protection nécessaire aux informations de sécurité avant partage  (Appendice 3.)</a:t>
            </a:r>
            <a:endParaRPr lang="fr-FR" sz="3200" dirty="0">
              <a:solidFill>
                <a:srgbClr val="FF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427689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43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10716" y="1366920"/>
            <a:ext cx="11571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PROCESSUS DÉCISIONNEL FONDÉ SUR LES DONNÉES (PFD)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09346" y="3091347"/>
            <a:ext cx="11737304" cy="224676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ArialMT"/>
              </a:rPr>
              <a:t>De bonnes décisions répondent aux critères suivants :</a:t>
            </a:r>
          </a:p>
          <a:p>
            <a:pPr algn="just"/>
            <a:endParaRPr lang="fr-FR" sz="2800" dirty="0">
              <a:latin typeface="ArialMT"/>
            </a:endParaRPr>
          </a:p>
          <a:p>
            <a:pPr marL="457200" indent="-457200" algn="just">
              <a:buAutoNum type="alphaLcParenR"/>
            </a:pPr>
            <a:r>
              <a:rPr lang="fr-FR" sz="2800" b="1" dirty="0">
                <a:latin typeface="ArialMT"/>
              </a:rPr>
              <a:t>Transparence : </a:t>
            </a:r>
            <a:r>
              <a:rPr lang="fr-FR" sz="2800" dirty="0">
                <a:latin typeface="ArialMT"/>
              </a:rPr>
              <a:t>la communauté aéronautique devrait connaître tous les facteurs qui influencent une décision, y compris le processus suivi pour parvenir à cette décision.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67AD68-EF27-AA1D-5049-836C5AC15C40}"/>
              </a:ext>
            </a:extLst>
          </p:cNvPr>
          <p:cNvSpPr/>
          <p:nvPr/>
        </p:nvSpPr>
        <p:spPr>
          <a:xfrm>
            <a:off x="10716" y="2013690"/>
            <a:ext cx="12181284" cy="95410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solidFill>
                  <a:schemeClr val="tx1"/>
                </a:solidFill>
                <a:latin typeface="ArialMT"/>
              </a:rPr>
              <a:t>La PFD n’implique pas une prise de décision parfaite, mais plutôt une prise de décision rationnelle et objective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3D6580FD-DF4C-A631-16A4-465CC8AC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240728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6DFD-D317-3230-638D-B88C6DEAD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982504-913F-1FAA-7240-02B18EB852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44</a:t>
            </a:fld>
            <a:endParaRPr lang="fr-BE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B30B6AC-D3A2-8642-BA4E-8070A73ED69D}"/>
              </a:ext>
            </a:extLst>
          </p:cNvPr>
          <p:cNvSpPr txBox="1"/>
          <p:nvPr/>
        </p:nvSpPr>
        <p:spPr>
          <a:xfrm>
            <a:off x="10716" y="1366920"/>
            <a:ext cx="11571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PROCESSUS DÉCISIONNEL FONDÉ SUR LES DONNÉES (PFD)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971A14-FDA2-4352-6C9F-1D31E848E7F4}"/>
              </a:ext>
            </a:extLst>
          </p:cNvPr>
          <p:cNvSpPr/>
          <p:nvPr/>
        </p:nvSpPr>
        <p:spPr>
          <a:xfrm>
            <a:off x="-33604" y="1955146"/>
            <a:ext cx="12225604" cy="310854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b) Responsabilité : </a:t>
            </a:r>
            <a:r>
              <a:rPr lang="fr-FR" sz="2800" dirty="0">
                <a:latin typeface="ArialMT"/>
              </a:rPr>
              <a:t>la décision et les résultats qui en découlent « appartiennent » au décideur. Clarté et transparence induisent aussi une responsabilité </a:t>
            </a:r>
          </a:p>
          <a:p>
            <a:pPr algn="just"/>
            <a:endParaRPr lang="fr-FR" sz="2800" dirty="0">
              <a:latin typeface="ArialMT"/>
            </a:endParaRPr>
          </a:p>
          <a:p>
            <a:pPr algn="just"/>
            <a:r>
              <a:rPr lang="fr-FR" sz="2800" dirty="0">
                <a:latin typeface="ArialMT"/>
              </a:rPr>
              <a:t>— il n’est pas facile de </a:t>
            </a:r>
            <a:r>
              <a:rPr lang="fr-FR" sz="2800" b="1" dirty="0">
                <a:latin typeface="ArialMT"/>
              </a:rPr>
              <a:t>se cacher derrière </a:t>
            </a:r>
            <a:r>
              <a:rPr lang="fr-FR" sz="2800" dirty="0">
                <a:latin typeface="ArialMT"/>
              </a:rPr>
              <a:t>une décision pour laquelle les rôles et responsabilités sont définis en détail et les attentes liées à la nouvelle décision sont clairement précisées.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1E7B875B-5085-4E48-FAD7-5442DC73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96164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45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10716" y="2045753"/>
            <a:ext cx="12181284" cy="378565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ArialMT"/>
              </a:rPr>
              <a:t>c) Équité et objectivité </a:t>
            </a:r>
            <a:r>
              <a:rPr lang="fr-FR" sz="2400" dirty="0">
                <a:latin typeface="ArialMT"/>
              </a:rPr>
              <a:t>: le décideur n’est pas influencé par des considérations non pertinentes (p. ex. des avantages financiers ou des relations personnelles).</a:t>
            </a:r>
          </a:p>
          <a:p>
            <a:pPr algn="just"/>
            <a:endParaRPr lang="fr-FR" sz="2400" dirty="0">
              <a:latin typeface="ArialMT"/>
            </a:endParaRPr>
          </a:p>
          <a:p>
            <a:pPr algn="just"/>
            <a:r>
              <a:rPr lang="fr-FR" sz="2400" b="1" dirty="0">
                <a:latin typeface="ArialMT"/>
              </a:rPr>
              <a:t>d) </a:t>
            </a:r>
            <a:r>
              <a:rPr lang="fr-FR" sz="2400" b="1" dirty="0" err="1">
                <a:latin typeface="ArialMT"/>
              </a:rPr>
              <a:t>Justifiabilité</a:t>
            </a:r>
            <a:r>
              <a:rPr lang="fr-FR" sz="2400" b="1" dirty="0">
                <a:latin typeface="ArialMT"/>
              </a:rPr>
              <a:t> et </a:t>
            </a:r>
            <a:r>
              <a:rPr lang="fr-FR" sz="2400" b="1" dirty="0" err="1">
                <a:latin typeface="ArialMT"/>
              </a:rPr>
              <a:t>défendabilité</a:t>
            </a:r>
            <a:r>
              <a:rPr lang="fr-FR" sz="2400" b="1" dirty="0">
                <a:latin typeface="ArialMT"/>
              </a:rPr>
              <a:t> : </a:t>
            </a:r>
            <a:r>
              <a:rPr lang="fr-FR" sz="2400" dirty="0">
                <a:latin typeface="ArialMT"/>
              </a:rPr>
              <a:t>il est possible de prouver que la décision est raisonnable vu les éléments sur la base desquels la décision repose et vu le processus suivi.</a:t>
            </a:r>
          </a:p>
          <a:p>
            <a:pPr algn="just"/>
            <a:endParaRPr lang="fr-FR" sz="2400" dirty="0">
              <a:latin typeface="ArialMT"/>
            </a:endParaRPr>
          </a:p>
          <a:p>
            <a:pPr algn="just"/>
            <a:r>
              <a:rPr lang="fr-FR" sz="2400" b="1" dirty="0">
                <a:latin typeface="ArialMT"/>
              </a:rPr>
              <a:t>e) Reproductibilité : </a:t>
            </a:r>
            <a:r>
              <a:rPr lang="fr-FR" sz="2400" dirty="0">
                <a:latin typeface="ArialMT"/>
              </a:rPr>
              <a:t>confrontée à des informations identiques à celles dont disposait le décideur et en suivant le même processus, une autre personne arriverait à la même décision.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EE72A4-274F-1767-2452-17D49C0933C3}"/>
              </a:ext>
            </a:extLst>
          </p:cNvPr>
          <p:cNvSpPr txBox="1"/>
          <p:nvPr/>
        </p:nvSpPr>
        <p:spPr>
          <a:xfrm>
            <a:off x="10716" y="1366920"/>
            <a:ext cx="11571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PROCESSUS DÉCISIONNEL FONDÉ SUR LES DONNÉES (PFD)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373BAD4-8E14-0CDF-A3FE-4C4DCDB22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364033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1569-0759-EAA4-5EE6-F0452A60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AE55BB-C166-5CF1-ADD5-C83273AB3E8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46</a:t>
            </a:fld>
            <a:endParaRPr lang="fr-B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ECBCE6-74B4-EC2B-11B2-CDE7FBED5293}"/>
              </a:ext>
            </a:extLst>
          </p:cNvPr>
          <p:cNvSpPr/>
          <p:nvPr/>
        </p:nvSpPr>
        <p:spPr>
          <a:xfrm>
            <a:off x="10716" y="2045753"/>
            <a:ext cx="12181284" cy="267765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2800" b="1" dirty="0">
                <a:latin typeface="ArialMT"/>
              </a:rPr>
              <a:t>f) </a:t>
            </a:r>
            <a:r>
              <a:rPr lang="fr-FR" sz="2800" b="1" dirty="0" err="1">
                <a:latin typeface="ArialMT"/>
              </a:rPr>
              <a:t>Exécutabilité</a:t>
            </a:r>
            <a:r>
              <a:rPr lang="fr-FR" sz="2800" b="1" dirty="0">
                <a:latin typeface="ArialMT"/>
              </a:rPr>
              <a:t> : </a:t>
            </a:r>
            <a:r>
              <a:rPr lang="fr-FR" sz="2800" dirty="0">
                <a:latin typeface="ArialMT"/>
              </a:rPr>
              <a:t>la décision est suffisamment claire et cette clarté réduit au minimum l’incertitude.</a:t>
            </a:r>
          </a:p>
          <a:p>
            <a:pPr algn="just"/>
            <a:endParaRPr lang="fr-FR" sz="2800" dirty="0">
              <a:latin typeface="ArialMT"/>
            </a:endParaRPr>
          </a:p>
          <a:p>
            <a:pPr algn="just"/>
            <a:r>
              <a:rPr lang="fr-FR" sz="2800" b="1" dirty="0">
                <a:latin typeface="ArialMT"/>
              </a:rPr>
              <a:t>g) Pragmatisme : </a:t>
            </a:r>
            <a:r>
              <a:rPr lang="fr-FR" sz="2800" dirty="0">
                <a:latin typeface="ArialMT"/>
              </a:rPr>
              <a:t>les humains sont des créatures d’émotion, ce qui signifie qu’il n’est pas possible d’éliminer l’émotion d’une décision. Toutefois, ce que l’on peut éliminer, ce sont les biais émotionnels intéressés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32DC48-1821-84AA-CC9D-7B620DD4DB85}"/>
              </a:ext>
            </a:extLst>
          </p:cNvPr>
          <p:cNvSpPr txBox="1"/>
          <p:nvPr/>
        </p:nvSpPr>
        <p:spPr>
          <a:xfrm>
            <a:off x="10716" y="1366920"/>
            <a:ext cx="11571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PROCESSUS DÉCISIONNEL FONDÉ SUR LES DONNÉES (PFD)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DA18209-98CA-0EE6-4B61-D032D4DA1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002" y="-7467"/>
            <a:ext cx="12192000" cy="121618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IV. PARTAGE ET PROTECTION DES DONNÉES ET INFORMATIONS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3682460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9376"/>
            <a:ext cx="12192000" cy="68872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lvl="1" algn="ctr"/>
            <a:r>
              <a:rPr lang="fr-FR" sz="2800" b="1" dirty="0">
                <a:solidFill>
                  <a:schemeClr val="accent6">
                    <a:lumMod val="75000"/>
                  </a:schemeClr>
                </a:solidFill>
                <a:latin typeface="ArialMT"/>
              </a:rPr>
              <a:t>IV. PARTAGE ET PROTECTION DES DONNÉES ET INFORMATIONS DE SÉCURITÉ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47</a:t>
            </a:fld>
            <a:endParaRPr lang="fr-BE"/>
          </a:p>
        </p:txBody>
      </p:sp>
      <p:sp>
        <p:nvSpPr>
          <p:cNvPr id="5" name="ZoneTexte 4"/>
          <p:cNvSpPr txBox="1"/>
          <p:nvPr/>
        </p:nvSpPr>
        <p:spPr>
          <a:xfrm>
            <a:off x="0" y="698099"/>
            <a:ext cx="864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  <a:latin typeface="ArialMT"/>
              </a:rPr>
              <a:t>ETAPES DU PFD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8EF908-4915-1342-9DCD-DD3A4A414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" y="1231191"/>
            <a:ext cx="11318676" cy="549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92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9376"/>
            <a:ext cx="12192000" cy="8501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1" algn="ctr"/>
            <a:r>
              <a:rPr lang="fr-FR" sz="3600" b="1" dirty="0">
                <a:solidFill>
                  <a:schemeClr val="accent6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CONCLUSION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48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126976" y="5877272"/>
            <a:ext cx="12065024" cy="58477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FR" sz="3200" dirty="0">
                <a:latin typeface="ArialMT"/>
              </a:rPr>
              <a:t>haut degré d’uniformité des activités de l’aviation.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4C09A-2376-8BB6-2B73-A6B362DA326A}"/>
              </a:ext>
            </a:extLst>
          </p:cNvPr>
          <p:cNvSpPr/>
          <p:nvPr/>
        </p:nvSpPr>
        <p:spPr>
          <a:xfrm>
            <a:off x="774612" y="889645"/>
            <a:ext cx="2880320" cy="1224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ArialMT"/>
              </a:rPr>
              <a:t>SARPS</a:t>
            </a:r>
            <a:endParaRPr lang="fr-FR" sz="2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D7D0C-167A-9C09-A170-7AECF8C501E3}"/>
              </a:ext>
            </a:extLst>
          </p:cNvPr>
          <p:cNvSpPr/>
          <p:nvPr/>
        </p:nvSpPr>
        <p:spPr>
          <a:xfrm>
            <a:off x="126976" y="2707000"/>
            <a:ext cx="4672880" cy="1224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ArialMT"/>
              </a:rPr>
              <a:t>Règlements aéronautiques nationales</a:t>
            </a:r>
            <a:endParaRPr lang="fr-FR" sz="2800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0413D2-E256-BE5D-7B06-E42AAB155D5C}"/>
              </a:ext>
            </a:extLst>
          </p:cNvPr>
          <p:cNvSpPr txBox="1"/>
          <p:nvPr/>
        </p:nvSpPr>
        <p:spPr>
          <a:xfrm>
            <a:off x="5159464" y="1336326"/>
            <a:ext cx="6257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3200" b="1" dirty="0">
                <a:latin typeface="ArialMT"/>
              </a:rPr>
              <a:t>application médiate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0BFE9C-2FDA-B73C-BF4E-A4B298EEA8B4}"/>
              </a:ext>
            </a:extLst>
          </p:cNvPr>
          <p:cNvSpPr txBox="1"/>
          <p:nvPr/>
        </p:nvSpPr>
        <p:spPr>
          <a:xfrm>
            <a:off x="5159464" y="2885653"/>
            <a:ext cx="43719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latin typeface="ArialMT"/>
              </a:rPr>
              <a:t>Applicable</a:t>
            </a:r>
          </a:p>
          <a:p>
            <a:r>
              <a:rPr lang="fr-FR" sz="2800" b="1" dirty="0">
                <a:latin typeface="ArialMT"/>
              </a:rPr>
              <a:t>Ordre juridique interne</a:t>
            </a:r>
            <a:endParaRPr lang="fr-FR" sz="28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748E6E-78EE-DBAA-E300-8952D3356618}"/>
              </a:ext>
            </a:extLst>
          </p:cNvPr>
          <p:cNvSpPr/>
          <p:nvPr/>
        </p:nvSpPr>
        <p:spPr>
          <a:xfrm>
            <a:off x="152922" y="4524355"/>
            <a:ext cx="4672880" cy="1224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latin typeface="ArialMT"/>
              </a:rPr>
              <a:t>processus et procédures exploitants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8B4403C4-F016-2C39-2841-B231DBE57482}"/>
              </a:ext>
            </a:extLst>
          </p:cNvPr>
          <p:cNvSpPr/>
          <p:nvPr/>
        </p:nvSpPr>
        <p:spPr>
          <a:xfrm>
            <a:off x="1991544" y="2204864"/>
            <a:ext cx="432048" cy="430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1A112A3D-578C-BB25-469E-4C33D68A3463}"/>
              </a:ext>
            </a:extLst>
          </p:cNvPr>
          <p:cNvSpPr/>
          <p:nvPr/>
        </p:nvSpPr>
        <p:spPr>
          <a:xfrm>
            <a:off x="1991544" y="4006984"/>
            <a:ext cx="432048" cy="430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C03C9D8-8EFC-84E0-239F-C602F91ED858}"/>
              </a:ext>
            </a:extLst>
          </p:cNvPr>
          <p:cNvSpPr txBox="1"/>
          <p:nvPr/>
        </p:nvSpPr>
        <p:spPr>
          <a:xfrm>
            <a:off x="5154850" y="5061459"/>
            <a:ext cx="5201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>
                <a:latin typeface="ArialMT"/>
              </a:rPr>
              <a:t>Exploitation aéronautique</a:t>
            </a:r>
            <a:endParaRPr lang="fr-FR" sz="2800" b="1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2603270-4A5D-5FFF-4EA8-00E7124D8083}"/>
              </a:ext>
            </a:extLst>
          </p:cNvPr>
          <p:cNvCxnSpPr/>
          <p:nvPr/>
        </p:nvCxnSpPr>
        <p:spPr>
          <a:xfrm>
            <a:off x="4943872" y="923955"/>
            <a:ext cx="0" cy="4824536"/>
          </a:xfrm>
          <a:prstGeom prst="line">
            <a:avLst/>
          </a:prstGeom>
          <a:ln w="762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4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 animBg="1"/>
      <p:bldP spid="8" grpId="0"/>
      <p:bldP spid="11" grpId="0"/>
      <p:bldP spid="12" grpId="0" animBg="1"/>
      <p:bldP spid="13" grpId="0" animBg="1"/>
      <p:bldP spid="14" grpId="0" animBg="1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49</a:t>
            </a:fld>
            <a:endParaRPr lang="fr-BE"/>
          </a:p>
        </p:txBody>
      </p:sp>
      <p:sp>
        <p:nvSpPr>
          <p:cNvPr id="6" name="ZoneTexte 5"/>
          <p:cNvSpPr txBox="1"/>
          <p:nvPr/>
        </p:nvSpPr>
        <p:spPr>
          <a:xfrm>
            <a:off x="-8039" y="571599"/>
            <a:ext cx="7297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F0"/>
                </a:solidFill>
              </a:rPr>
              <a:t>Travaux dirigés pour approfondir le Module II.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19336" y="1002089"/>
            <a:ext cx="118705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dirty="0">
                <a:latin typeface="ArialMT"/>
              </a:rPr>
              <a:t>Indiquer parmi les organismes suivants, en renseignant les deux tableaux ci-dessous, ceux qui sont astreints à mettre en place un SGS :</a:t>
            </a:r>
          </a:p>
          <a:p>
            <a:pPr algn="just"/>
            <a:r>
              <a:rPr lang="fr-FR" sz="3200" dirty="0">
                <a:latin typeface="ArialMT"/>
              </a:rPr>
              <a:t>Une Représentation de l’ASECNA; L’EAMAC; l’ERSI; Airbus; Les autorités de l’aviation civile, Fabricants d’aide à la navigation aérienne (VOR, GLIDE…..), fournisseurs services de météorologie aéronautique…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-8039" y="20891"/>
            <a:ext cx="12192000" cy="5232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fr-FR" sz="3200" b="1" dirty="0">
                <a:solidFill>
                  <a:schemeClr val="accent6">
                    <a:lumMod val="75000"/>
                  </a:schemeClr>
                </a:solidFill>
                <a:latin typeface="ArialMT"/>
              </a:rPr>
              <a:t>APPROFONDISSEMENT MODULE II.</a:t>
            </a:r>
          </a:p>
        </p:txBody>
      </p:sp>
      <p:graphicFrame>
        <p:nvGraphicFramePr>
          <p:cNvPr id="2" name="Tableau 4">
            <a:extLst>
              <a:ext uri="{FF2B5EF4-FFF2-40B4-BE49-F238E27FC236}">
                <a16:creationId xmlns:a16="http://schemas.microsoft.com/office/drawing/2014/main" id="{DAF1B2D1-25C6-4439-9052-F69D15B49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78401"/>
              </p:ext>
            </p:extLst>
          </p:nvPr>
        </p:nvGraphicFramePr>
        <p:xfrm>
          <a:off x="2092136" y="440471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442825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7237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Organismes astreints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4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805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628197"/>
                  </a:ext>
                </a:extLst>
              </a:tr>
            </a:tbl>
          </a:graphicData>
        </a:graphic>
      </p:graphicFrame>
      <p:graphicFrame>
        <p:nvGraphicFramePr>
          <p:cNvPr id="8" name="Tableau 4">
            <a:extLst>
              <a:ext uri="{FF2B5EF4-FFF2-40B4-BE49-F238E27FC236}">
                <a16:creationId xmlns:a16="http://schemas.microsoft.com/office/drawing/2014/main" id="{ABC0FAD6-A0E7-4828-BE72-8D7BDE13A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353634"/>
              </p:ext>
            </p:extLst>
          </p:nvPr>
        </p:nvGraphicFramePr>
        <p:xfrm>
          <a:off x="2106250" y="5570331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442825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72374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Organismes non astreints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Maitrise de risque applicable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54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805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628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39038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81158" y="428605"/>
            <a:ext cx="8229600" cy="2286016"/>
          </a:xfrm>
        </p:spPr>
        <p:txBody>
          <a:bodyPr anchor="ctr" anchorCtr="0">
            <a:normAutofit/>
          </a:bodyPr>
          <a:lstStyle/>
          <a:p>
            <a:pPr algn="ctr">
              <a:buNone/>
            </a:pPr>
            <a:r>
              <a:rPr lang="fr-FR" sz="6000" b="1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MERCI DE VOTRE AIMABLE ATTENTION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10314" y="2357430"/>
            <a:ext cx="3633784" cy="36589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24100" y="3357562"/>
            <a:ext cx="35814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50</a:t>
            </a:fld>
            <a:endParaRPr lang="fr-B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5891</TotalTime>
  <Words>2859</Words>
  <Application>Microsoft Office PowerPoint</Application>
  <PresentationFormat>Grand écran</PresentationFormat>
  <Paragraphs>416</Paragraphs>
  <Slides>50</Slides>
  <Notes>50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7" baseType="lpstr">
      <vt:lpstr>Aharoni</vt:lpstr>
      <vt:lpstr>Arial</vt:lpstr>
      <vt:lpstr>ArialMT</vt:lpstr>
      <vt:lpstr>Calibri</vt:lpstr>
      <vt:lpstr>Times New Roman</vt:lpstr>
      <vt:lpstr>Wingdings</vt:lpstr>
      <vt:lpstr>Thème Office</vt:lpstr>
      <vt:lpstr>Présentation PowerPoint</vt:lpstr>
      <vt:lpstr>SOMMAIRE</vt:lpstr>
      <vt:lpstr>Présentation PowerPoint</vt:lpstr>
      <vt:lpstr>GLOSSAIRE</vt:lpstr>
      <vt:lpstr>GLOSSAIRE</vt:lpstr>
      <vt:lpstr>GLOSSAIRE</vt:lpstr>
      <vt:lpstr>Présentation PowerPoint</vt:lpstr>
      <vt:lpstr>Besoin d’une annexe relative à la gestion de la sécurité</vt:lpstr>
      <vt:lpstr>Présentation PowerPoint</vt:lpstr>
      <vt:lpstr>Présentation PowerPoint</vt:lpstr>
      <vt:lpstr>Présentation PowerPoint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II. RESPONSABILITES DE L’ETAT EN MATIERE DE GESTION DE LA SECURITE</vt:lpstr>
      <vt:lpstr>Présentation PowerPoint</vt:lpstr>
      <vt:lpstr>III. RESPONSABILITES DES ANSP ET EXPLOITANTS EN MATIERE DE GESTION DE LA SECURITE</vt:lpstr>
      <vt:lpstr>III. RESPONSABILITES DES ANSP ET EXPLOITANTS EN MATIERE DE GESTION DE LA SECURITE</vt:lpstr>
      <vt:lpstr>III. RESPONSABILITES DES ANSP ET EXPLOITANTS EN MATIERE DE GESTION DE LA SECURITE</vt:lpstr>
      <vt:lpstr>III. RESPONSABILITES DES ANSP ET EXPLOITANTS EN MATIERE DE GESTION DE LA SECURITE</vt:lpstr>
      <vt:lpstr>III. RESPONSABILITES DES ANSP ET EXPLOITANTS EN MATIERE DE GESTION DE LA SECURITE</vt:lpstr>
      <vt:lpstr>Présentation PowerPoint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IV. PARTAGE ET PROTECTION DES DONNÉES ET INFORMATIONS DE SÉCURITÉ</vt:lpstr>
      <vt:lpstr>CONCLUSION</vt:lpstr>
      <vt:lpstr>APPROFONDISSEMENT MODULE II.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Moustapha Roufai</dc:creator>
  <cp:lastModifiedBy>MOUSTAPHA Amadou Roufaï</cp:lastModifiedBy>
  <cp:revision>314</cp:revision>
  <dcterms:created xsi:type="dcterms:W3CDTF">2015-03-17T09:23:14Z</dcterms:created>
  <dcterms:modified xsi:type="dcterms:W3CDTF">2025-10-04T11:42:28Z</dcterms:modified>
</cp:coreProperties>
</file>